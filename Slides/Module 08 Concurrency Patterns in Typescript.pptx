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2"/>
  </p:notesMasterIdLst>
  <p:sldIdLst>
    <p:sldId id="485" r:id="rId2"/>
    <p:sldId id="580" r:id="rId3"/>
    <p:sldId id="688" r:id="rId4"/>
    <p:sldId id="486" r:id="rId5"/>
    <p:sldId id="582" r:id="rId6"/>
    <p:sldId id="262" r:id="rId7"/>
    <p:sldId id="514" r:id="rId8"/>
    <p:sldId id="667" r:id="rId9"/>
    <p:sldId id="668" r:id="rId10"/>
    <p:sldId id="670" r:id="rId11"/>
    <p:sldId id="669" r:id="rId12"/>
    <p:sldId id="579" r:id="rId13"/>
    <p:sldId id="672" r:id="rId14"/>
    <p:sldId id="632" r:id="rId15"/>
    <p:sldId id="687" r:id="rId16"/>
    <p:sldId id="658" r:id="rId17"/>
    <p:sldId id="679" r:id="rId18"/>
    <p:sldId id="680" r:id="rId19"/>
    <p:sldId id="661" r:id="rId20"/>
    <p:sldId id="662" r:id="rId21"/>
    <p:sldId id="677" r:id="rId22"/>
    <p:sldId id="681" r:id="rId23"/>
    <p:sldId id="682" r:id="rId24"/>
    <p:sldId id="689" r:id="rId25"/>
    <p:sldId id="673" r:id="rId26"/>
    <p:sldId id="675" r:id="rId27"/>
    <p:sldId id="676" r:id="rId28"/>
    <p:sldId id="684" r:id="rId29"/>
    <p:sldId id="628" r:id="rId30"/>
    <p:sldId id="594" r:id="rId31"/>
    <p:sldId id="560" r:id="rId32"/>
    <p:sldId id="664" r:id="rId33"/>
    <p:sldId id="690" r:id="rId34"/>
    <p:sldId id="629" r:id="rId35"/>
    <p:sldId id="277" r:id="rId36"/>
    <p:sldId id="544" r:id="rId37"/>
    <p:sldId id="499" r:id="rId38"/>
    <p:sldId id="550" r:id="rId39"/>
    <p:sldId id="546" r:id="rId40"/>
    <p:sldId id="604" r:id="rId41"/>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68"/>
            <p14:sldId id="670"/>
            <p14:sldId id="669"/>
            <p14:sldId id="579"/>
            <p14:sldId id="672"/>
            <p14:sldId id="632"/>
            <p14:sldId id="687"/>
            <p14:sldId id="658"/>
            <p14:sldId id="679"/>
            <p14:sldId id="680"/>
            <p14:sldId id="661"/>
            <p14:sldId id="662"/>
            <p14:sldId id="677"/>
            <p14:sldId id="681"/>
            <p14:sldId id="682"/>
            <p14:sldId id="689"/>
            <p14:sldId id="673"/>
            <p14:sldId id="675"/>
            <p14:sldId id="676"/>
            <p14:sldId id="684"/>
            <p14:sldId id="628"/>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6375" autoAdjust="0"/>
  </p:normalViewPr>
  <p:slideViewPr>
    <p:cSldViewPr snapToGrid="0" snapToObjects="1">
      <p:cViewPr varScale="1">
        <p:scale>
          <a:sx n="64" d="100"/>
          <a:sy n="64" d="100"/>
        </p:scale>
        <p:origin x="712" y="44"/>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The runtime can then switch to any process that is ready.  That might be the call to </a:t>
            </a:r>
            <a:r>
              <a:rPr lang="en-US" dirty="0" err="1"/>
              <a:t>someOtherAsync</a:t>
            </a:r>
            <a:r>
              <a:rPr lang="en-US" dirty="0"/>
              <a:t> function, but it might be something else.</a:t>
            </a:r>
          </a:p>
          <a:p>
            <a:endParaRPr lang="en-US" dirty="0"/>
          </a:p>
          <a:p>
            <a:r>
              <a:rPr lang="en-US" dirty="0"/>
              <a:t>When </a:t>
            </a:r>
            <a:r>
              <a:rPr lang="en-US" dirty="0" err="1"/>
              <a:t>someFunction</a:t>
            </a:r>
            <a:r>
              <a:rPr lang="en-US" dirty="0"/>
              <a:t> yields at the second location, it informs the runtime that it is ready to return to its caller, and it gives the runtime permission to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3176348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18236548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lstStyle/>
          <a:p>
            <a:r>
              <a:rPr lang="en-US" dirty="0"/>
              <a:t>In async/await, the program is organized into a set of "async functions".</a:t>
            </a:r>
          </a:p>
          <a:p>
            <a:r>
              <a:rPr lang="en-US" dirty="0"/>
              <a:t>An async function is like an ordinary function, except that it will pause at well-defined points in its execution.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An async function can only pause in two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342616" y="2152269"/>
            <a:ext cx="3471809" cy="126377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It will never </a:t>
            </a:r>
          </a:p>
          <a:p>
            <a:pPr algn="l"/>
            <a:r>
              <a:rPr lang="en-US" sz="3200" dirty="0">
                <a:solidFill>
                  <a:schemeClr val="tx1"/>
                </a:solidFill>
                <a:latin typeface="Verdana" panose="020B0604030504040204" pitchFamily="34" charset="0"/>
                <a:ea typeface="Verdana" panose="020B0604030504040204" pitchFamily="34" charset="0"/>
              </a:rPr>
              <a:t>pause in here</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583480"/>
            <a:ext cx="3935002" cy="122589"/>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342615" y="3632831"/>
            <a:ext cx="3471809" cy="87860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Or in here</a:t>
            </a:r>
          </a:p>
        </p:txBody>
      </p:sp>
      <p:cxnSp>
        <p:nvCxnSpPr>
          <p:cNvPr id="14" name="Straight Arrow Connector 13">
            <a:extLst>
              <a:ext uri="{FF2B5EF4-FFF2-40B4-BE49-F238E27FC236}">
                <a16:creationId xmlns:a16="http://schemas.microsoft.com/office/drawing/2014/main" id="{D50DDC1E-F961-9AFF-F97B-74EDC8E77DF4}"/>
              </a:ext>
            </a:extLst>
          </p:cNvPr>
          <p:cNvCxnSpPr>
            <a:cxnSpLocks/>
            <a:endCxn id="5" idx="3"/>
          </p:cNvCxnSpPr>
          <p:nvPr/>
        </p:nvCxnSpPr>
        <p:spPr>
          <a:xfrm flipH="1" flipV="1">
            <a:off x="4407612" y="3901026"/>
            <a:ext cx="3935003" cy="17110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Terminology: promises and run-to-completion</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p:txBody>
          <a:bodyPr/>
          <a:lstStyle/>
          <a:p>
            <a:r>
              <a:rPr lang="en-US" dirty="0"/>
              <a:t>Each uninterruptible unit of work is called a "promise"</a:t>
            </a:r>
          </a:p>
          <a:p>
            <a:r>
              <a:rPr lang="en-US" dirty="0"/>
              <a:t>The pattern we've just talked about is called "run-to-completion" semantics, because a pause point corresponds exactly to the end of one of these units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Example: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172880" y="418841"/>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Tree>
    <p:extLst>
      <p:ext uri="{BB962C8B-B14F-4D97-AF65-F5344CB8AC3E}">
        <p14:creationId xmlns:p14="http://schemas.microsoft.com/office/powerpoint/2010/main" val="3731229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5074920" y="1624737"/>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a:t>
            </a:r>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513379" y="176967"/>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How does JS Engine make this happen?</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D33806CF-2E13-84B9-7FB1-98121DD0B847}"/>
              </a:ext>
            </a:extLst>
          </p:cNvPr>
          <p:cNvSpPr txBox="1">
            <a:spLocks/>
          </p:cNvSpPr>
          <p:nvPr/>
        </p:nvSpPr>
        <p:spPr>
          <a:xfrm>
            <a:off x="838200" y="1844023"/>
            <a:ext cx="3351707" cy="412497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used for asynchronous tasks</a:t>
            </a:r>
          </a:p>
          <a:p>
            <a:r>
              <a:rPr lang="en-US" dirty="0"/>
              <a:t>Queues are used for “await”-</a:t>
            </a:r>
            <a:r>
              <a:rPr lang="en-US" dirty="0" err="1"/>
              <a:t>ing</a:t>
            </a:r>
            <a:r>
              <a:rPr lang="en-US" dirty="0"/>
              <a:t> tasks</a:t>
            </a:r>
          </a:p>
          <a:p>
            <a:r>
              <a:rPr lang="en-US" dirty="0"/>
              <a:t>When call stack gets empty, event loop picks up tasks from Callback Queue</a:t>
            </a:r>
          </a:p>
        </p:txBody>
      </p:sp>
      <p:pic>
        <p:nvPicPr>
          <p:cNvPr id="23" name="Content Placeholder 22" descr="A diagram of a process&#10;&#10;Description automatically generated">
            <a:extLst>
              <a:ext uri="{FF2B5EF4-FFF2-40B4-BE49-F238E27FC236}">
                <a16:creationId xmlns:a16="http://schemas.microsoft.com/office/drawing/2014/main" id="{49EBE5D3-09A9-6589-D57D-2D3C018F8B3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78300" y="1606551"/>
            <a:ext cx="7163893" cy="4362449"/>
          </a:xfrm>
        </p:spPr>
      </p:pic>
    </p:spTree>
    <p:extLst>
      <p:ext uri="{BB962C8B-B14F-4D97-AF65-F5344CB8AC3E}">
        <p14:creationId xmlns:p14="http://schemas.microsoft.com/office/powerpoint/2010/main" val="3929508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BD844B7F-B1F5-435D-79CC-8C6204FCD85F}"/>
              </a:ext>
            </a:extLst>
          </p:cNvPr>
          <p:cNvPicPr>
            <a:picLocks noChangeAspect="1"/>
          </p:cNvPicPr>
          <p:nvPr/>
        </p:nvPicPr>
        <p:blipFill>
          <a:blip r:embed="rId3"/>
          <a:stretch>
            <a:fillRect/>
          </a:stretch>
        </p:blipFill>
        <p:spPr>
          <a:xfrm>
            <a:off x="6561137" y="1594198"/>
            <a:ext cx="4378325" cy="4675228"/>
          </a:xfrm>
          <a:prstGeom prst="rect">
            <a:avLst/>
          </a:prstGeom>
        </p:spPr>
      </p:pic>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4932364" cy="4769267"/>
          </a:xfrm>
        </p:spPr>
        <p:txBody>
          <a:bodyPr>
            <a:normAutofit/>
          </a:bodyPr>
          <a:lstStyle/>
          <a:p>
            <a:r>
              <a:rPr lang="en-US" dirty="0"/>
              <a:t>JS/TS has single event loop</a:t>
            </a:r>
          </a:p>
          <a:p>
            <a:r>
              <a:rPr lang="en-US" dirty="0"/>
              <a:t>We outsource most of the non-blocking IO work (to </a:t>
            </a:r>
            <a:r>
              <a:rPr lang="en-US" dirty="0" err="1"/>
              <a:t>WebAPIs</a:t>
            </a:r>
            <a:r>
              <a:rPr lang="en-US" dirty="0"/>
              <a:t>) for asynchronous work</a:t>
            </a:r>
          </a:p>
          <a:p>
            <a:r>
              <a:rPr lang="en-US" dirty="0"/>
              <a:t>Upon completion, they are placed in queues (Microtask queue has priority over </a:t>
            </a:r>
            <a:r>
              <a:rPr lang="en-US" dirty="0" err="1"/>
              <a:t>Macrotask</a:t>
            </a:r>
            <a:r>
              <a:rPr lang="en-US" dirty="0"/>
              <a:t> queue)</a:t>
            </a:r>
          </a:p>
          <a:p>
            <a:r>
              <a:rPr lang="en-US" dirty="0"/>
              <a:t>Event loop picks them up from queue when call stack is empty!</a:t>
            </a:r>
          </a:p>
        </p:txBody>
      </p:sp>
    </p:spTree>
    <p:extLst>
      <p:ext uri="{BB962C8B-B14F-4D97-AF65-F5344CB8AC3E}">
        <p14:creationId xmlns:p14="http://schemas.microsoft.com/office/powerpoint/2010/main" val="17083584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microtask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31379</TotalTime>
  <Words>6132</Words>
  <Application>Microsoft Office PowerPoint</Application>
  <PresentationFormat>Widescreen</PresentationFormat>
  <Paragraphs>638</Paragraphs>
  <Slides>40</Slides>
  <Notes>34</Notes>
  <HiddenSlides>3</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A typical async function</vt:lpstr>
      <vt:lpstr>An async function can only pause in two places</vt:lpstr>
      <vt:lpstr>What happens at those pause points?</vt:lpstr>
      <vt:lpstr>Java vs. JS/TS</vt:lpstr>
      <vt:lpstr>Terminology: promises and run-to-completion</vt:lpstr>
      <vt:lpstr>Example:</vt:lpstr>
      <vt:lpstr>Pattern for starting a concurrent computation using non-blocking I/O</vt:lpstr>
      <vt:lpstr>Running 3 concurrent get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vt:lpstr>
      <vt:lpstr>How does JS Engine make this happen?</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124</cp:revision>
  <dcterms:modified xsi:type="dcterms:W3CDTF">2026-05-15T22:10:39Z</dcterms:modified>
</cp:coreProperties>
</file>