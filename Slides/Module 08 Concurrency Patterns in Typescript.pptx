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9"/>
  </p:notesMasterIdLst>
  <p:sldIdLst>
    <p:sldId id="485" r:id="rId2"/>
    <p:sldId id="580" r:id="rId3"/>
    <p:sldId id="688" r:id="rId4"/>
    <p:sldId id="486" r:id="rId5"/>
    <p:sldId id="582" r:id="rId6"/>
    <p:sldId id="262" r:id="rId7"/>
    <p:sldId id="514" r:id="rId8"/>
    <p:sldId id="667" r:id="rId9"/>
    <p:sldId id="697" r:id="rId10"/>
    <p:sldId id="698" r:id="rId11"/>
    <p:sldId id="668" r:id="rId12"/>
    <p:sldId id="670" r:id="rId13"/>
    <p:sldId id="669" r:id="rId14"/>
    <p:sldId id="672" r:id="rId15"/>
    <p:sldId id="579" r:id="rId16"/>
    <p:sldId id="699" r:id="rId17"/>
    <p:sldId id="692" r:id="rId18"/>
    <p:sldId id="693" r:id="rId19"/>
    <p:sldId id="694" r:id="rId20"/>
    <p:sldId id="695" r:id="rId21"/>
    <p:sldId id="691" r:id="rId22"/>
    <p:sldId id="696" r:id="rId23"/>
    <p:sldId id="687" r:id="rId24"/>
    <p:sldId id="658" r:id="rId25"/>
    <p:sldId id="679" r:id="rId26"/>
    <p:sldId id="680" r:id="rId27"/>
    <p:sldId id="661" r:id="rId28"/>
    <p:sldId id="662" r:id="rId29"/>
    <p:sldId id="677" r:id="rId30"/>
    <p:sldId id="681" r:id="rId31"/>
    <p:sldId id="682" r:id="rId32"/>
    <p:sldId id="689" r:id="rId33"/>
    <p:sldId id="673" r:id="rId34"/>
    <p:sldId id="675" r:id="rId35"/>
    <p:sldId id="676" r:id="rId36"/>
    <p:sldId id="684" r:id="rId37"/>
    <p:sldId id="594" r:id="rId38"/>
    <p:sldId id="560" r:id="rId39"/>
    <p:sldId id="664" r:id="rId40"/>
    <p:sldId id="690" r:id="rId41"/>
    <p:sldId id="629" r:id="rId42"/>
    <p:sldId id="277" r:id="rId43"/>
    <p:sldId id="544" r:id="rId44"/>
    <p:sldId id="499" r:id="rId45"/>
    <p:sldId id="550" r:id="rId46"/>
    <p:sldId id="546" r:id="rId47"/>
    <p:sldId id="604" r:id="rId48"/>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486"/>
            <p14:sldId id="582"/>
            <p14:sldId id="262"/>
            <p14:sldId id="514"/>
            <p14:sldId id="667"/>
            <p14:sldId id="697"/>
            <p14:sldId id="698"/>
            <p14:sldId id="668"/>
            <p14:sldId id="670"/>
            <p14:sldId id="669"/>
            <p14:sldId id="672"/>
            <p14:sldId id="579"/>
            <p14:sldId id="699"/>
            <p14:sldId id="692"/>
            <p14:sldId id="693"/>
            <p14:sldId id="694"/>
            <p14:sldId id="695"/>
            <p14:sldId id="691"/>
            <p14:sldId id="696"/>
            <p14:sldId id="687"/>
            <p14:sldId id="658"/>
            <p14:sldId id="679"/>
            <p14:sldId id="680"/>
            <p14:sldId id="661"/>
            <p14:sldId id="662"/>
            <p14:sldId id="677"/>
            <p14:sldId id="681"/>
            <p14:sldId id="682"/>
            <p14:sldId id="689"/>
            <p14:sldId id="673"/>
            <p14:sldId id="675"/>
            <p14:sldId id="676"/>
            <p14:sldId id="684"/>
            <p14:sldId id="594"/>
            <p14:sldId id="560"/>
            <p14:sldId id="664"/>
            <p14:sldId id="690"/>
            <p14:sldId id="629"/>
            <p14:sldId id="277"/>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85401" autoAdjust="0"/>
  </p:normalViewPr>
  <p:slideViewPr>
    <p:cSldViewPr snapToGrid="0" snapToObjects="1">
      <p:cViewPr varScale="1">
        <p:scale>
          <a:sx n="63" d="100"/>
          <a:sy n="63" d="100"/>
        </p:scale>
        <p:origin x="768" y="56"/>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dev.to/lydiahallie/javascript-visualized-event-loop-3dif"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principles: why do we need concurrency?</a:t>
            </a:r>
          </a:p>
          <a:p>
            <a:endParaRPr lang="en-US" dirty="0"/>
          </a:p>
          <a:p>
            <a:r>
              <a:rPr lang="en-US" dirty="0"/>
              <a:t>Mostly I/O. We are spoiled today with huge amounts of RAM, but there are still occasions when you need to read or write something to/from disk, or to/from network.</a:t>
            </a:r>
          </a:p>
          <a:p>
            <a:endParaRPr lang="en-US" dirty="0"/>
          </a:p>
          <a:p>
            <a:r>
              <a:rPr lang="en-US" dirty="0"/>
              <a:t>This diagram shows roughly the overhead of different kinds of I/O, in nanoseconds. Cutting-edge hardware architectures and OS designs aim to reduce these delays, but the rough order of magnitudes still stand.</a:t>
            </a:r>
          </a:p>
          <a:p>
            <a:endParaRPr lang="en-US" dirty="0"/>
          </a:p>
          <a:p>
            <a:r>
              <a:rPr lang="en-US" dirty="0"/>
              <a:t>If we are “computing” things (running instructions on the CPU), on a 1Ghz CPU, that’s nice and round, so you get 1 instruction executed per nano-second. You could run 150k instructions in time to read 4KB from SSD, 10m instructions in time to get the read head on your spinning magnetic HD into place to read something, or 100m instructions in time to receive a packet over internet.</a:t>
            </a:r>
          </a:p>
          <a:p>
            <a:endParaRPr lang="en-US" dirty="0"/>
          </a:p>
          <a:p>
            <a:r>
              <a:rPr lang="en-US" dirty="0"/>
              <a:t>So, it is desirable to be able to keep doing things while we are waiting for I/O, and not stop the world. Another way to put this, is that we would like to mask this latency to do such slow operations with concurrency: do something else while these I/O operations are happening.</a:t>
            </a:r>
          </a:p>
        </p:txBody>
      </p:sp>
    </p:spTree>
    <p:extLst>
      <p:ext uri="{BB962C8B-B14F-4D97-AF65-F5344CB8AC3E}">
        <p14:creationId xmlns:p14="http://schemas.microsoft.com/office/powerpoint/2010/main" val="4289812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But there can be no interruptions while we are executing the code in </a:t>
            </a:r>
            <a:r>
              <a:rPr lang="en-US" b="1" dirty="0"/>
              <a:t>this</a:t>
            </a:r>
            <a:r>
              <a:rPr lang="en-US" b="0" dirty="0"/>
              <a:t> function.  Let's look at that idea in more detail.</a:t>
            </a:r>
            <a:endParaRPr lang="en-US" dirty="0"/>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grey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details of the run() procedure--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new here, everything runs in order. Each console log gets pushed onto call stack and then popped when executed</a:t>
            </a:r>
          </a:p>
        </p:txBody>
      </p:sp>
    </p:spTree>
    <p:extLst>
      <p:ext uri="{BB962C8B-B14F-4D97-AF65-F5344CB8AC3E}">
        <p14:creationId xmlns:p14="http://schemas.microsoft.com/office/powerpoint/2010/main" val="40551509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sz="1000" dirty="0" err="1"/>
              <a:t>setTimeout</a:t>
            </a:r>
            <a:r>
              <a:rPr lang="en-US" sz="1000" dirty="0"/>
              <a:t> is given to </a:t>
            </a:r>
            <a:r>
              <a:rPr lang="en-US" sz="1000" dirty="0" err="1"/>
              <a:t>webAPI</a:t>
            </a:r>
            <a:r>
              <a:rPr lang="en-US" sz="1000" dirty="0"/>
              <a:t> for execution which will place the </a:t>
            </a:r>
            <a:r>
              <a:rPr lang="en-US" sz="1000" b="0" dirty="0">
                <a:solidFill>
                  <a:srgbClr val="000000"/>
                </a:solidFill>
                <a:effectLst/>
                <a:latin typeface="Consolas" panose="020B0609020204030204" pitchFamily="49" charset="0"/>
              </a:rPr>
              <a:t>console.log(</a:t>
            </a:r>
            <a:r>
              <a:rPr lang="en-US" sz="1000" b="0" dirty="0">
                <a:solidFill>
                  <a:srgbClr val="C00000"/>
                </a:solidFill>
                <a:effectLst/>
                <a:latin typeface="Consolas" panose="020B0609020204030204" pitchFamily="49" charset="0"/>
              </a:rPr>
              <a:t>'timeout’</a:t>
            </a:r>
            <a:r>
              <a:rPr lang="en-US" sz="1000" b="0" dirty="0">
                <a:solidFill>
                  <a:srgbClr val="000000"/>
                </a:solidFill>
                <a:effectLst/>
                <a:latin typeface="Consolas" panose="020B0609020204030204" pitchFamily="49" charset="0"/>
              </a:rPr>
              <a:t>) onto callback queue. </a:t>
            </a:r>
            <a:r>
              <a:rPr lang="en-US" sz="1000" dirty="0"/>
              <a:t>Run to completion requires main to finish first then execute the call back.</a:t>
            </a:r>
            <a:br>
              <a:rPr lang="en-US" sz="1000" dirty="0"/>
            </a:br>
            <a:r>
              <a:rPr lang="en-US" sz="1000" dirty="0"/>
              <a:t>Strictly speaking: you have a pending promise to executed a callback at some point after the timer expires. This callback will be placed in </a:t>
            </a:r>
            <a:r>
              <a:rPr lang="en-US" sz="1000" dirty="0" err="1"/>
              <a:t>Macroqueue</a:t>
            </a:r>
            <a:r>
              <a:rPr lang="en-US" sz="1000" dirty="0"/>
              <a:t> until call stack can execute it.</a:t>
            </a:r>
          </a:p>
        </p:txBody>
      </p:sp>
    </p:spTree>
    <p:extLst>
      <p:ext uri="{BB962C8B-B14F-4D97-AF65-F5344CB8AC3E}">
        <p14:creationId xmlns:p14="http://schemas.microsoft.com/office/powerpoint/2010/main" val="3845634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Promise will work the same way, with </a:t>
            </a:r>
            <a:r>
              <a:rPr lang="en-US" sz="1100" b="0" dirty="0">
                <a:solidFill>
                  <a:srgbClr val="000000"/>
                </a:solidFill>
                <a:effectLst/>
                <a:latin typeface="Consolas" panose="020B0609020204030204" pitchFamily="49" charset="0"/>
              </a:rPr>
              <a:t>console.log(</a:t>
            </a:r>
            <a:r>
              <a:rPr lang="en-US" sz="1100" b="0" dirty="0">
                <a:solidFill>
                  <a:srgbClr val="C00000"/>
                </a:solidFill>
                <a:effectLst/>
                <a:latin typeface="Consolas" panose="020B0609020204030204" pitchFamily="49" charset="0"/>
              </a:rPr>
              <a:t>‘promise’</a:t>
            </a:r>
            <a:r>
              <a:rPr lang="en-US" sz="1100" b="0" dirty="0">
                <a:solidFill>
                  <a:srgbClr val="000000"/>
                </a:solidFill>
                <a:effectLst/>
                <a:latin typeface="Consolas" panose="020B0609020204030204" pitchFamily="49" charset="0"/>
              </a:rPr>
              <a:t>) getting placed on Microtask queue. </a:t>
            </a:r>
            <a:r>
              <a:rPr lang="en-US" dirty="0"/>
              <a:t>Run to completion requires main to finish first then execute the call back.</a:t>
            </a:r>
          </a:p>
          <a:p>
            <a:endParaRPr lang="en-US" dirty="0"/>
          </a:p>
        </p:txBody>
      </p:sp>
    </p:spTree>
    <p:extLst>
      <p:ext uri="{BB962C8B-B14F-4D97-AF65-F5344CB8AC3E}">
        <p14:creationId xmlns:p14="http://schemas.microsoft.com/office/powerpoint/2010/main" val="4055929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r>
              <a:rPr lang="en-US" dirty="0"/>
              <a:t>Awaiting allows us to wait for some task to complete first before we do something else.</a:t>
            </a:r>
            <a:br>
              <a:rPr lang="en-US" dirty="0"/>
            </a:br>
            <a:endParaRPr lang="en-US" dirty="0"/>
          </a:p>
        </p:txBody>
      </p:sp>
    </p:spTree>
    <p:extLst>
      <p:ext uri="{BB962C8B-B14F-4D97-AF65-F5344CB8AC3E}">
        <p14:creationId xmlns:p14="http://schemas.microsoft.com/office/powerpoint/2010/main" val="2736588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endParaRPr lang="en-US" dirty="0"/>
          </a:p>
        </p:txBody>
      </p:sp>
    </p:spTree>
    <p:extLst>
      <p:ext uri="{BB962C8B-B14F-4D97-AF65-F5344CB8AC3E}">
        <p14:creationId xmlns:p14="http://schemas.microsoft.com/office/powerpoint/2010/main" val="18579236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should leverage concurrency whenever possible. </a:t>
            </a:r>
          </a:p>
          <a:p>
            <a:endParaRPr lang="en-US" dirty="0"/>
          </a:p>
          <a:p>
            <a:r>
              <a:rPr lang="en-US" dirty="0"/>
              <a:t>(Time is average of 100 runs on Prof. Wand’s Lenovo X1)</a:t>
            </a:r>
          </a:p>
          <a:p>
            <a:endParaRPr lang="en-US" dirty="0"/>
          </a:p>
        </p:txBody>
      </p:sp>
    </p:spTree>
    <p:extLst>
      <p:ext uri="{BB962C8B-B14F-4D97-AF65-F5344CB8AC3E}">
        <p14:creationId xmlns:p14="http://schemas.microsoft.com/office/powerpoint/2010/main" val="39729342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examples so far, the arguments to the requests were independent of each other.  But there's no reason they have to be independent (except for </a:t>
            </a:r>
            <a:r>
              <a:rPr lang="en-US" dirty="0" err="1"/>
              <a:t>Promise.all</a:t>
            </a:r>
            <a:r>
              <a:rPr lang="en-US" dirty="0"/>
              <a:t>).  You can make them any way you need to.</a:t>
            </a:r>
          </a:p>
        </p:txBody>
      </p:sp>
    </p:spTree>
    <p:extLst>
      <p:ext uri="{BB962C8B-B14F-4D97-AF65-F5344CB8AC3E}">
        <p14:creationId xmlns:p14="http://schemas.microsoft.com/office/powerpoint/2010/main" val="35610407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Review the code.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2024D-E69E-7C58-13D1-FCEA50E35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94B2D-2393-6A10-F8B0-78DEA5C04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A7978-C190-AF69-F7C3-80DC31C6B16E}"/>
              </a:ext>
            </a:extLst>
          </p:cNvPr>
          <p:cNvSpPr>
            <a:spLocks noGrp="1"/>
          </p:cNvSpPr>
          <p:nvPr>
            <p:ph type="body" idx="1"/>
          </p:nvPr>
        </p:nvSpPr>
        <p:spPr/>
        <p:txBody>
          <a:bodyPr/>
          <a:lstStyle/>
          <a:p>
            <a:r>
              <a:rPr lang="en-US" dirty="0"/>
              <a:t>OK, this is complicated (which is why it's an antipattern).  Here's what happened:</a:t>
            </a:r>
          </a:p>
          <a:p>
            <a:endParaRPr lang="en-US" dirty="0"/>
          </a:p>
          <a:p>
            <a:pPr marL="228600" indent="-228600">
              <a:buAutoNum type="arabicPeriod"/>
            </a:pPr>
            <a:r>
              <a:rPr lang="en-US" dirty="0"/>
              <a:t>main() called </a:t>
            </a:r>
            <a:r>
              <a:rPr lang="en-US" dirty="0" err="1"/>
              <a:t>fakeRequest</a:t>
            </a:r>
            <a:r>
              <a:rPr lang="en-US" dirty="0"/>
              <a:t>(32).</a:t>
            </a:r>
          </a:p>
          <a:p>
            <a:pPr marL="228600" indent="-228600">
              <a:buAutoNum type="arabicPeriod"/>
            </a:pPr>
            <a:r>
              <a:rPr lang="en-US" dirty="0" err="1"/>
              <a:t>fakeRequest</a:t>
            </a:r>
            <a:r>
              <a:rPr lang="en-US" dirty="0"/>
              <a:t>(32) created a unit of work (a Promise), and told the runtime to run it sometime or other. </a:t>
            </a:r>
          </a:p>
          <a:p>
            <a:pPr marL="228600" indent="-228600">
              <a:buAutoNum type="arabicPeriod"/>
            </a:pPr>
            <a:r>
              <a:rPr lang="en-US" dirty="0"/>
              <a:t>Normally, we wouldn't see the actual value returned by </a:t>
            </a:r>
            <a:r>
              <a:rPr lang="en-US" dirty="0" err="1"/>
              <a:t>fakeRequest</a:t>
            </a:r>
            <a:r>
              <a:rPr lang="en-US" dirty="0"/>
              <a:t>(32), because we'd just wait for the unit of work to run before proceeding.</a:t>
            </a:r>
          </a:p>
          <a:p>
            <a:pPr marL="228600" indent="-228600">
              <a:buAutoNum type="arabicPeriod"/>
            </a:pPr>
            <a:r>
              <a:rPr lang="en-US" dirty="0"/>
              <a:t>But here, we didn't wait-- we just took the value returned by </a:t>
            </a:r>
            <a:r>
              <a:rPr lang="en-US" dirty="0" err="1"/>
              <a:t>fakeRequest</a:t>
            </a:r>
            <a:r>
              <a:rPr lang="en-US" dirty="0"/>
              <a:t>(32)-- the Promise-- and printed it.  </a:t>
            </a:r>
          </a:p>
          <a:p>
            <a:pPr marL="228600" indent="-228600">
              <a:buAutoNum type="arabicPeriod"/>
            </a:pPr>
            <a:r>
              <a:rPr lang="en-US" dirty="0"/>
              <a:t>We finished our current unit of work, printing "main done", which informed the runtime that we were done.</a:t>
            </a:r>
          </a:p>
          <a:p>
            <a:pPr marL="228600" indent="-228600">
              <a:buAutoNum type="arabicPeriod"/>
            </a:pPr>
            <a:r>
              <a:rPr lang="en-US" dirty="0"/>
              <a:t>The runtime then looked around for another unit of work to do.  In this case, it found the unit of work created by </a:t>
            </a:r>
            <a:r>
              <a:rPr lang="en-US" dirty="0" err="1"/>
              <a:t>fakeRequest</a:t>
            </a:r>
            <a:r>
              <a:rPr lang="en-US" dirty="0"/>
              <a:t>(32), and ran it, printing the last two lines</a:t>
            </a:r>
          </a:p>
          <a:p>
            <a:pPr marL="228600" indent="-228600">
              <a:buAutoNum type="arabicPeriod"/>
            </a:pPr>
            <a:endParaRPr lang="en-US" dirty="0"/>
          </a:p>
        </p:txBody>
      </p:sp>
    </p:spTree>
    <p:extLst>
      <p:ext uri="{BB962C8B-B14F-4D97-AF65-F5344CB8AC3E}">
        <p14:creationId xmlns:p14="http://schemas.microsoft.com/office/powerpoint/2010/main" val="24369505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marked the critical sections in a single async function.  When we consider two or more </a:t>
            </a:r>
            <a:r>
              <a:rPr lang="en-US" dirty="0" err="1"/>
              <a:t>asyncs</a:t>
            </a:r>
            <a:r>
              <a:rPr lang="en-US" dirty="0"/>
              <a:t>, the story is a little more complicated-- the two green sections actually form a single critical section, so the 'f started' will *always* be followed immediately by the 'g started'.   (And if there was a side-effect at the start of </a:t>
            </a:r>
            <a:r>
              <a:rPr lang="en-US" dirty="0" err="1"/>
              <a:t>fakeRequest</a:t>
            </a:r>
            <a:r>
              <a:rPr lang="en-US" dirty="0"/>
              <a:t>, that would similarly follow immediately after the 'g started'.  But there isn't </a:t>
            </a:r>
            <a:r>
              <a:rPr lang="en-US" dirty="0">
                <a:sym typeface="Wingdings" panose="05000000000000000000" pitchFamily="2" charset="2"/>
              </a:rPr>
              <a:t> ) . </a:t>
            </a:r>
          </a:p>
          <a:p>
            <a:endParaRPr lang="en-US" dirty="0">
              <a:sym typeface="Wingdings" panose="05000000000000000000" pitchFamily="2" charset="2"/>
            </a:endParaRPr>
          </a:p>
          <a:p>
            <a:r>
              <a:rPr lang="en-US" dirty="0">
                <a:sym typeface="Wingdings" panose="05000000000000000000" pitchFamily="2" charset="2"/>
              </a:rPr>
              <a:t>The 'g started' exposes this subtlety-- if it wasn't there, you'd never be able to tell the difference.  So don't do that.  Make sure that nothing you do before the first await in your async causes a visible side-effect (e.g. a console.log), unless you really want to track what's going on at this level of detail.</a:t>
            </a:r>
            <a:endParaRPr lang="en-US" dirty="0"/>
          </a:p>
        </p:txBody>
      </p:sp>
    </p:spTree>
    <p:extLst>
      <p:ext uri="{BB962C8B-B14F-4D97-AF65-F5344CB8AC3E}">
        <p14:creationId xmlns:p14="http://schemas.microsoft.com/office/powerpoint/2010/main" val="32347526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our tour of cooperative multiprocessing.</a:t>
            </a:r>
          </a:p>
          <a:p>
            <a:r>
              <a:rPr lang="en-US" dirty="0"/>
              <a:t>But where does the non-blocking IO come from?</a:t>
            </a:r>
          </a:p>
        </p:txBody>
      </p:sp>
    </p:spTree>
    <p:extLst>
      <p:ext uri="{BB962C8B-B14F-4D97-AF65-F5344CB8AC3E}">
        <p14:creationId xmlns:p14="http://schemas.microsoft.com/office/powerpoint/2010/main" val="20581665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what we said back on the slide with the stork, where we said "</a:t>
            </a:r>
            <a:r>
              <a:rPr lang="en-US" sz="1100" dirty="0"/>
              <a:t>Some typescript libraries have API procedures that return promises"</a:t>
            </a:r>
          </a:p>
          <a:p>
            <a:endParaRPr lang="en-US" dirty="0"/>
          </a:p>
        </p:txBody>
      </p:sp>
    </p:spTree>
    <p:extLst>
      <p:ext uri="{BB962C8B-B14F-4D97-AF65-F5344CB8AC3E}">
        <p14:creationId xmlns:p14="http://schemas.microsoft.com/office/powerpoint/2010/main" val="14281436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solidFill>
                  <a:schemeClr val="tx1"/>
                </a:solidFill>
              </a:rPr>
              <a:t>Courtesy of </a:t>
            </a:r>
            <a:r>
              <a:rPr lang="en-US" dirty="0">
                <a:solidFill>
                  <a:schemeClr val="tx1"/>
                </a:solidFill>
                <a:hlinkClick r:id="rId3"/>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363622169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99882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47</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hyperlink" Target="https://dev.to/lydiahallie/javascript-visualized-event-loop-3dif" TargetMode="External"/><Relationship Id="rId4" Type="http://schemas.openxmlformats.org/officeDocument/2006/relationships/image" Target="../media/image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a:p>
            <a:r>
              <a:rPr lang="en-US" b="1" dirty="0"/>
              <a:t>async</a:t>
            </a:r>
            <a:r>
              <a:rPr lang="en-US" dirty="0"/>
              <a:t> is Typescript's way of handling this</a:t>
            </a:r>
            <a:endParaRPr lang="en-US" b="1" dirty="0"/>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AFFF-8173-684B-84C4-4485658ADFAA}"/>
              </a:ext>
            </a:extLst>
          </p:cNvPr>
          <p:cNvSpPr>
            <a:spLocks noGrp="1"/>
          </p:cNvSpPr>
          <p:nvPr>
            <p:ph type="title"/>
          </p:nvPr>
        </p:nvSpPr>
        <p:spPr/>
        <p:txBody>
          <a:bodyPr>
            <a:normAutofit/>
          </a:bodyPr>
          <a:lstStyle/>
          <a:p>
            <a:r>
              <a:rPr lang="en-US" sz="3600" dirty="0"/>
              <a:t>Your app probably spends most of its time waiting</a:t>
            </a:r>
          </a:p>
        </p:txBody>
      </p:sp>
      <p:sp>
        <p:nvSpPr>
          <p:cNvPr id="3" name="Text Placeholder 2">
            <a:extLst>
              <a:ext uri="{FF2B5EF4-FFF2-40B4-BE49-F238E27FC236}">
                <a16:creationId xmlns:a16="http://schemas.microsoft.com/office/drawing/2014/main" id="{78B96E90-8488-4353-B730-DCAA6C341B31}"/>
              </a:ext>
            </a:extLst>
          </p:cNvPr>
          <p:cNvSpPr>
            <a:spLocks noGrp="1"/>
          </p:cNvSpPr>
          <p:nvPr>
            <p:ph type="body" idx="4294967295"/>
          </p:nvPr>
        </p:nvSpPr>
        <p:spPr>
          <a:xfrm>
            <a:off x="870031" y="1480284"/>
            <a:ext cx="5277346" cy="5137083"/>
          </a:xfrm>
        </p:spPr>
        <p:txBody>
          <a:bodyPr>
            <a:normAutofit fontScale="92500" lnSpcReduction="20000"/>
          </a:bodyPr>
          <a:lstStyle/>
          <a:p>
            <a:r>
              <a:rPr lang="en-US" sz="2400" dirty="0"/>
              <a:t>Consider: a 1Ghz CPU executes an instruction every 1 ns</a:t>
            </a:r>
          </a:p>
          <a:p>
            <a:endParaRPr lang="en-US" sz="2400" dirty="0"/>
          </a:p>
          <a:p>
            <a:endParaRPr lang="en-US" sz="2400" dirty="0"/>
          </a:p>
          <a:p>
            <a:endParaRPr lang="en-US" sz="2400" dirty="0"/>
          </a:p>
          <a:p>
            <a:endParaRPr lang="en-US" sz="2400" dirty="0"/>
          </a:p>
          <a:p>
            <a:endParaRPr lang="en-US" sz="2400" dirty="0"/>
          </a:p>
          <a:p>
            <a:r>
              <a:rPr lang="en-US" sz="2400" dirty="0"/>
              <a:t>Almost anything else takes approximately forever</a:t>
            </a:r>
          </a:p>
          <a:p>
            <a:r>
              <a:rPr lang="en-US" sz="2400" b="1" dirty="0">
                <a:solidFill>
                  <a:srgbClr val="FF0000"/>
                </a:solidFill>
              </a:rPr>
              <a:t>Want to utilize this “wasted” time by doing something else</a:t>
            </a:r>
          </a:p>
          <a:p>
            <a:pPr lvl="1"/>
            <a:r>
              <a:rPr lang="en-US" sz="1800" dirty="0"/>
              <a:t>Processing data</a:t>
            </a:r>
          </a:p>
          <a:p>
            <a:pPr lvl="1"/>
            <a:r>
              <a:rPr lang="en-US" sz="1800" dirty="0"/>
              <a:t>Communicating with remote hosts</a:t>
            </a:r>
          </a:p>
          <a:p>
            <a:pPr lvl="1"/>
            <a:r>
              <a:rPr lang="en-US" sz="1800" dirty="0"/>
              <a:t>Timers that countdown while our app is running</a:t>
            </a:r>
          </a:p>
          <a:p>
            <a:pPr lvl="1"/>
            <a:r>
              <a:rPr lang="en-US" sz="1800" dirty="0"/>
              <a:t>Echoing user input</a:t>
            </a:r>
          </a:p>
          <a:p>
            <a:endParaRPr lang="en-US" sz="2400" dirty="0"/>
          </a:p>
        </p:txBody>
      </p:sp>
      <p:sp>
        <p:nvSpPr>
          <p:cNvPr id="43" name="Slide Number">
            <a:extLst>
              <a:ext uri="{FF2B5EF4-FFF2-40B4-BE49-F238E27FC236}">
                <a16:creationId xmlns:a16="http://schemas.microsoft.com/office/drawing/2014/main" id="{7361703E-BB61-5440-98E4-6A3AF012595E}"/>
              </a:ext>
            </a:extLst>
          </p:cNvPr>
          <p:cNvSpPr txBox="1">
            <a:spLocks/>
          </p:cNvSpPr>
          <p:nvPr/>
        </p:nvSpPr>
        <p:spPr>
          <a:xfrm>
            <a:off x="11269653" y="5603206"/>
            <a:ext cx="339836" cy="32893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a:lstStyle>
          <a:p>
            <a:fld id="{86CB4B4D-7CA3-9044-876B-883B54F8677D}" type="slidenum">
              <a:rPr lang="en-US" smtClean="0"/>
              <a:pPr/>
              <a:t>4</a:t>
            </a:fld>
            <a:endParaRPr lang="en-US"/>
          </a:p>
        </p:txBody>
      </p:sp>
      <p:grpSp>
        <p:nvGrpSpPr>
          <p:cNvPr id="4" name="Group 3">
            <a:extLst>
              <a:ext uri="{FF2B5EF4-FFF2-40B4-BE49-F238E27FC236}">
                <a16:creationId xmlns:a16="http://schemas.microsoft.com/office/drawing/2014/main" id="{9CA97BE8-1ED2-DFB2-890D-11E8391B7FC1}"/>
              </a:ext>
            </a:extLst>
          </p:cNvPr>
          <p:cNvGrpSpPr/>
          <p:nvPr/>
        </p:nvGrpSpPr>
        <p:grpSpPr>
          <a:xfrm>
            <a:off x="2171523" y="2215719"/>
            <a:ext cx="9432664" cy="3138199"/>
            <a:chOff x="1601248" y="2680334"/>
            <a:chExt cx="8850152" cy="3138199"/>
          </a:xfrm>
        </p:grpSpPr>
        <p:grpSp>
          <p:nvGrpSpPr>
            <p:cNvPr id="44" name="Group">
              <a:extLst>
                <a:ext uri="{FF2B5EF4-FFF2-40B4-BE49-F238E27FC236}">
                  <a16:creationId xmlns:a16="http://schemas.microsoft.com/office/drawing/2014/main" id="{D28951AE-72F0-AA4F-8BBE-A01B57F777CE}"/>
                </a:ext>
              </a:extLst>
            </p:cNvPr>
            <p:cNvGrpSpPr/>
            <p:nvPr/>
          </p:nvGrpSpPr>
          <p:grpSpPr>
            <a:xfrm>
              <a:off x="1601248" y="2680334"/>
              <a:ext cx="8005516" cy="1561773"/>
              <a:chOff x="0" y="326479"/>
              <a:chExt cx="16011027" cy="3123543"/>
            </a:xfrm>
          </p:grpSpPr>
          <p:sp>
            <p:nvSpPr>
              <p:cNvPr id="45" name="CPU 1">
                <a:extLst>
                  <a:ext uri="{FF2B5EF4-FFF2-40B4-BE49-F238E27FC236}">
                    <a16:creationId xmlns:a16="http://schemas.microsoft.com/office/drawing/2014/main" id="{C44283A3-14B9-4F48-B140-E2F448F47176}"/>
                  </a:ext>
                </a:extLst>
              </p:cNvPr>
              <p:cNvSpPr/>
              <p:nvPr/>
            </p:nvSpPr>
            <p:spPr>
              <a:xfrm>
                <a:off x="0" y="430659"/>
                <a:ext cx="6996899" cy="2227679"/>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r>
                  <a:rPr sz="1400" dirty="0"/>
                  <a:t>CPU</a:t>
                </a:r>
                <a:r>
                  <a:rPr lang="en-US" sz="1400" dirty="0"/>
                  <a:t> 1</a:t>
                </a:r>
                <a:endParaRPr sz="1400" dirty="0"/>
              </a:p>
            </p:txBody>
          </p:sp>
          <p:sp>
            <p:nvSpPr>
              <p:cNvPr id="47" name="thread0()">
                <a:extLst>
                  <a:ext uri="{FF2B5EF4-FFF2-40B4-BE49-F238E27FC236}">
                    <a16:creationId xmlns:a16="http://schemas.microsoft.com/office/drawing/2014/main" id="{2D163110-8804-4C4F-AC94-2983B0DB297E}"/>
                  </a:ext>
                </a:extLst>
              </p:cNvPr>
              <p:cNvSpPr/>
              <p:nvPr/>
            </p:nvSpPr>
            <p:spPr>
              <a:xfrm>
                <a:off x="363536" y="1253934"/>
                <a:ext cx="2332254" cy="960919"/>
              </a:xfrm>
              <a:prstGeom prst="rect">
                <a:avLst/>
              </a:prstGeom>
              <a:solidFill>
                <a:srgbClr val="B4FCFD"/>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thread0()</a:t>
                </a:r>
              </a:p>
            </p:txBody>
          </p:sp>
          <p:sp>
            <p:nvSpPr>
              <p:cNvPr id="49" name="Main Memory">
                <a:extLst>
                  <a:ext uri="{FF2B5EF4-FFF2-40B4-BE49-F238E27FC236}">
                    <a16:creationId xmlns:a16="http://schemas.microsoft.com/office/drawing/2014/main" id="{15F491F7-3A90-6448-A43A-1CC3A010670C}"/>
                  </a:ext>
                </a:extLst>
              </p:cNvPr>
              <p:cNvSpPr/>
              <p:nvPr/>
            </p:nvSpPr>
            <p:spPr>
              <a:xfrm>
                <a:off x="8876106" y="359223"/>
                <a:ext cx="1785940" cy="2915695"/>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Main Memory</a:t>
                </a:r>
              </a:p>
            </p:txBody>
          </p:sp>
          <p:grpSp>
            <p:nvGrpSpPr>
              <p:cNvPr id="50" name="Group">
                <a:extLst>
                  <a:ext uri="{FF2B5EF4-FFF2-40B4-BE49-F238E27FC236}">
                    <a16:creationId xmlns:a16="http://schemas.microsoft.com/office/drawing/2014/main" id="{7DA54FA5-BD81-7B4E-BB1F-79830504C261}"/>
                  </a:ext>
                </a:extLst>
              </p:cNvPr>
              <p:cNvGrpSpPr/>
              <p:nvPr/>
            </p:nvGrpSpPr>
            <p:grpSpPr>
              <a:xfrm>
                <a:off x="2466902" y="1253935"/>
                <a:ext cx="6739604" cy="1315499"/>
                <a:chOff x="0" y="280981"/>
                <a:chExt cx="6739603" cy="1315499"/>
              </a:xfrm>
            </p:grpSpPr>
            <p:sp>
              <p:nvSpPr>
                <p:cNvPr id="63" name="CPU 1 Cache">
                  <a:extLst>
                    <a:ext uri="{FF2B5EF4-FFF2-40B4-BE49-F238E27FC236}">
                      <a16:creationId xmlns:a16="http://schemas.microsoft.com/office/drawing/2014/main" id="{5E9D27E1-5910-D14C-81C3-DDE2A5309E65}"/>
                    </a:ext>
                  </a:extLst>
                </p:cNvPr>
                <p:cNvSpPr/>
                <p:nvPr/>
              </p:nvSpPr>
              <p:spPr>
                <a:xfrm>
                  <a:off x="1343492" y="280981"/>
                  <a:ext cx="2951821" cy="960919"/>
                </a:xfrm>
                <a:prstGeom prst="rect">
                  <a:avLst/>
                </a:prstGeom>
                <a:solidFill>
                  <a:srgbClr val="96CBB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CPU 1 Cache</a:t>
                  </a:r>
                </a:p>
              </p:txBody>
            </p:sp>
            <p:grpSp>
              <p:nvGrpSpPr>
                <p:cNvPr id="76" name="Group">
                  <a:extLst>
                    <a:ext uri="{FF2B5EF4-FFF2-40B4-BE49-F238E27FC236}">
                      <a16:creationId xmlns:a16="http://schemas.microsoft.com/office/drawing/2014/main" id="{CA01C9CD-5B39-B044-816C-90DEC1E00A6C}"/>
                    </a:ext>
                  </a:extLst>
                </p:cNvPr>
                <p:cNvGrpSpPr/>
                <p:nvPr/>
              </p:nvGrpSpPr>
              <p:grpSpPr>
                <a:xfrm>
                  <a:off x="4230362" y="326479"/>
                  <a:ext cx="2509241" cy="1270001"/>
                  <a:chOff x="0" y="326479"/>
                  <a:chExt cx="2509238" cy="1270000"/>
                </a:xfrm>
              </p:grpSpPr>
              <p:sp>
                <p:nvSpPr>
                  <p:cNvPr id="77" name="Line">
                    <a:extLst>
                      <a:ext uri="{FF2B5EF4-FFF2-40B4-BE49-F238E27FC236}">
                        <a16:creationId xmlns:a16="http://schemas.microsoft.com/office/drawing/2014/main" id="{1D42CE66-FA2C-2A4B-B01F-3AA114EC0D09}"/>
                      </a:ext>
                    </a:extLst>
                  </p:cNvPr>
                  <p:cNvSpPr/>
                  <p:nvPr/>
                </p:nvSpPr>
                <p:spPr>
                  <a:xfrm>
                    <a:off x="0" y="571545"/>
                    <a:ext cx="2205969"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8" name="Line">
                    <a:extLst>
                      <a:ext uri="{FF2B5EF4-FFF2-40B4-BE49-F238E27FC236}">
                        <a16:creationId xmlns:a16="http://schemas.microsoft.com/office/drawing/2014/main" id="{09BE313C-67E4-FC43-9BA1-54C7F6358EB9}"/>
                      </a:ext>
                    </a:extLst>
                  </p:cNvPr>
                  <p:cNvSpPr/>
                  <p:nvPr/>
                </p:nvSpPr>
                <p:spPr>
                  <a:xfrm>
                    <a:off x="0" y="1000170"/>
                    <a:ext cx="2205969"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9" name="100ns">
                    <a:extLst>
                      <a:ext uri="{FF2B5EF4-FFF2-40B4-BE49-F238E27FC236}">
                        <a16:creationId xmlns:a16="http://schemas.microsoft.com/office/drawing/2014/main" id="{504F086F-92DB-374E-8ED7-0740686AA3B6}"/>
                      </a:ext>
                    </a:extLst>
                  </p:cNvPr>
                  <p:cNvSpPr/>
                  <p:nvPr/>
                </p:nvSpPr>
                <p:spPr>
                  <a:xfrm>
                    <a:off x="123923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100ns</a:t>
                    </a:r>
                  </a:p>
                </p:txBody>
              </p:sp>
            </p:grpSp>
            <p:grpSp>
              <p:nvGrpSpPr>
                <p:cNvPr id="68" name="Group">
                  <a:extLst>
                    <a:ext uri="{FF2B5EF4-FFF2-40B4-BE49-F238E27FC236}">
                      <a16:creationId xmlns:a16="http://schemas.microsoft.com/office/drawing/2014/main" id="{EAE5A875-AD9C-E943-B2BD-71091FE9EDAE}"/>
                    </a:ext>
                  </a:extLst>
                </p:cNvPr>
                <p:cNvGrpSpPr/>
                <p:nvPr/>
              </p:nvGrpSpPr>
              <p:grpSpPr>
                <a:xfrm>
                  <a:off x="0" y="326479"/>
                  <a:ext cx="2008787" cy="1270001"/>
                  <a:chOff x="0" y="326479"/>
                  <a:chExt cx="2008785" cy="1270000"/>
                </a:xfrm>
              </p:grpSpPr>
              <p:grpSp>
                <p:nvGrpSpPr>
                  <p:cNvPr id="69" name="Group">
                    <a:extLst>
                      <a:ext uri="{FF2B5EF4-FFF2-40B4-BE49-F238E27FC236}">
                        <a16:creationId xmlns:a16="http://schemas.microsoft.com/office/drawing/2014/main" id="{68646CCA-F4F9-5148-830B-99284A02BD69}"/>
                      </a:ext>
                    </a:extLst>
                  </p:cNvPr>
                  <p:cNvGrpSpPr/>
                  <p:nvPr/>
                </p:nvGrpSpPr>
                <p:grpSpPr>
                  <a:xfrm>
                    <a:off x="0" y="546455"/>
                    <a:ext cx="1477572" cy="287097"/>
                    <a:chOff x="0" y="0"/>
                    <a:chExt cx="1477571" cy="287095"/>
                  </a:xfrm>
                </p:grpSpPr>
                <p:sp>
                  <p:nvSpPr>
                    <p:cNvPr id="71" name="Line">
                      <a:extLst>
                        <a:ext uri="{FF2B5EF4-FFF2-40B4-BE49-F238E27FC236}">
                          <a16:creationId xmlns:a16="http://schemas.microsoft.com/office/drawing/2014/main" id="{89E3B08B-4B8C-8F4A-91E3-7002C7C1896B}"/>
                        </a:ext>
                      </a:extLst>
                    </p:cNvPr>
                    <p:cNvSpPr/>
                    <p:nvPr/>
                  </p:nvSpPr>
                  <p:spPr>
                    <a:xfrm>
                      <a:off x="0" y="0"/>
                      <a:ext cx="1477572" cy="0"/>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2" name="Line">
                      <a:extLst>
                        <a:ext uri="{FF2B5EF4-FFF2-40B4-BE49-F238E27FC236}">
                          <a16:creationId xmlns:a16="http://schemas.microsoft.com/office/drawing/2014/main" id="{7AF63D1B-E67E-F644-86B1-53D750A442BC}"/>
                        </a:ext>
                      </a:extLst>
                    </p:cNvPr>
                    <p:cNvSpPr/>
                    <p:nvPr/>
                  </p:nvSpPr>
                  <p:spPr>
                    <a:xfrm>
                      <a:off x="0" y="287095"/>
                      <a:ext cx="1477572"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grpSp>
              <p:sp>
                <p:nvSpPr>
                  <p:cNvPr id="70" name="7ns">
                    <a:extLst>
                      <a:ext uri="{FF2B5EF4-FFF2-40B4-BE49-F238E27FC236}">
                        <a16:creationId xmlns:a16="http://schemas.microsoft.com/office/drawing/2014/main" id="{A712BDBD-46F8-6148-8ECD-F7EDB780F7EA}"/>
                      </a:ext>
                    </a:extLst>
                  </p:cNvPr>
                  <p:cNvSpPr/>
                  <p:nvPr/>
                </p:nvSpPr>
                <p:spPr>
                  <a:xfrm>
                    <a:off x="738785"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7ns</a:t>
                    </a:r>
                  </a:p>
                </p:txBody>
              </p:sp>
            </p:grpSp>
          </p:grpSp>
          <p:grpSp>
            <p:nvGrpSpPr>
              <p:cNvPr id="51" name="Group">
                <a:extLst>
                  <a:ext uri="{FF2B5EF4-FFF2-40B4-BE49-F238E27FC236}">
                    <a16:creationId xmlns:a16="http://schemas.microsoft.com/office/drawing/2014/main" id="{0FC89C71-14F4-FB4E-803E-B42F61FF5EA9}"/>
                  </a:ext>
                </a:extLst>
              </p:cNvPr>
              <p:cNvGrpSpPr/>
              <p:nvPr/>
            </p:nvGrpSpPr>
            <p:grpSpPr>
              <a:xfrm>
                <a:off x="10763250" y="326479"/>
                <a:ext cx="5229913" cy="1387010"/>
                <a:chOff x="38774" y="326479"/>
                <a:chExt cx="5229912" cy="1387008"/>
              </a:xfrm>
            </p:grpSpPr>
            <p:sp>
              <p:nvSpPr>
                <p:cNvPr id="58" name="SSD">
                  <a:extLst>
                    <a:ext uri="{FF2B5EF4-FFF2-40B4-BE49-F238E27FC236}">
                      <a16:creationId xmlns:a16="http://schemas.microsoft.com/office/drawing/2014/main" id="{0EAF6096-CDDC-DF47-A423-1FFA17308BE2}"/>
                    </a:ext>
                  </a:extLst>
                </p:cNvPr>
                <p:cNvSpPr/>
                <p:nvPr/>
              </p:nvSpPr>
              <p:spPr>
                <a:xfrm>
                  <a:off x="2402164" y="752570"/>
                  <a:ext cx="2866524" cy="960919"/>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SSD</a:t>
                  </a:r>
                </a:p>
              </p:txBody>
            </p:sp>
            <p:grpSp>
              <p:nvGrpSpPr>
                <p:cNvPr id="59" name="Group">
                  <a:extLst>
                    <a:ext uri="{FF2B5EF4-FFF2-40B4-BE49-F238E27FC236}">
                      <a16:creationId xmlns:a16="http://schemas.microsoft.com/office/drawing/2014/main" id="{79FCB333-BB5A-5E40-AEE0-D340C8E61E36}"/>
                    </a:ext>
                  </a:extLst>
                </p:cNvPr>
                <p:cNvGrpSpPr/>
                <p:nvPr/>
              </p:nvGrpSpPr>
              <p:grpSpPr>
                <a:xfrm>
                  <a:off x="38774" y="326479"/>
                  <a:ext cx="5219225" cy="1270001"/>
                  <a:chOff x="38774" y="326479"/>
                  <a:chExt cx="5219223" cy="1270000"/>
                </a:xfrm>
              </p:grpSpPr>
              <p:sp>
                <p:nvSpPr>
                  <p:cNvPr id="60" name="Line">
                    <a:extLst>
                      <a:ext uri="{FF2B5EF4-FFF2-40B4-BE49-F238E27FC236}">
                        <a16:creationId xmlns:a16="http://schemas.microsoft.com/office/drawing/2014/main" id="{B4B50764-CA0F-7346-8A5C-93DBF96F6617}"/>
                      </a:ext>
                    </a:extLst>
                  </p:cNvPr>
                  <p:cNvSpPr/>
                  <p:nvPr/>
                </p:nvSpPr>
                <p:spPr>
                  <a:xfrm>
                    <a:off x="38774" y="1020623"/>
                    <a:ext cx="2205970"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1" name="Line">
                    <a:extLst>
                      <a:ext uri="{FF2B5EF4-FFF2-40B4-BE49-F238E27FC236}">
                        <a16:creationId xmlns:a16="http://schemas.microsoft.com/office/drawing/2014/main" id="{030C2544-089C-0F47-8C36-C71C58B0C2AB}"/>
                      </a:ext>
                    </a:extLst>
                  </p:cNvPr>
                  <p:cNvSpPr/>
                  <p:nvPr/>
                </p:nvSpPr>
                <p:spPr>
                  <a:xfrm>
                    <a:off x="38774" y="1449248"/>
                    <a:ext cx="2205970"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2" name="150,000ns (just to read 4KB)">
                    <a:extLst>
                      <a:ext uri="{FF2B5EF4-FFF2-40B4-BE49-F238E27FC236}">
                        <a16:creationId xmlns:a16="http://schemas.microsoft.com/office/drawing/2014/main" id="{9325D6D0-9B33-A049-BD49-8B265CC162CA}"/>
                      </a:ext>
                    </a:extLst>
                  </p:cNvPr>
                  <p:cNvSpPr/>
                  <p:nvPr/>
                </p:nvSpPr>
                <p:spPr>
                  <a:xfrm>
                    <a:off x="398799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150,000ns (just to read 4KB)</a:t>
                    </a:r>
                  </a:p>
                </p:txBody>
              </p:sp>
            </p:grpSp>
          </p:grpSp>
          <p:grpSp>
            <p:nvGrpSpPr>
              <p:cNvPr id="52" name="Group">
                <a:extLst>
                  <a:ext uri="{FF2B5EF4-FFF2-40B4-BE49-F238E27FC236}">
                    <a16:creationId xmlns:a16="http://schemas.microsoft.com/office/drawing/2014/main" id="{26D7B826-7CEA-A446-93AF-8D2CE3AD544B}"/>
                  </a:ext>
                </a:extLst>
              </p:cNvPr>
              <p:cNvGrpSpPr/>
              <p:nvPr/>
            </p:nvGrpSpPr>
            <p:grpSpPr>
              <a:xfrm>
                <a:off x="10763250" y="2063010"/>
                <a:ext cx="5247777" cy="1387012"/>
                <a:chOff x="83728" y="-1201900"/>
                <a:chExt cx="5247775" cy="1387011"/>
              </a:xfrm>
            </p:grpSpPr>
            <p:sp>
              <p:nvSpPr>
                <p:cNvPr id="53" name="Magnetic HD">
                  <a:extLst>
                    <a:ext uri="{FF2B5EF4-FFF2-40B4-BE49-F238E27FC236}">
                      <a16:creationId xmlns:a16="http://schemas.microsoft.com/office/drawing/2014/main" id="{887EC307-138E-334D-9544-EEE537956F47}"/>
                    </a:ext>
                  </a:extLst>
                </p:cNvPr>
                <p:cNvSpPr/>
                <p:nvPr/>
              </p:nvSpPr>
              <p:spPr>
                <a:xfrm>
                  <a:off x="2464979" y="-775809"/>
                  <a:ext cx="2866524" cy="960920"/>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Magnetic HD</a:t>
                  </a:r>
                </a:p>
              </p:txBody>
            </p:sp>
            <p:grpSp>
              <p:nvGrpSpPr>
                <p:cNvPr id="54" name="Group">
                  <a:extLst>
                    <a:ext uri="{FF2B5EF4-FFF2-40B4-BE49-F238E27FC236}">
                      <a16:creationId xmlns:a16="http://schemas.microsoft.com/office/drawing/2014/main" id="{ECC30FC0-871B-8043-BFC0-389A7353B08D}"/>
                    </a:ext>
                  </a:extLst>
                </p:cNvPr>
                <p:cNvGrpSpPr/>
                <p:nvPr/>
              </p:nvGrpSpPr>
              <p:grpSpPr>
                <a:xfrm>
                  <a:off x="83728" y="-1201900"/>
                  <a:ext cx="5227851" cy="1270003"/>
                  <a:chOff x="83728" y="-1201899"/>
                  <a:chExt cx="5227849" cy="1270002"/>
                </a:xfrm>
              </p:grpSpPr>
              <p:sp>
                <p:nvSpPr>
                  <p:cNvPr id="55" name="Line">
                    <a:extLst>
                      <a:ext uri="{FF2B5EF4-FFF2-40B4-BE49-F238E27FC236}">
                        <a16:creationId xmlns:a16="http://schemas.microsoft.com/office/drawing/2014/main" id="{6179BC15-F03B-7445-98CA-4DBC78F241E7}"/>
                      </a:ext>
                    </a:extLst>
                  </p:cNvPr>
                  <p:cNvSpPr/>
                  <p:nvPr/>
                </p:nvSpPr>
                <p:spPr>
                  <a:xfrm>
                    <a:off x="83728" y="-507753"/>
                    <a:ext cx="2205970" cy="2"/>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6" name="Line">
                    <a:extLst>
                      <a:ext uri="{FF2B5EF4-FFF2-40B4-BE49-F238E27FC236}">
                        <a16:creationId xmlns:a16="http://schemas.microsoft.com/office/drawing/2014/main" id="{B40C6026-6B48-B84F-B094-67D05B989047}"/>
                      </a:ext>
                    </a:extLst>
                  </p:cNvPr>
                  <p:cNvSpPr/>
                  <p:nvPr/>
                </p:nvSpPr>
                <p:spPr>
                  <a:xfrm>
                    <a:off x="83728" y="-79130"/>
                    <a:ext cx="2205970" cy="2"/>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7" name="10,000,000ns (just to seek!)">
                    <a:extLst>
                      <a:ext uri="{FF2B5EF4-FFF2-40B4-BE49-F238E27FC236}">
                        <a16:creationId xmlns:a16="http://schemas.microsoft.com/office/drawing/2014/main" id="{C3FBAB01-6491-AF49-AAA2-2C03731227D2}"/>
                      </a:ext>
                    </a:extLst>
                  </p:cNvPr>
                  <p:cNvSpPr/>
                  <p:nvPr/>
                </p:nvSpPr>
                <p:spPr>
                  <a:xfrm>
                    <a:off x="4041576" y="-1201899"/>
                    <a:ext cx="1270001" cy="1270002"/>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10,000,000ns (just to seek!)</a:t>
                    </a:r>
                  </a:p>
                </p:txBody>
              </p:sp>
            </p:grpSp>
          </p:grpSp>
        </p:grpSp>
        <p:sp>
          <p:nvSpPr>
            <p:cNvPr id="85" name="CPU 1">
              <a:extLst>
                <a:ext uri="{FF2B5EF4-FFF2-40B4-BE49-F238E27FC236}">
                  <a16:creationId xmlns:a16="http://schemas.microsoft.com/office/drawing/2014/main" id="{708F2F5E-4319-B74F-82E2-80860EDE1BA8}"/>
                </a:ext>
              </a:extLst>
            </p:cNvPr>
            <p:cNvSpPr/>
            <p:nvPr/>
          </p:nvSpPr>
          <p:spPr>
            <a:xfrm>
              <a:off x="5483209" y="5271139"/>
              <a:ext cx="2005158" cy="547394"/>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pPr algn="ctr"/>
              <a:r>
                <a:rPr lang="en-US" sz="1600" dirty="0"/>
                <a:t>Remote Computer (Internet in between)</a:t>
              </a:r>
              <a:endParaRPr sz="1600" dirty="0"/>
            </a:p>
          </p:txBody>
        </p:sp>
        <p:sp>
          <p:nvSpPr>
            <p:cNvPr id="86" name="Line">
              <a:extLst>
                <a:ext uri="{FF2B5EF4-FFF2-40B4-BE49-F238E27FC236}">
                  <a16:creationId xmlns:a16="http://schemas.microsoft.com/office/drawing/2014/main" id="{0AC42634-E149-064A-83E6-ED7D43BA6518}"/>
                </a:ext>
              </a:extLst>
            </p:cNvPr>
            <p:cNvSpPr/>
            <p:nvPr/>
          </p:nvSpPr>
          <p:spPr>
            <a:xfrm flipV="1">
              <a:off x="6352115" y="4154555"/>
              <a:ext cx="4389"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7" name="Line">
              <a:extLst>
                <a:ext uri="{FF2B5EF4-FFF2-40B4-BE49-F238E27FC236}">
                  <a16:creationId xmlns:a16="http://schemas.microsoft.com/office/drawing/2014/main" id="{BF898E9F-2960-EC4D-94DC-36C091B62C39}"/>
                </a:ext>
              </a:extLst>
            </p:cNvPr>
            <p:cNvSpPr/>
            <p:nvPr/>
          </p:nvSpPr>
          <p:spPr>
            <a:xfrm>
              <a:off x="6544272" y="4154555"/>
              <a:ext cx="0"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9" name="TextBox 88">
              <a:extLst>
                <a:ext uri="{FF2B5EF4-FFF2-40B4-BE49-F238E27FC236}">
                  <a16:creationId xmlns:a16="http://schemas.microsoft.com/office/drawing/2014/main" id="{7B5E046B-2A36-564E-BE8A-235D40FF9BD3}"/>
                </a:ext>
              </a:extLst>
            </p:cNvPr>
            <p:cNvSpPr txBox="1"/>
            <p:nvPr/>
          </p:nvSpPr>
          <p:spPr>
            <a:xfrm>
              <a:off x="6697659" y="4335500"/>
              <a:ext cx="3753741" cy="1015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2000" dirty="0">
                  <a:solidFill>
                    <a:schemeClr val="bg2">
                      <a:lumMod val="10000"/>
                    </a:schemeClr>
                  </a:solidFill>
                </a:rPr>
                <a:t>~100,000,000ns</a:t>
              </a:r>
            </a:p>
            <a:p>
              <a:pPr algn="l"/>
              <a:r>
                <a:rPr lang="en-US" sz="2000" dirty="0">
                  <a:solidFill>
                    <a:schemeClr val="bg2">
                      <a:lumMod val="10000"/>
                    </a:schemeClr>
                  </a:solidFill>
                </a:rPr>
                <a:t>Earth to moon: ~16,000,000 inches</a:t>
              </a:r>
            </a:p>
          </p:txBody>
        </p:sp>
      </p:grpSp>
      <p:sp>
        <p:nvSpPr>
          <p:cNvPr id="90" name="Typical Java Example">
            <a:extLst>
              <a:ext uri="{FF2B5EF4-FFF2-40B4-BE49-F238E27FC236}">
                <a16:creationId xmlns:a16="http://schemas.microsoft.com/office/drawing/2014/main" id="{8BE3D08A-63B0-9D43-82C7-497A8FE3CC61}"/>
              </a:ext>
            </a:extLst>
          </p:cNvPr>
          <p:cNvSpPr txBox="1">
            <a:spLocks/>
          </p:cNvSpPr>
          <p:nvPr/>
        </p:nvSpPr>
        <p:spPr>
          <a:xfrm>
            <a:off x="870031" y="1000578"/>
            <a:ext cx="10985500" cy="46739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lvl1pPr marL="304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1pPr>
            <a:lvl2pPr marL="609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2pPr>
            <a:lvl3pPr marL="914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3pPr>
            <a:lvl4pPr marL="1219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4pPr>
            <a:lvl5pPr marL="15240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5pPr>
            <a:lvl6pPr marL="1828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6pPr>
            <a:lvl7pPr marL="2133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7pPr>
            <a:lvl8pPr marL="2438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8pPr>
            <a:lvl9pPr marL="2743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9pPr>
          </a:lstStyle>
          <a:p>
            <a:pPr marL="0" indent="0" hangingPunct="1">
              <a:buNone/>
            </a:pPr>
            <a:endParaRPr lang="en-US" dirty="0"/>
          </a:p>
        </p:txBody>
      </p:sp>
      <p:sp>
        <p:nvSpPr>
          <p:cNvPr id="7" name="Text Placeholder 2">
            <a:extLst>
              <a:ext uri="{FF2B5EF4-FFF2-40B4-BE49-F238E27FC236}">
                <a16:creationId xmlns:a16="http://schemas.microsoft.com/office/drawing/2014/main" id="{D04E28F1-8A9A-1F7F-3A64-3130A6130F08}"/>
              </a:ext>
            </a:extLst>
          </p:cNvPr>
          <p:cNvSpPr txBox="1">
            <a:spLocks/>
          </p:cNvSpPr>
          <p:nvPr/>
        </p:nvSpPr>
        <p:spPr>
          <a:xfrm>
            <a:off x="378738" y="4471620"/>
            <a:ext cx="5597525" cy="4127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p>
        </p:txBody>
      </p:sp>
    </p:spTree>
    <p:extLst>
      <p:ext uri="{BB962C8B-B14F-4D97-AF65-F5344CB8AC3E}">
        <p14:creationId xmlns:p14="http://schemas.microsoft.com/office/powerpoint/2010/main" val="116911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cooperative multiprocessing </a:t>
            </a:r>
            <a:br>
              <a:rPr lang="en-US" sz="3600" dirty="0"/>
            </a:br>
            <a:r>
              <a:rPr lang="en-US" sz="3600" dirty="0"/>
              <a:t> </a:t>
            </a:r>
            <a:br>
              <a:rPr lang="en-US" sz="3600" dirty="0"/>
            </a:br>
            <a:r>
              <a:rPr lang="en-US" sz="3600" dirty="0"/>
              <a:t>2. non-blocking IO</a:t>
            </a:r>
          </a:p>
        </p:txBody>
      </p:sp>
    </p:spTree>
    <p:extLst>
      <p:ext uri="{BB962C8B-B14F-4D97-AF65-F5344CB8AC3E}">
        <p14:creationId xmlns:p14="http://schemas.microsoft.com/office/powerpoint/2010/main" val="291200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lnSpcReduction="10000"/>
          </a:bodyPr>
          <a:lstStyle/>
          <a:p>
            <a:r>
              <a:rPr lang="en-US" dirty="0"/>
              <a:t>In async/await, the program is organized into a set of "async functions“</a:t>
            </a:r>
          </a:p>
          <a:p>
            <a:r>
              <a:rPr lang="en-US" dirty="0"/>
              <a:t>An async function is like an ordinary function, except that it may be executed by </a:t>
            </a:r>
            <a:r>
              <a:rPr lang="en-US" dirty="0" err="1"/>
              <a:t>webAPI</a:t>
            </a:r>
            <a:r>
              <a:rPr lang="en-US" dirty="0"/>
              <a:t> or the browser</a:t>
            </a:r>
          </a:p>
          <a:p>
            <a:r>
              <a:rPr lang="en-US" dirty="0"/>
              <a:t>If you </a:t>
            </a:r>
            <a:r>
              <a:rPr lang="en-US" b="1" dirty="0"/>
              <a:t>await</a:t>
            </a:r>
            <a:r>
              <a:rPr lang="en-US" dirty="0"/>
              <a:t> on async function, it can pause the execution until async function is completed. This is also known as a ‘promise’. We will show you those with an example.</a:t>
            </a:r>
          </a:p>
          <a:p>
            <a:r>
              <a:rPr lang="en-US" dirty="0"/>
              <a:t>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3"/>
            <a:ext cx="4659086" cy="426191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err="1"/>
              <a:t>WebAPI</a:t>
            </a:r>
            <a:r>
              <a:rPr lang="en-US" dirty="0"/>
              <a:t> are often used for asynchronous tasks</a:t>
            </a:r>
          </a:p>
          <a:p>
            <a:r>
              <a:rPr lang="en-US" dirty="0"/>
              <a:t>Queues are used for “await”-</a:t>
            </a:r>
            <a:r>
              <a:rPr lang="en-US" dirty="0" err="1"/>
              <a:t>ing</a:t>
            </a:r>
            <a:r>
              <a:rPr lang="en-US" dirty="0"/>
              <a:t> tasks</a:t>
            </a:r>
          </a:p>
          <a:p>
            <a:r>
              <a:rPr lang="en-US" dirty="0"/>
              <a:t>When call stack gets </a:t>
            </a:r>
            <a:r>
              <a:rPr lang="en-US" dirty="0">
                <a:solidFill>
                  <a:srgbClr val="FF0000"/>
                </a:solidFill>
              </a:rPr>
              <a:t>empty</a:t>
            </a:r>
            <a:r>
              <a:rPr lang="en-US" dirty="0"/>
              <a:t>, event loop picks up tasks from Callback Queues</a:t>
            </a:r>
          </a:p>
          <a:p>
            <a:r>
              <a:rPr lang="en-US" dirty="0"/>
              <a:t>Microtask queue has priority over </a:t>
            </a:r>
            <a:r>
              <a:rPr lang="en-US" dirty="0" err="1"/>
              <a:t>macrotask</a:t>
            </a:r>
            <a:r>
              <a:rPr lang="en-US" dirty="0"/>
              <a:t> queue</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lnSpcReduction="10000"/>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pause point will correspond to each </a:t>
            </a:r>
            <a:r>
              <a:rPr lang="en-US" i="1" dirty="0"/>
              <a:t>await</a:t>
            </a:r>
            <a:r>
              <a:rPr lang="en-US" dirty="0"/>
              <a:t> keyword which allows you to work on a different unit of work.</a:t>
            </a:r>
          </a:p>
          <a:p>
            <a:r>
              <a:rPr lang="en-US" dirty="0"/>
              <a:t>You can do lots of different things with promises.</a:t>
            </a:r>
          </a:p>
          <a:p>
            <a:r>
              <a:rPr lang="en-US" dirty="0"/>
              <a:t>Let's look some typical patterns.</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 typical async function</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Execution of an async function may be paused</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1" y="1828800"/>
            <a:ext cx="8308888" cy="3046988"/>
            <a:chOff x="838201" y="1828800"/>
            <a:chExt cx="8308888"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152270"/>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639856"/>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535224" y="4074278"/>
            <a:ext cx="4684948" cy="2201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returning with a </a:t>
            </a:r>
            <a:r>
              <a:rPr lang="en-US" b="1" i="1" dirty="0"/>
              <a:t>pending</a:t>
            </a:r>
            <a:r>
              <a:rPr lang="en-US" i="1" dirty="0"/>
              <a:t> </a:t>
            </a:r>
            <a:r>
              <a:rPr lang="en-US" dirty="0"/>
              <a:t>promise which means that some work will be completed in future.</a:t>
            </a:r>
          </a:p>
          <a:p>
            <a:r>
              <a:rPr lang="en-US" dirty="0"/>
              <a:t>While you are waiting for that future, event loop will continue finishing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a:p>
            <a:r>
              <a:rPr lang="en-US" dirty="0"/>
              <a:t>Let’s understand those with some examples</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646330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a:p>
            <a:pPr algn="l"/>
            <a:endParaRPr lang="en-US" sz="14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Simple sequential execution:</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728026"/>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p:txBody>
      </p:sp>
      <p:sp>
        <p:nvSpPr>
          <p:cNvPr id="7" name="Content Placeholder 1">
            <a:extLst>
              <a:ext uri="{FF2B5EF4-FFF2-40B4-BE49-F238E27FC236}">
                <a16:creationId xmlns:a16="http://schemas.microsoft.com/office/drawing/2014/main" id="{B51487F4-AF67-1E67-9BA6-1939C17C9D85}"/>
              </a:ext>
            </a:extLst>
          </p:cNvPr>
          <p:cNvSpPr txBox="1">
            <a:spLocks/>
          </p:cNvSpPr>
          <p:nvPr/>
        </p:nvSpPr>
        <p:spPr>
          <a:xfrm>
            <a:off x="838200" y="4552122"/>
            <a:ext cx="5257800" cy="636104"/>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Everything runs sequentially</a:t>
            </a:r>
          </a:p>
        </p:txBody>
      </p:sp>
    </p:spTree>
    <p:extLst>
      <p:ext uri="{BB962C8B-B14F-4D97-AF65-F5344CB8AC3E}">
        <p14:creationId xmlns:p14="http://schemas.microsoft.com/office/powerpoint/2010/main" val="153517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Async task can finish later</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setTimeout</a:t>
            </a:r>
            <a:r>
              <a:rPr lang="en-US" sz="2000" b="0" dirty="0">
                <a:solidFill>
                  <a:srgbClr val="000000"/>
                </a:solidFill>
                <a:effectLst/>
                <a:latin typeface="Consolas" panose="020B0609020204030204" pitchFamily="49" charset="0"/>
              </a:rPr>
              <a:t>(()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'timeout'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a:t>
            </a:r>
            <a:r>
              <a:rPr lang="en-US" sz="2000" b="0" dirty="0">
                <a:solidFill>
                  <a:schemeClr val="accent6">
                    <a:lumMod val="75000"/>
                  </a:schemeClr>
                </a:solidFill>
                <a:effectLst/>
                <a:latin typeface="Consolas" panose="020B0609020204030204" pitchFamily="49" charset="0"/>
              </a:rPr>
              <a:t>0</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91162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timeout</a:t>
            </a:r>
          </a:p>
          <a:p>
            <a:pPr algn="l"/>
            <a:endParaRPr lang="en-US" sz="2000" dirty="0">
              <a:solidFill>
                <a:schemeClr val="tx1"/>
              </a:solidFill>
              <a:latin typeface="Verdana" panose="020B0604030504040204" pitchFamily="34" charset="0"/>
              <a:ea typeface="Verdana" panose="020B0604030504040204" pitchFamily="34" charset="0"/>
            </a:endParaRPr>
          </a:p>
        </p:txBody>
      </p:sp>
      <p:sp>
        <p:nvSpPr>
          <p:cNvPr id="7" name="Content Placeholder 1">
            <a:extLst>
              <a:ext uri="{FF2B5EF4-FFF2-40B4-BE49-F238E27FC236}">
                <a16:creationId xmlns:a16="http://schemas.microsoft.com/office/drawing/2014/main" id="{315FA537-E5BF-4D2F-2D23-7574271DD453}"/>
              </a:ext>
            </a:extLst>
          </p:cNvPr>
          <p:cNvSpPr txBox="1">
            <a:spLocks/>
          </p:cNvSpPr>
          <p:nvPr/>
        </p:nvSpPr>
        <p:spPr>
          <a:xfrm>
            <a:off x="838200" y="5339415"/>
            <a:ext cx="5257800" cy="653882"/>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Run to completion requires main to finish first</a:t>
            </a:r>
          </a:p>
        </p:txBody>
      </p:sp>
    </p:spTree>
    <p:extLst>
      <p:ext uri="{BB962C8B-B14F-4D97-AF65-F5344CB8AC3E}">
        <p14:creationId xmlns:p14="http://schemas.microsoft.com/office/powerpoint/2010/main" val="2642664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 can also be resolved in future</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871867"/>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550782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br>
              <a:rPr lang="en-US" sz="2000" dirty="0">
                <a:solidFill>
                  <a:schemeClr val="tx1"/>
                </a:solidFill>
                <a:latin typeface="Verdana" panose="020B0604030504040204" pitchFamily="34" charset="0"/>
                <a:ea typeface="Verdana" panose="020B0604030504040204" pitchFamily="34" charset="0"/>
              </a:rPr>
            </a:br>
            <a:r>
              <a:rPr lang="en-US" sz="2000" dirty="0">
                <a:solidFill>
                  <a:schemeClr val="tx1"/>
                </a:solidFill>
                <a:latin typeface="Verdana" panose="020B0604030504040204" pitchFamily="34" charset="0"/>
                <a:ea typeface="Verdana" panose="020B0604030504040204" pitchFamily="34" charset="0"/>
              </a:rPr>
              <a:t>timeout</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(1)</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(2)</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09342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makeRequest</a:t>
            </a:r>
            <a:r>
              <a:rPr lang="en-US" sz="2000" b="0" dirty="0">
                <a:solidFill>
                  <a:srgbClr val="008000"/>
                </a:solidFill>
                <a:effectLst/>
                <a:latin typeface="Consolas" panose="020B0609020204030204" pitchFamily="49" charset="0"/>
              </a:rPr>
              <a:t> is a utility function to simulate API </a:t>
            </a:r>
            <a:r>
              <a:rPr lang="en-US" sz="2000" dirty="0">
                <a:solidFill>
                  <a:srgbClr val="008000"/>
                </a:solidFill>
                <a:latin typeface="Consolas" panose="020B0609020204030204" pitchFamily="49" charset="0"/>
              </a:rPr>
              <a:t>requests and    // then response</a:t>
            </a: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(12);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141076"/>
            <a:ext cx="4745491" cy="269993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1800" dirty="0">
                <a:solidFill>
                  <a:schemeClr val="tx1"/>
                </a:solidFill>
                <a:latin typeface="Verdana" panose="020B0604030504040204" pitchFamily="34" charset="0"/>
                <a:ea typeface="Verdana" panose="020B0604030504040204" pitchFamily="34" charset="0"/>
              </a:rPr>
              <a:t>$ node </a:t>
            </a:r>
            <a:r>
              <a:rPr lang="en-US" sz="1800" dirty="0" err="1">
                <a:solidFill>
                  <a:schemeClr val="tx1"/>
                </a:solidFill>
                <a:latin typeface="Verdana" panose="020B0604030504040204" pitchFamily="34" charset="0"/>
                <a:ea typeface="Verdana" panose="020B0604030504040204" pitchFamily="34" charset="0"/>
              </a:rPr>
              <a:t>oneRequest.ts</a:t>
            </a:r>
            <a:endParaRPr lang="en-US" sz="1800" dirty="0">
              <a:solidFill>
                <a:schemeClr val="tx1"/>
              </a:solidFill>
              <a:latin typeface="Verdana" panose="020B0604030504040204" pitchFamily="34" charset="0"/>
              <a:ea typeface="Verdana" panose="020B0604030504040204" pitchFamily="34" charset="0"/>
            </a:endParaRPr>
          </a:p>
          <a:p>
            <a:pPr algn="l"/>
            <a:r>
              <a:rPr lang="en-US" sz="1800" dirty="0">
                <a:solidFill>
                  <a:schemeClr val="tx1"/>
                </a:solidFill>
                <a:latin typeface="Verdana" panose="020B0604030504040204" pitchFamily="34" charset="0"/>
                <a:ea typeface="Verdana" panose="020B0604030504040204" pitchFamily="34" charset="0"/>
              </a:rPr>
              <a:t>main started</a:t>
            </a:r>
          </a:p>
          <a:p>
            <a:pPr algn="l"/>
            <a:r>
              <a:rPr lang="en-US" sz="1800" dirty="0">
                <a:solidFill>
                  <a:schemeClr val="tx1"/>
                </a:solidFill>
                <a:latin typeface="Verdana" panose="020B0604030504040204" pitchFamily="34" charset="0"/>
                <a:ea typeface="Verdana" panose="020B0604030504040204" pitchFamily="34" charset="0"/>
              </a:rPr>
              <a:t>starting </a:t>
            </a:r>
            <a:r>
              <a:rPr lang="en-US" sz="1800" dirty="0" err="1">
                <a:solidFill>
                  <a:schemeClr val="tx1"/>
                </a:solidFill>
                <a:latin typeface="Verdana" panose="020B0604030504040204" pitchFamily="34" charset="0"/>
                <a:ea typeface="Verdana" panose="020B0604030504040204" pitchFamily="34" charset="0"/>
              </a:rPr>
              <a:t>makeRequest</a:t>
            </a:r>
            <a:r>
              <a:rPr lang="en-US" sz="1800" dirty="0">
                <a:solidFill>
                  <a:schemeClr val="tx1"/>
                </a:solidFill>
                <a:latin typeface="Verdana" panose="020B0604030504040204" pitchFamily="34" charset="0"/>
                <a:ea typeface="Verdana" panose="020B0604030504040204" pitchFamily="34" charset="0"/>
              </a:rPr>
              <a:t>(12)</a:t>
            </a:r>
          </a:p>
          <a:p>
            <a:pPr algn="l"/>
            <a:r>
              <a:rPr lang="en-US" sz="1800" dirty="0">
                <a:solidFill>
                  <a:schemeClr val="tx1"/>
                </a:solidFill>
                <a:latin typeface="Verdana" panose="020B0604030504040204" pitchFamily="34" charset="0"/>
                <a:ea typeface="Verdana" panose="020B0604030504040204" pitchFamily="34" charset="0"/>
              </a:rPr>
              <a:t>request: 12 </a:t>
            </a:r>
          </a:p>
          <a:p>
            <a:pPr algn="l"/>
            <a:r>
              <a:rPr lang="en-US" sz="1800" dirty="0">
                <a:solidFill>
                  <a:schemeClr val="tx1"/>
                </a:solidFill>
                <a:latin typeface="Verdana" panose="020B0604030504040204" pitchFamily="34" charset="0"/>
                <a:ea typeface="Verdana" panose="020B0604030504040204" pitchFamily="34" charset="0"/>
              </a:rPr>
              <a:t>response: This is GET number 190 on the current server</a:t>
            </a:r>
          </a:p>
          <a:p>
            <a:pPr algn="l"/>
            <a:r>
              <a:rPr lang="en-US" sz="1800" dirty="0">
                <a:solidFill>
                  <a:schemeClr val="tx1"/>
                </a:solidFill>
                <a:latin typeface="Verdana" panose="020B0604030504040204" pitchFamily="34" charset="0"/>
                <a:ea typeface="Verdana" panose="020B0604030504040204" pitchFamily="34" charset="0"/>
              </a:rPr>
              <a:t>main done</a:t>
            </a:r>
          </a:p>
          <a:p>
            <a:pPr algn="l"/>
            <a:r>
              <a:rPr lang="en-US" sz="1800" dirty="0">
                <a:solidFill>
                  <a:schemeClr val="tx1"/>
                </a:solidFill>
                <a:latin typeface="Verdana" panose="020B0604030504040204" pitchFamily="34" charset="0"/>
                <a:ea typeface="Verdana" panose="020B0604030504040204" pitchFamily="34" charset="0"/>
              </a:rPr>
              <a:t>264.65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5818754" y="2600269"/>
            <a:ext cx="6277168" cy="112917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dirty="0">
                <a:solidFill>
                  <a:srgbClr val="0000FF"/>
                </a:solidFill>
                <a:latin typeface="Consolas" panose="020B0609020204030204" pitchFamily="49" charset="0"/>
              </a:rPr>
              <a:t>export</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async</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makeRequest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requestNumber:number</a:t>
            </a:r>
            <a:r>
              <a:rPr lang="en-US" dirty="0">
                <a:solidFill>
                  <a:srgbClr val="000000"/>
                </a:solidFill>
                <a:latin typeface="Consolas" panose="020B0609020204030204" pitchFamily="49" charset="0"/>
              </a:rPr>
              <a:t>) {</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`starting </a:t>
            </a:r>
            <a:r>
              <a:rPr lang="en-US" dirty="0" err="1">
                <a:solidFill>
                  <a:srgbClr val="A31515"/>
                </a:solidFill>
                <a:latin typeface="Consolas" panose="020B0609020204030204" pitchFamily="49" charset="0"/>
              </a:rPr>
              <a:t>makeRequest</a:t>
            </a:r>
            <a:r>
              <a:rPr lang="en-US" dirty="0">
                <a:solidFill>
                  <a:srgbClr val="A31515"/>
                </a:solidFill>
                <a:latin typeface="Consolas" panose="020B0609020204030204" pitchFamily="49" charset="0"/>
              </a:rPr>
              <a:t>(</a:t>
            </a:r>
            <a:r>
              <a:rPr lang="en-US" dirty="0">
                <a:solidFill>
                  <a:srgbClr val="0000FF"/>
                </a:solidFill>
                <a:latin typeface="Consolas" panose="020B0609020204030204" pitchFamily="49" charset="0"/>
              </a:rPr>
              <a:t>${</a:t>
            </a:r>
            <a:r>
              <a:rPr lang="en-US" dirty="0" err="1">
                <a:solidFill>
                  <a:srgbClr val="000000"/>
                </a:solidFill>
                <a:latin typeface="Consolas" panose="020B0609020204030204" pitchFamily="49" charset="0"/>
              </a:rPr>
              <a:t>requestNumber</a:t>
            </a:r>
            <a:r>
              <a:rPr lang="en-US" dirty="0">
                <a:solidFill>
                  <a:srgbClr val="0000FF"/>
                </a:solidFill>
                <a:latin typeface="Consolas" panose="020B0609020204030204" pitchFamily="49" charset="0"/>
              </a:rPr>
              <a:t>}</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const</a:t>
            </a:r>
            <a:r>
              <a:rPr lang="en-US" dirty="0">
                <a:solidFill>
                  <a:srgbClr val="000000"/>
                </a:solidFill>
                <a:latin typeface="Consolas" panose="020B0609020204030204" pitchFamily="49" charset="0"/>
              </a:rPr>
              <a:t> response = </a:t>
            </a:r>
            <a:r>
              <a:rPr lang="en-US" dirty="0">
                <a:solidFill>
                  <a:srgbClr val="0000FF"/>
                </a:solidFill>
                <a:latin typeface="Consolas" panose="020B0609020204030204" pitchFamily="49" charset="0"/>
              </a:rPr>
              <a:t>await</a:t>
            </a:r>
            <a:r>
              <a:rPr lang="en-US" dirty="0">
                <a:solidFill>
                  <a:srgbClr val="000000"/>
                </a:solidFill>
                <a:latin typeface="Consolas" panose="020B0609020204030204" pitchFamily="49" charset="0"/>
              </a:rPr>
              <a:t> 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'request:'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requestNumber</a:t>
            </a:r>
            <a:r>
              <a:rPr lang="en-US" dirty="0">
                <a:solidFill>
                  <a:srgbClr val="000000"/>
                </a:solidFill>
                <a:latin typeface="Consolas" panose="020B0609020204030204" pitchFamily="49" charset="0"/>
              </a:rPr>
              <a:t>, </a:t>
            </a:r>
            <a:r>
              <a:rPr lang="en-US" dirty="0">
                <a:solidFill>
                  <a:srgbClr val="A31515"/>
                </a:solidFill>
                <a:latin typeface="Consolas" panose="020B0609020204030204" pitchFamily="49" charset="0"/>
              </a:rPr>
              <a:t>'; response:'</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response.data</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118417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The browser goes about its business</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
        <p:nvSpPr>
          <p:cNvPr id="6" name="Rectangle: Rounded Corners 5">
            <a:extLst>
              <a:ext uri="{FF2B5EF4-FFF2-40B4-BE49-F238E27FC236}">
                <a16:creationId xmlns:a16="http://schemas.microsoft.com/office/drawing/2014/main" id="{54862370-2DDE-0308-73F3-23123117560F}"/>
              </a:ext>
            </a:extLst>
          </p:cNvPr>
          <p:cNvSpPr/>
          <p:nvPr/>
        </p:nvSpPr>
        <p:spPr>
          <a:xfrm>
            <a:off x="7981315" y="28415"/>
            <a:ext cx="4210685" cy="434698"/>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makeOneRequests.ts</a:t>
            </a:r>
            <a:endParaRPr lang="en-US" sz="2400" dirty="0">
              <a:solidFill>
                <a:schemeClr val="tx1"/>
              </a:solidFill>
            </a:endParaRPr>
          </a:p>
        </p:txBody>
      </p:sp>
    </p:spTree>
    <p:extLst>
      <p:ext uri="{BB962C8B-B14F-4D97-AF65-F5344CB8AC3E}">
        <p14:creationId xmlns:p14="http://schemas.microsoft.com/office/powerpoint/2010/main" val="38395947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5078313"/>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dirty="0">
                <a:solidFill>
                  <a:srgbClr val="000000"/>
                </a:solidFill>
                <a:latin typeface="Consolas" panose="020B0609020204030204" pitchFamily="49" charset="0"/>
              </a:rPr>
              <a:t>fetch(</a:t>
            </a:r>
            <a:r>
              <a:rPr lang="en-US" sz="1800" dirty="0">
                <a:solidFill>
                  <a:srgbClr val="A31515"/>
                </a:solidFill>
                <a:latin typeface="Consolas" panose="020B0609020204030204" pitchFamily="49" charset="0"/>
              </a:rPr>
              <a:t>'https://rest-</a:t>
            </a:r>
            <a:r>
              <a:rPr lang="en-US" sz="1800" dirty="0" err="1">
                <a:solidFill>
                  <a:srgbClr val="A31515"/>
                </a:solidFill>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dirty="0">
                <a:solidFill>
                  <a:srgbClr val="000000"/>
                </a:solidFill>
                <a:latin typeface="Consolas" panose="020B0609020204030204" pitchFamily="49" charset="0"/>
              </a:rPr>
              <a:t>);</a:t>
            </a:r>
            <a:endParaRPr lang="en-US" sz="1800" b="0" dirty="0">
              <a:solidFill>
                <a:srgbClr val="000000"/>
              </a:solidFill>
              <a:effectLst/>
              <a:latin typeface="Consolas" panose="020B0609020204030204" pitchFamily="49" charset="0"/>
            </a:endParaRP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get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498451" y="2025605"/>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FE440-1FD3-2B4F-403A-E40489D13083}"/>
              </a:ext>
            </a:extLst>
          </p:cNvPr>
          <p:cNvSpPr>
            <a:spLocks noGrp="1"/>
          </p:cNvSpPr>
          <p:nvPr>
            <p:ph type="title"/>
          </p:nvPr>
        </p:nvSpPr>
        <p:spPr/>
        <p:txBody>
          <a:bodyPr/>
          <a:lstStyle/>
          <a:p>
            <a:r>
              <a:rPr lang="en-US" dirty="0"/>
              <a:t>…but it would be much slower</a:t>
            </a:r>
          </a:p>
        </p:txBody>
      </p:sp>
      <p:sp>
        <p:nvSpPr>
          <p:cNvPr id="3" name="Slide Number Placeholder 2">
            <a:extLst>
              <a:ext uri="{FF2B5EF4-FFF2-40B4-BE49-F238E27FC236}">
                <a16:creationId xmlns:a16="http://schemas.microsoft.com/office/drawing/2014/main" id="{462549B7-9B6F-7E72-66A0-E704B24B20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17FB539-8276-5DDE-65FD-937F1297E272}"/>
              </a:ext>
            </a:extLst>
          </p:cNvPr>
          <p:cNvSpPr txBox="1"/>
          <p:nvPr/>
        </p:nvSpPr>
        <p:spPr>
          <a:xfrm>
            <a:off x="711200" y="1745040"/>
            <a:ext cx="10769600" cy="132343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timeComparison.ts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After 100 runs of length 10 with delay 100ms</a:t>
            </a:r>
          </a:p>
          <a:p>
            <a:pPr algn="l"/>
            <a:r>
              <a:rPr lang="en-US" sz="2000" dirty="0" err="1">
                <a:solidFill>
                  <a:prstClr val="black"/>
                </a:solidFill>
                <a:latin typeface="Lucida Console" panose="020B0609040504020204" pitchFamily="49" charset="0"/>
              </a:rPr>
              <a:t>makeRequestsConcurrently</a:t>
            </a:r>
            <a:r>
              <a:rPr lang="en-US" sz="2000" dirty="0">
                <a:solidFill>
                  <a:prstClr val="black"/>
                </a:solidFill>
                <a:latin typeface="Lucida Console" panose="020B0609040504020204" pitchFamily="49" charset="0"/>
              </a:rPr>
              <a:t>: min = 107  avg = 109 max = 115 msec</a:t>
            </a:r>
          </a:p>
          <a:p>
            <a:pPr algn="l"/>
            <a:r>
              <a:rPr lang="en-US" sz="2000" dirty="0" err="1">
                <a:solidFill>
                  <a:prstClr val="black"/>
                </a:solidFill>
                <a:latin typeface="Lucida Console" panose="020B0609040504020204" pitchFamily="49" charset="0"/>
              </a:rPr>
              <a:t>makeRequestsSerially</a:t>
            </a:r>
            <a:r>
              <a:rPr lang="en-US" sz="2000" dirty="0">
                <a:solidFill>
                  <a:prstClr val="black"/>
                </a:solidFill>
                <a:latin typeface="Lucida Console" panose="020B0609040504020204" pitchFamily="49" charset="0"/>
              </a:rPr>
              <a:t>    : min = 1085  avg = 1093 max = 1103 msec</a:t>
            </a:r>
          </a:p>
        </p:txBody>
      </p:sp>
    </p:spTree>
    <p:extLst>
      <p:ext uri="{BB962C8B-B14F-4D97-AF65-F5344CB8AC3E}">
        <p14:creationId xmlns:p14="http://schemas.microsoft.com/office/powerpoint/2010/main" val="18641397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557F9-4669-BC23-671C-8C691083F9C1}"/>
              </a:ext>
            </a:extLst>
          </p:cNvPr>
          <p:cNvSpPr>
            <a:spLocks noGrp="1"/>
          </p:cNvSpPr>
          <p:nvPr>
            <p:ph type="title"/>
          </p:nvPr>
        </p:nvSpPr>
        <p:spPr/>
        <p:txBody>
          <a:bodyPr/>
          <a:lstStyle/>
          <a:p>
            <a:r>
              <a:rPr lang="en-US" dirty="0"/>
              <a:t>Requests can also be chained (if they are serial)</a:t>
            </a:r>
          </a:p>
        </p:txBody>
      </p:sp>
      <p:sp>
        <p:nvSpPr>
          <p:cNvPr id="3" name="Slide Number Placeholder 2">
            <a:extLst>
              <a:ext uri="{FF2B5EF4-FFF2-40B4-BE49-F238E27FC236}">
                <a16:creationId xmlns:a16="http://schemas.microsoft.com/office/drawing/2014/main" id="{F8808706-6268-9CD3-2DA8-A73471FBB5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87993F6-2888-EBB7-4525-CD86F2703834}"/>
              </a:ext>
            </a:extLst>
          </p:cNvPr>
          <p:cNvSpPr txBox="1"/>
          <p:nvPr/>
        </p:nvSpPr>
        <p:spPr>
          <a:xfrm>
            <a:off x="96252" y="1472817"/>
            <a:ext cx="10719601" cy="367564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request1 = </a:t>
            </a:r>
            <a:r>
              <a:rPr lang="en-US" sz="1800" b="0" dirty="0">
                <a:solidFill>
                  <a:srgbClr val="098658"/>
                </a:solidFill>
                <a:effectLst/>
                <a:latin typeface="Consolas" panose="020B0609020204030204" pitchFamily="49" charset="0"/>
              </a:rPr>
              <a:t>32</a:t>
            </a:r>
            <a:endParaRPr lang="en-US" sz="1800" b="0" dirty="0">
              <a:solidFill>
                <a:srgbClr val="000000"/>
              </a:solidFill>
              <a:effectLst/>
              <a:latin typeface="Consolas" panose="020B0609020204030204" pitchFamily="49" charset="0"/>
            </a:endParaRP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res1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(request1);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request1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res2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res3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(res2);</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res3</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console.log([request1, res1, res2, res3]);</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done'</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D8EF7B45-A161-261B-F400-90B48A588379}"/>
              </a:ext>
            </a:extLst>
          </p:cNvPr>
          <p:cNvSpPr txBox="1"/>
          <p:nvPr/>
        </p:nvSpPr>
        <p:spPr>
          <a:xfrm>
            <a:off x="7350257" y="1594186"/>
            <a:ext cx="4745491" cy="476216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threeRequestsChained.ts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42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(42)returned: 52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52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(52)returned: 62</a:t>
            </a:r>
          </a:p>
          <a:p>
            <a:pPr algn="l"/>
            <a:r>
              <a:rPr lang="en-US" sz="2000" dirty="0">
                <a:solidFill>
                  <a:schemeClr val="tx1"/>
                </a:solidFill>
                <a:latin typeface="Verdana" panose="020B0604030504040204" pitchFamily="34" charset="0"/>
                <a:ea typeface="Verdana" panose="020B0604030504040204" pitchFamily="34" charset="0"/>
              </a:rPr>
              <a:t>[ 32, 42, 52, 62 ]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3080.99 msec</a:t>
            </a:r>
          </a:p>
        </p:txBody>
      </p:sp>
      <p:sp>
        <p:nvSpPr>
          <p:cNvPr id="6" name="Rectangle: Rounded Corners 5">
            <a:extLst>
              <a:ext uri="{FF2B5EF4-FFF2-40B4-BE49-F238E27FC236}">
                <a16:creationId xmlns:a16="http://schemas.microsoft.com/office/drawing/2014/main" id="{E7327235-4F4D-134F-DFF0-8BB6AD19BE88}"/>
              </a:ext>
            </a:extLst>
          </p:cNvPr>
          <p:cNvSpPr/>
          <p:nvPr/>
        </p:nvSpPr>
        <p:spPr>
          <a:xfrm>
            <a:off x="915080" y="5391129"/>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threeRequestsChained.ts</a:t>
            </a:r>
            <a:endParaRPr lang="en-US" sz="2400" dirty="0">
              <a:solidFill>
                <a:schemeClr val="tx1"/>
              </a:solidFill>
            </a:endParaRPr>
          </a:p>
        </p:txBody>
      </p:sp>
    </p:spTree>
    <p:extLst>
      <p:ext uri="{BB962C8B-B14F-4D97-AF65-F5344CB8AC3E}">
        <p14:creationId xmlns:p14="http://schemas.microsoft.com/office/powerpoint/2010/main" val="26951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example.test.ts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1: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C16B3A9-1CA3-D434-E3DD-4F382E289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D8002-1C99-EC9F-DA70-F0E3169E1549}"/>
              </a:ext>
            </a:extLst>
          </p:cNvPr>
          <p:cNvSpPr>
            <a:spLocks noGrp="1"/>
          </p:cNvSpPr>
          <p:nvPr>
            <p:ph type="title"/>
          </p:nvPr>
        </p:nvSpPr>
        <p:spPr/>
        <p:txBody>
          <a:bodyPr/>
          <a:lstStyle/>
          <a:p>
            <a:r>
              <a:rPr lang="en-US" dirty="0"/>
              <a:t>What just happened?</a:t>
            </a:r>
          </a:p>
        </p:txBody>
      </p:sp>
      <p:sp>
        <p:nvSpPr>
          <p:cNvPr id="3" name="Slide Number Placeholder 2">
            <a:extLst>
              <a:ext uri="{FF2B5EF4-FFF2-40B4-BE49-F238E27FC236}">
                <a16:creationId xmlns:a16="http://schemas.microsoft.com/office/drawing/2014/main" id="{BC30DBE3-1B9B-4F46-5CEB-C4AA88A8E6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B1F02AF-8DE3-DFC5-F033-2E405B803472}"/>
              </a:ext>
            </a:extLst>
          </p:cNvPr>
          <p:cNvSpPr txBox="1"/>
          <p:nvPr/>
        </p:nvSpPr>
        <p:spPr>
          <a:xfrm>
            <a:off x="6990347" y="105223"/>
            <a:ext cx="4363453" cy="1584363"/>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62500" lnSpcReduction="20000"/>
          </a:bodyPr>
          <a:lstStyle/>
          <a:p>
            <a:pPr algn="l">
              <a:lnSpc>
                <a:spcPct val="120000"/>
              </a:lnSpc>
            </a:pPr>
            <a:r>
              <a:rPr lang="en-US" sz="2000" dirty="0">
                <a:solidFill>
                  <a:srgbClr val="7030A0"/>
                </a:solidFill>
                <a:latin typeface="Verdana" panose="020B0604030504040204" pitchFamily="34" charset="0"/>
                <a:ea typeface="Verdana" panose="020B0604030504040204" pitchFamily="34" charset="0"/>
              </a:rPr>
              <a:t>$ node </a:t>
            </a:r>
            <a:r>
              <a:rPr lang="en-US" sz="2000" dirty="0" err="1">
                <a:solidFill>
                  <a:srgbClr val="7030A0"/>
                </a:solidFill>
                <a:latin typeface="Verdana" panose="020B0604030504040204" pitchFamily="34" charset="0"/>
                <a:ea typeface="Verdana" panose="020B0604030504040204" pitchFamily="34" charset="0"/>
              </a:rPr>
              <a:t>oneRequestNoAwait.ts</a:t>
            </a:r>
            <a:r>
              <a:rPr lang="en-US" sz="2000" dirty="0">
                <a:solidFill>
                  <a:srgbClr val="7030A0"/>
                </a:solidFill>
                <a:latin typeface="Verdana" panose="020B0604030504040204" pitchFamily="34" charset="0"/>
                <a:ea typeface="Verdana" panose="020B0604030504040204" pitchFamily="34" charset="0"/>
              </a:rPr>
              <a:t> </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started</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(32) returned: [object Promise]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done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2.64 msec</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 received request: 32</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time passes....</a:t>
            </a:r>
          </a:p>
        </p:txBody>
      </p:sp>
      <p:sp>
        <p:nvSpPr>
          <p:cNvPr id="5" name="TextBox 4">
            <a:extLst>
              <a:ext uri="{FF2B5EF4-FFF2-40B4-BE49-F238E27FC236}">
                <a16:creationId xmlns:a16="http://schemas.microsoft.com/office/drawing/2014/main" id="{C1E0BC84-B015-CBC7-53DD-85AF8C21B367}"/>
              </a:ext>
            </a:extLst>
          </p:cNvPr>
          <p:cNvSpPr txBox="1"/>
          <p:nvPr/>
        </p:nvSpPr>
        <p:spPr>
          <a:xfrm>
            <a:off x="657726" y="1556867"/>
            <a:ext cx="8414085" cy="42144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main() called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a:t>
            </a:r>
          </a:p>
          <a:p>
            <a:pPr marL="457200" indent="-457200" algn="l">
              <a:buFont typeface="+mj-lt"/>
              <a:buAutoNum type="arabicPeriod"/>
            </a:pP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created a unit of work (a Promise), and told the runtime to run it sometime or other.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Normally, we wouldn't see the actual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because we'd just wait for the unit of work to run before proceeding.</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But here, we didn't wait-- we just took the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the Promise-- and printed it.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We finished our current unit of work, printing "main done", which informed the runtime that we were done.</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The runtime then looked around for another unit of work to do.  In this case, it found the unit of work created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and ran it, printing the last two lines</a:t>
            </a:r>
          </a:p>
        </p:txBody>
      </p:sp>
    </p:spTree>
    <p:extLst>
      <p:ext uri="{BB962C8B-B14F-4D97-AF65-F5344CB8AC3E}">
        <p14:creationId xmlns:p14="http://schemas.microsoft.com/office/powerpoint/2010/main" val="21574498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6A55D-2528-DCB5-09F8-7CC2682A46CF}"/>
              </a:ext>
            </a:extLst>
          </p:cNvPr>
          <p:cNvSpPr>
            <a:spLocks noGrp="1"/>
          </p:cNvSpPr>
          <p:nvPr>
            <p:ph type="title"/>
          </p:nvPr>
        </p:nvSpPr>
        <p:spPr/>
        <p:txBody>
          <a:bodyPr/>
          <a:lstStyle/>
          <a:p>
            <a:r>
              <a:rPr lang="en-US" dirty="0"/>
              <a:t>Wow! That was complicated!</a:t>
            </a:r>
          </a:p>
        </p:txBody>
      </p:sp>
      <p:sp>
        <p:nvSpPr>
          <p:cNvPr id="6" name="Content Placeholder 5">
            <a:extLst>
              <a:ext uri="{FF2B5EF4-FFF2-40B4-BE49-F238E27FC236}">
                <a16:creationId xmlns:a16="http://schemas.microsoft.com/office/drawing/2014/main" id="{6EEDDBC3-3476-1D23-E440-67C32968B092}"/>
              </a:ext>
            </a:extLst>
          </p:cNvPr>
          <p:cNvSpPr>
            <a:spLocks noGrp="1"/>
          </p:cNvSpPr>
          <p:nvPr>
            <p:ph idx="1"/>
          </p:nvPr>
        </p:nvSpPr>
        <p:spPr/>
        <p:txBody>
          <a:bodyPr/>
          <a:lstStyle/>
          <a:p>
            <a:pPr>
              <a:lnSpc>
                <a:spcPct val="100000"/>
              </a:lnSpc>
            </a:pPr>
            <a:r>
              <a:rPr lang="en-US" dirty="0"/>
              <a:t>We try to make our code easy to understand.</a:t>
            </a:r>
          </a:p>
          <a:p>
            <a:pPr>
              <a:lnSpc>
                <a:spcPct val="100000"/>
              </a:lnSpc>
            </a:pPr>
            <a:r>
              <a:rPr lang="en-US" dirty="0"/>
              <a:t>That's why it's an </a:t>
            </a:r>
            <a:r>
              <a:rPr lang="en-US" dirty="0">
                <a:solidFill>
                  <a:srgbClr val="FF0000"/>
                </a:solidFill>
              </a:rPr>
              <a:t>anti</a:t>
            </a:r>
            <a:r>
              <a:rPr lang="en-US" dirty="0"/>
              <a:t>pattern.</a:t>
            </a:r>
          </a:p>
          <a:p>
            <a:pPr>
              <a:lnSpc>
                <a:spcPct val="100000"/>
              </a:lnSpc>
            </a:pPr>
            <a:r>
              <a:rPr lang="en-US" dirty="0"/>
              <a:t>Luckily, in real code we don't need to do this very often</a:t>
            </a:r>
          </a:p>
          <a:p>
            <a:endParaRPr lang="en-US" dirty="0"/>
          </a:p>
        </p:txBody>
      </p:sp>
      <p:sp>
        <p:nvSpPr>
          <p:cNvPr id="3" name="Slide Number Placeholder 2">
            <a:extLst>
              <a:ext uri="{FF2B5EF4-FFF2-40B4-BE49-F238E27FC236}">
                <a16:creationId xmlns:a16="http://schemas.microsoft.com/office/drawing/2014/main" id="{1791E4EA-E058-8ADA-00B7-04A93F5326F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FF1AD36-E6AA-5734-DC40-263724AC25F6}"/>
              </a:ext>
            </a:extLst>
          </p:cNvPr>
          <p:cNvSpPr txBox="1"/>
          <p:nvPr/>
        </p:nvSpPr>
        <p:spPr>
          <a:xfrm>
            <a:off x="1603207" y="2243753"/>
            <a:ext cx="6093994" cy="27699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t>is complicated (which is why it's an antipattern).  Here's what happened:</a:t>
            </a:r>
          </a:p>
        </p:txBody>
      </p:sp>
    </p:spTree>
    <p:extLst>
      <p:ext uri="{BB962C8B-B14F-4D97-AF65-F5344CB8AC3E}">
        <p14:creationId xmlns:p14="http://schemas.microsoft.com/office/powerpoint/2010/main" val="9083750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C3C71-F774-1710-A3D1-D12E7FEC9D88}"/>
              </a:ext>
            </a:extLst>
          </p:cNvPr>
          <p:cNvSpPr>
            <a:spLocks noGrp="1"/>
          </p:cNvSpPr>
          <p:nvPr>
            <p:ph type="title"/>
          </p:nvPr>
        </p:nvSpPr>
        <p:spPr/>
        <p:txBody>
          <a:bodyPr/>
          <a:lstStyle/>
          <a:p>
            <a:r>
              <a:rPr lang="en-US" dirty="0" err="1"/>
              <a:t>AntiPattern</a:t>
            </a:r>
            <a:r>
              <a:rPr lang="en-US" dirty="0"/>
              <a:t> 2: Side-effect before </a:t>
            </a:r>
            <a:r>
              <a:rPr lang="en-US" b="1" dirty="0"/>
              <a:t>await </a:t>
            </a:r>
            <a:r>
              <a:rPr lang="en-US" dirty="0"/>
              <a:t>can  be misleading</a:t>
            </a:r>
            <a:endParaRPr lang="en-US" b="1" dirty="0"/>
          </a:p>
        </p:txBody>
      </p:sp>
      <p:sp>
        <p:nvSpPr>
          <p:cNvPr id="4" name="Slide Number Placeholder 3">
            <a:extLst>
              <a:ext uri="{FF2B5EF4-FFF2-40B4-BE49-F238E27FC236}">
                <a16:creationId xmlns:a16="http://schemas.microsoft.com/office/drawing/2014/main" id="{A9E8AE3D-F9F1-A80A-92FB-EF7AA9EA53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45DB45DA-C721-39D6-8D2B-F673BB783A5B}"/>
              </a:ext>
            </a:extLst>
          </p:cNvPr>
          <p:cNvSpPr/>
          <p:nvPr/>
        </p:nvSpPr>
        <p:spPr>
          <a:xfrm>
            <a:off x="1290145" y="2912564"/>
            <a:ext cx="7223234" cy="480302"/>
          </a:xfrm>
          <a:prstGeom prst="rect">
            <a:avLst/>
          </a:prstGeom>
          <a:solidFill>
            <a:schemeClr val="accent1">
              <a:lumMod val="40000"/>
              <a:lumOff val="6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1" name="TextBox 10">
            <a:extLst>
              <a:ext uri="{FF2B5EF4-FFF2-40B4-BE49-F238E27FC236}">
                <a16:creationId xmlns:a16="http://schemas.microsoft.com/office/drawing/2014/main" id="{04A70C4F-62DF-3B99-2AD2-351E24CA15D7}"/>
              </a:ext>
            </a:extLst>
          </p:cNvPr>
          <p:cNvSpPr txBox="1"/>
          <p:nvPr/>
        </p:nvSpPr>
        <p:spPr>
          <a:xfrm>
            <a:off x="764627" y="1955052"/>
            <a:ext cx="703142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f()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g();</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done'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'g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(32)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p:txBody>
      </p:sp>
      <p:sp>
        <p:nvSpPr>
          <p:cNvPr id="12" name="Rectangle 11">
            <a:extLst>
              <a:ext uri="{FF2B5EF4-FFF2-40B4-BE49-F238E27FC236}">
                <a16:creationId xmlns:a16="http://schemas.microsoft.com/office/drawing/2014/main" id="{5A643412-0F84-C000-DE6A-D0FF1D40B3B6}"/>
              </a:ext>
            </a:extLst>
          </p:cNvPr>
          <p:cNvSpPr/>
          <p:nvPr/>
        </p:nvSpPr>
        <p:spPr>
          <a:xfrm>
            <a:off x="1387366" y="4723007"/>
            <a:ext cx="7223234" cy="480302"/>
          </a:xfrm>
          <a:prstGeom prst="rect">
            <a:avLst/>
          </a:prstGeom>
          <a:solidFill>
            <a:schemeClr val="accent4">
              <a:lumMod val="20000"/>
              <a:lumOff val="8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3" name="Rectangle 12">
            <a:extLst>
              <a:ext uri="{FF2B5EF4-FFF2-40B4-BE49-F238E27FC236}">
                <a16:creationId xmlns:a16="http://schemas.microsoft.com/office/drawing/2014/main" id="{69F8F9ED-1E90-84ED-40DB-6F66F573A069}"/>
              </a:ext>
            </a:extLst>
          </p:cNvPr>
          <p:cNvSpPr/>
          <p:nvPr/>
        </p:nvSpPr>
        <p:spPr>
          <a:xfrm>
            <a:off x="1290145" y="2193657"/>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4" name="Rectangle 13">
            <a:extLst>
              <a:ext uri="{FF2B5EF4-FFF2-40B4-BE49-F238E27FC236}">
                <a16:creationId xmlns:a16="http://schemas.microsoft.com/office/drawing/2014/main" id="{DADCBE6A-5839-C307-DF51-AE86B364357F}"/>
              </a:ext>
            </a:extLst>
          </p:cNvPr>
          <p:cNvSpPr/>
          <p:nvPr/>
        </p:nvSpPr>
        <p:spPr>
          <a:xfrm>
            <a:off x="1387366" y="4004100"/>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7" name="TextBox 16">
            <a:extLst>
              <a:ext uri="{FF2B5EF4-FFF2-40B4-BE49-F238E27FC236}">
                <a16:creationId xmlns:a16="http://schemas.microsoft.com/office/drawing/2014/main" id="{8D977F1E-A97C-B8CF-E7DE-A5F86D0EEA09}"/>
              </a:ext>
            </a:extLst>
          </p:cNvPr>
          <p:cNvSpPr txBox="1"/>
          <p:nvPr/>
        </p:nvSpPr>
        <p:spPr>
          <a:xfrm>
            <a:off x="9611874" y="1520272"/>
            <a:ext cx="2280745" cy="202640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 no interruption between 'f started' and 'g started'</a:t>
            </a:r>
          </a:p>
        </p:txBody>
      </p:sp>
      <p:cxnSp>
        <p:nvCxnSpPr>
          <p:cNvPr id="19" name="Straight Arrow Connector 18">
            <a:extLst>
              <a:ext uri="{FF2B5EF4-FFF2-40B4-BE49-F238E27FC236}">
                <a16:creationId xmlns:a16="http://schemas.microsoft.com/office/drawing/2014/main" id="{2FF16C3B-13C4-FBCC-428D-E2ABF7C54CA9}"/>
              </a:ext>
            </a:extLst>
          </p:cNvPr>
          <p:cNvCxnSpPr>
            <a:cxnSpLocks/>
            <a:stCxn id="17" idx="1"/>
            <a:endCxn id="13" idx="3"/>
          </p:cNvCxnSpPr>
          <p:nvPr/>
        </p:nvCxnSpPr>
        <p:spPr>
          <a:xfrm flipH="1" flipV="1">
            <a:off x="8513379" y="2433808"/>
            <a:ext cx="1098495" cy="99668"/>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030F6E7-8950-9C0B-4A9F-3CA0E4917395}"/>
              </a:ext>
            </a:extLst>
          </p:cNvPr>
          <p:cNvCxnSpPr>
            <a:cxnSpLocks/>
            <a:stCxn id="17" idx="1"/>
            <a:endCxn id="14" idx="3"/>
          </p:cNvCxnSpPr>
          <p:nvPr/>
        </p:nvCxnSpPr>
        <p:spPr>
          <a:xfrm flipH="1">
            <a:off x="8610600" y="2533476"/>
            <a:ext cx="1001274" cy="1710775"/>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FE75956-8E51-3EF8-4F43-1BE8DD406315}"/>
              </a:ext>
            </a:extLst>
          </p:cNvPr>
          <p:cNvSpPr txBox="1"/>
          <p:nvPr/>
        </p:nvSpPr>
        <p:spPr>
          <a:xfrm>
            <a:off x="9611872" y="4941650"/>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sp>
        <p:nvSpPr>
          <p:cNvPr id="16" name="TextBox 15">
            <a:extLst>
              <a:ext uri="{FF2B5EF4-FFF2-40B4-BE49-F238E27FC236}">
                <a16:creationId xmlns:a16="http://schemas.microsoft.com/office/drawing/2014/main" id="{0E0EC3AF-9A32-5E19-B004-21E263A62094}"/>
              </a:ext>
            </a:extLst>
          </p:cNvPr>
          <p:cNvSpPr txBox="1"/>
          <p:nvPr/>
        </p:nvSpPr>
        <p:spPr>
          <a:xfrm>
            <a:off x="9611874" y="3904471"/>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cxnSp>
        <p:nvCxnSpPr>
          <p:cNvPr id="21" name="Straight Arrow Connector 20">
            <a:extLst>
              <a:ext uri="{FF2B5EF4-FFF2-40B4-BE49-F238E27FC236}">
                <a16:creationId xmlns:a16="http://schemas.microsoft.com/office/drawing/2014/main" id="{AED215FD-9170-E080-D4DD-12C2B4D083F9}"/>
              </a:ext>
            </a:extLst>
          </p:cNvPr>
          <p:cNvCxnSpPr>
            <a:stCxn id="16" idx="1"/>
            <a:endCxn id="5" idx="3"/>
          </p:cNvCxnSpPr>
          <p:nvPr/>
        </p:nvCxnSpPr>
        <p:spPr>
          <a:xfrm flipH="1" flipV="1">
            <a:off x="8513379" y="3152715"/>
            <a:ext cx="1098495" cy="112927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CB49A87-3AD7-A9D0-269F-179C547E0575}"/>
              </a:ext>
            </a:extLst>
          </p:cNvPr>
          <p:cNvCxnSpPr>
            <a:stCxn id="15" idx="1"/>
            <a:endCxn id="12" idx="3"/>
          </p:cNvCxnSpPr>
          <p:nvPr/>
        </p:nvCxnSpPr>
        <p:spPr>
          <a:xfrm flipH="1" flipV="1">
            <a:off x="8610600" y="4963158"/>
            <a:ext cx="1001272" cy="3560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8AB5D2B0-15E9-C482-C678-6929257F17CA}"/>
              </a:ext>
            </a:extLst>
          </p:cNvPr>
          <p:cNvSpPr/>
          <p:nvPr/>
        </p:nvSpPr>
        <p:spPr>
          <a:xfrm>
            <a:off x="8433071" y="824066"/>
            <a:ext cx="345954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/Slides/antiPattern2.ts</a:t>
            </a:r>
          </a:p>
        </p:txBody>
      </p:sp>
    </p:spTree>
    <p:extLst>
      <p:ext uri="{BB962C8B-B14F-4D97-AF65-F5344CB8AC3E}">
        <p14:creationId xmlns:p14="http://schemas.microsoft.com/office/powerpoint/2010/main" val="24163238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456871" y="1465627"/>
            <a:ext cx="8958943" cy="3926745"/>
          </a:xfrm>
        </p:spPr>
        <p:txBody>
          <a:bodyPr>
            <a:normAutofit/>
          </a:bodyPr>
          <a:lstStyle/>
          <a:p>
            <a:r>
              <a:rPr lang="en-US" sz="3600" dirty="0">
                <a:solidFill>
                  <a:schemeClr val="accent1">
                    <a:lumMod val="40000"/>
                    <a:lumOff val="60000"/>
                  </a:schemeClr>
                </a:solidFill>
              </a:rPr>
              <a:t>We achieve this goal using two techniques:</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1. cooperative multiprocessing </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2. </a:t>
            </a:r>
            <a:r>
              <a:rPr lang="en-US" sz="3600" dirty="0">
                <a:solidFill>
                  <a:schemeClr val="accent5">
                    <a:lumMod val="75000"/>
                  </a:schemeClr>
                </a:solidFill>
              </a:rPr>
              <a:t>non-blocking IO </a:t>
            </a:r>
          </a:p>
        </p:txBody>
      </p:sp>
      <p:sp>
        <p:nvSpPr>
          <p:cNvPr id="2" name="Arrow: Left 1">
            <a:extLst>
              <a:ext uri="{FF2B5EF4-FFF2-40B4-BE49-F238E27FC236}">
                <a16:creationId xmlns:a16="http://schemas.microsoft.com/office/drawing/2014/main" id="{54338F1D-8D25-26AB-12F7-6AB5CC1889B6}"/>
              </a:ext>
            </a:extLst>
          </p:cNvPr>
          <p:cNvSpPr/>
          <p:nvPr/>
        </p:nvSpPr>
        <p:spPr>
          <a:xfrm>
            <a:off x="7180035" y="4826277"/>
            <a:ext cx="1787704" cy="365125"/>
          </a:xfrm>
          <a:prstGeom prst="leftArrow">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Title 1">
            <a:extLst>
              <a:ext uri="{FF2B5EF4-FFF2-40B4-BE49-F238E27FC236}">
                <a16:creationId xmlns:a16="http://schemas.microsoft.com/office/drawing/2014/main" id="{C2A15C0C-ED91-0841-C6C1-F5B20B479F10}"/>
              </a:ext>
            </a:extLst>
          </p:cNvPr>
          <p:cNvSpPr txBox="1">
            <a:spLocks/>
          </p:cNvSpPr>
          <p:nvPr/>
        </p:nvSpPr>
        <p:spPr>
          <a:xfrm>
            <a:off x="838200" y="136525"/>
            <a:ext cx="10515600" cy="1325563"/>
          </a:xfrm>
          <a:prstGeom prst="rect">
            <a:avLst/>
          </a:prstGeom>
        </p:spPr>
        <p:txBody>
          <a:bodyPr/>
          <a:lst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a:lstStyle>
          <a:p>
            <a:r>
              <a:rPr lang="en-US" sz="3600" dirty="0"/>
              <a:t>But where does the non-blocking IO come from?</a:t>
            </a:r>
          </a:p>
        </p:txBody>
      </p:sp>
      <p:cxnSp>
        <p:nvCxnSpPr>
          <p:cNvPr id="7" name="Straight Connector 6">
            <a:extLst>
              <a:ext uri="{FF2B5EF4-FFF2-40B4-BE49-F238E27FC236}">
                <a16:creationId xmlns:a16="http://schemas.microsoft.com/office/drawing/2014/main" id="{C14AFAB6-0A8A-228F-42BF-62C6AFED3B3B}"/>
              </a:ext>
            </a:extLst>
          </p:cNvPr>
          <p:cNvCxnSpPr/>
          <p:nvPr/>
        </p:nvCxnSpPr>
        <p:spPr>
          <a:xfrm>
            <a:off x="944217" y="1465627"/>
            <a:ext cx="10187609" cy="0"/>
          </a:xfrm>
          <a:prstGeom prst="line">
            <a:avLst/>
          </a:prstGeom>
          <a:ln w="127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2173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97F1B-AB6B-840B-6109-A5F224D49245}"/>
              </a:ext>
            </a:extLst>
          </p:cNvPr>
          <p:cNvSpPr>
            <a:spLocks noGrp="1"/>
          </p:cNvSpPr>
          <p:nvPr>
            <p:ph type="title"/>
          </p:nvPr>
        </p:nvSpPr>
        <p:spPr/>
        <p:txBody>
          <a:bodyPr/>
          <a:lstStyle/>
          <a:p>
            <a:r>
              <a:rPr lang="en-US" dirty="0"/>
              <a:t>Answer: JS/TS has some primitives for starting a non-blocking computation</a:t>
            </a:r>
          </a:p>
        </p:txBody>
      </p:sp>
      <p:sp>
        <p:nvSpPr>
          <p:cNvPr id="3" name="Content Placeholder 2">
            <a:extLst>
              <a:ext uri="{FF2B5EF4-FFF2-40B4-BE49-F238E27FC236}">
                <a16:creationId xmlns:a16="http://schemas.microsoft.com/office/drawing/2014/main" id="{2703E4AB-0914-33F5-4E7F-B4F98687C364}"/>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60F72ED1-8460-2361-2157-8614956420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D6522DE9-0421-F750-27F0-655F93E36D8C}"/>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69576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Microtasks are urgent and </a:t>
            </a:r>
            <a:r>
              <a:rPr lang="en-US" dirty="0" err="1"/>
              <a:t>Macrotasks</a:t>
            </a:r>
            <a:r>
              <a:rPr lang="en-US" dirty="0"/>
              <a:t> are slower/asynchronous operations</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Here is a quick demo for you</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3" name="Content Placeholder 12" descr="A screenshot of a computer screen&#10;&#10;Description automatically generated">
            <a:extLst>
              <a:ext uri="{FF2B5EF4-FFF2-40B4-BE49-F238E27FC236}">
                <a16:creationId xmlns:a16="http://schemas.microsoft.com/office/drawing/2014/main" id="{064B45F5-FDE2-3D76-23C2-1490F802710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89049" y="1831182"/>
            <a:ext cx="6723945" cy="3782218"/>
          </a:xfrm>
        </p:spPr>
      </p:pic>
      <p:pic>
        <p:nvPicPr>
          <p:cNvPr id="11" name="Picture 10">
            <a:extLst>
              <a:ext uri="{FF2B5EF4-FFF2-40B4-BE49-F238E27FC236}">
                <a16:creationId xmlns:a16="http://schemas.microsoft.com/office/drawing/2014/main" id="{EC847469-FF98-1125-9877-E5FA9D573059}"/>
              </a:ext>
            </a:extLst>
          </p:cNvPr>
          <p:cNvPicPr>
            <a:picLocks noChangeAspect="1"/>
          </p:cNvPicPr>
          <p:nvPr/>
        </p:nvPicPr>
        <p:blipFill>
          <a:blip r:embed="rId4"/>
          <a:stretch>
            <a:fillRect/>
          </a:stretch>
        </p:blipFill>
        <p:spPr>
          <a:xfrm>
            <a:off x="7778750" y="238918"/>
            <a:ext cx="3867150" cy="1104900"/>
          </a:xfrm>
          <a:prstGeom prst="rect">
            <a:avLst/>
          </a:prstGeom>
        </p:spPr>
      </p:pic>
      <p:sp>
        <p:nvSpPr>
          <p:cNvPr id="15" name="TextBox 14">
            <a:extLst>
              <a:ext uri="{FF2B5EF4-FFF2-40B4-BE49-F238E27FC236}">
                <a16:creationId xmlns:a16="http://schemas.microsoft.com/office/drawing/2014/main" id="{C1A2920A-EDC2-50CA-9A91-6CFBD6168F89}"/>
              </a:ext>
            </a:extLst>
          </p:cNvPr>
          <p:cNvSpPr txBox="1"/>
          <p:nvPr/>
        </p:nvSpPr>
        <p:spPr>
          <a:xfrm>
            <a:off x="1603021" y="6124964"/>
            <a:ext cx="6096000" cy="46166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rPr>
              <a:t>Courtesy of </a:t>
            </a:r>
            <a:r>
              <a:rPr lang="en-US" dirty="0">
                <a:solidFill>
                  <a:schemeClr val="tx1"/>
                </a:solidFill>
                <a:hlinkClick r:id="rId5"/>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116971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Odds and Ends You Should Know</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47</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31846</TotalTime>
  <Words>7200</Words>
  <Application>Microsoft Office PowerPoint</Application>
  <PresentationFormat>Widescreen</PresentationFormat>
  <Paragraphs>766</Paragraphs>
  <Slides>47</Slides>
  <Notes>41</Notes>
  <HiddenSlides>4</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47</vt:i4>
      </vt:variant>
    </vt:vector>
  </HeadingPairs>
  <TitlesOfParts>
    <vt:vector size="56" baseType="lpstr">
      <vt:lpstr>Arial</vt:lpstr>
      <vt:lpstr>Calibri</vt:lpstr>
      <vt:lpstr>Consolas</vt:lpstr>
      <vt:lpstr>Courier</vt:lpstr>
      <vt:lpstr>Helvetica Neue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Your app probably spends most of its time waiting</vt:lpstr>
      <vt:lpstr>Typescript/Javascript achieves this goal using two techniques:   1. cooperative multiprocessing    2. non-blocking IO</vt:lpstr>
      <vt:lpstr>Most OS's use pre-emptive multiprocessing</vt:lpstr>
      <vt:lpstr>Javascript/Typescript uses cooperative multiprocessing</vt:lpstr>
      <vt:lpstr>async/await is a programming model for cooperative multiprocessing</vt:lpstr>
      <vt:lpstr>How does JS Event Loop make this happen?</vt:lpstr>
      <vt:lpstr>Run to Completion is a central concept</vt:lpstr>
      <vt:lpstr>A typical async function</vt:lpstr>
      <vt:lpstr>Execution of an async function may be paused</vt:lpstr>
      <vt:lpstr>What happens at those pause points?</vt:lpstr>
      <vt:lpstr>What happens when you await?</vt:lpstr>
      <vt:lpstr>Java vs. JS/TS</vt:lpstr>
      <vt:lpstr>A promise can be in one of exactly 3 states</vt:lpstr>
      <vt:lpstr>Simple sequential execution:</vt:lpstr>
      <vt:lpstr>Async task can finish later</vt:lpstr>
      <vt:lpstr>Promise can also be resolved in future</vt:lpstr>
      <vt:lpstr>Promises have priority (Micro over Macro)</vt:lpstr>
      <vt:lpstr>You can await on async tasks (1)</vt:lpstr>
      <vt:lpstr>You can await on async tasks (2)</vt:lpstr>
      <vt:lpstr>Pattern for starting a concurrent computation using non-blocking I/O</vt:lpstr>
      <vt:lpstr>Running 3 concurrent get requests</vt:lpstr>
      <vt:lpstr>If you add awaits, the requests will be processed sequentially</vt:lpstr>
      <vt:lpstr>Use Promise.all to execute several requests concurrently</vt:lpstr>
      <vt:lpstr>…but it would be much slower</vt:lpstr>
      <vt:lpstr>Why is that?  Visualizing Promise.all</vt:lpstr>
      <vt:lpstr>Requests can also be chained (if they are serial)</vt:lpstr>
      <vt:lpstr>Recover from errors with try/catch</vt:lpstr>
      <vt:lpstr>try/catch, continued</vt:lpstr>
      <vt:lpstr>Pattern for testing an async function</vt:lpstr>
      <vt:lpstr>AntiPattern 1: unawaited promise</vt:lpstr>
      <vt:lpstr>What just happened?</vt:lpstr>
      <vt:lpstr>Wow! That was complicated!</vt:lpstr>
      <vt:lpstr>AntiPattern 2: Side-effect before await can  be misleading</vt:lpstr>
      <vt:lpstr>We achieve this goal using two techniques:   1. cooperative multiprocessing    2. non-blocking IO </vt:lpstr>
      <vt:lpstr>Answer: JS/TS has some primitives for starting a non-blocking computation</vt:lpstr>
      <vt:lpstr>Let’s put it all together</vt:lpstr>
      <vt:lpstr>Microtasks are urgent and Macrotasks are slower/asynchronous operations</vt:lpstr>
      <vt:lpstr>Here is a quick demo for you</vt:lpstr>
      <vt:lpstr>General Rules for Writing Asynchronous Code</vt:lpstr>
      <vt:lpstr>Odds and Ends You Should Know</vt:lpstr>
      <vt:lpstr>Async/await code is compiled into promise/then code. Using await is preferred</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134</cp:revision>
  <dcterms:modified xsi:type="dcterms:W3CDTF">2026-06-07T17:12:11Z</dcterms:modified>
</cp:coreProperties>
</file>