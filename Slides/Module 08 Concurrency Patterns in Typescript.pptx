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49"/>
  </p:notesMasterIdLst>
  <p:sldIdLst>
    <p:sldId id="485" r:id="rId2"/>
    <p:sldId id="580" r:id="rId3"/>
    <p:sldId id="688" r:id="rId4"/>
    <p:sldId id="486" r:id="rId5"/>
    <p:sldId id="582" r:id="rId6"/>
    <p:sldId id="262" r:id="rId7"/>
    <p:sldId id="514" r:id="rId8"/>
    <p:sldId id="667" r:id="rId9"/>
    <p:sldId id="697" r:id="rId10"/>
    <p:sldId id="698" r:id="rId11"/>
    <p:sldId id="668" r:id="rId12"/>
    <p:sldId id="670" r:id="rId13"/>
    <p:sldId id="669" r:id="rId14"/>
    <p:sldId id="579" r:id="rId15"/>
    <p:sldId id="672" r:id="rId16"/>
    <p:sldId id="699" r:id="rId17"/>
    <p:sldId id="692" r:id="rId18"/>
    <p:sldId id="693" r:id="rId19"/>
    <p:sldId id="694" r:id="rId20"/>
    <p:sldId id="695" r:id="rId21"/>
    <p:sldId id="691" r:id="rId22"/>
    <p:sldId id="696" r:id="rId23"/>
    <p:sldId id="687" r:id="rId24"/>
    <p:sldId id="658" r:id="rId25"/>
    <p:sldId id="679" r:id="rId26"/>
    <p:sldId id="680" r:id="rId27"/>
    <p:sldId id="661" r:id="rId28"/>
    <p:sldId id="662" r:id="rId29"/>
    <p:sldId id="677" r:id="rId30"/>
    <p:sldId id="681" r:id="rId31"/>
    <p:sldId id="682" r:id="rId32"/>
    <p:sldId id="689" r:id="rId33"/>
    <p:sldId id="673" r:id="rId34"/>
    <p:sldId id="675" r:id="rId35"/>
    <p:sldId id="676" r:id="rId36"/>
    <p:sldId id="684" r:id="rId37"/>
    <p:sldId id="594" r:id="rId38"/>
    <p:sldId id="560" r:id="rId39"/>
    <p:sldId id="664" r:id="rId40"/>
    <p:sldId id="690" r:id="rId41"/>
    <p:sldId id="629" r:id="rId42"/>
    <p:sldId id="277" r:id="rId43"/>
    <p:sldId id="544" r:id="rId44"/>
    <p:sldId id="499" r:id="rId45"/>
    <p:sldId id="550" r:id="rId46"/>
    <p:sldId id="546" r:id="rId47"/>
    <p:sldId id="604" r:id="rId48"/>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688"/>
            <p14:sldId id="486"/>
            <p14:sldId id="582"/>
            <p14:sldId id="262"/>
            <p14:sldId id="514"/>
            <p14:sldId id="667"/>
            <p14:sldId id="697"/>
            <p14:sldId id="698"/>
            <p14:sldId id="668"/>
            <p14:sldId id="670"/>
            <p14:sldId id="669"/>
            <p14:sldId id="579"/>
            <p14:sldId id="672"/>
            <p14:sldId id="699"/>
            <p14:sldId id="692"/>
            <p14:sldId id="693"/>
            <p14:sldId id="694"/>
            <p14:sldId id="695"/>
            <p14:sldId id="691"/>
            <p14:sldId id="696"/>
            <p14:sldId id="687"/>
            <p14:sldId id="658"/>
            <p14:sldId id="679"/>
            <p14:sldId id="680"/>
            <p14:sldId id="661"/>
            <p14:sldId id="662"/>
            <p14:sldId id="677"/>
            <p14:sldId id="681"/>
            <p14:sldId id="682"/>
            <p14:sldId id="689"/>
            <p14:sldId id="673"/>
            <p14:sldId id="675"/>
            <p14:sldId id="676"/>
            <p14:sldId id="684"/>
            <p14:sldId id="594"/>
            <p14:sldId id="560"/>
            <p14:sldId id="664"/>
            <p14:sldId id="690"/>
            <p14:sldId id="629"/>
            <p14:sldId id="277"/>
            <p14:sldId id="544"/>
            <p14:sldId id="499"/>
            <p14:sldId id="550"/>
            <p14:sldId id="546"/>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188332-BD64-46A5-B32A-6D80E54C4ECE}" v="27" dt="2024-11-01T00:40:56.92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53" autoAdjust="0"/>
    <p:restoredTop sz="86375" autoAdjust="0"/>
  </p:normalViewPr>
  <p:slideViewPr>
    <p:cSldViewPr snapToGrid="0" snapToObjects="1">
      <p:cViewPr varScale="1">
        <p:scale>
          <a:sx n="64" d="100"/>
          <a:sy n="64" d="100"/>
        </p:scale>
        <p:origin x="712" y="40"/>
      </p:cViewPr>
      <p:guideLst/>
    </p:cSldViewPr>
  </p:slideViewPr>
  <p:outlineViewPr>
    <p:cViewPr>
      <p:scale>
        <a:sx n="33" d="100"/>
        <a:sy n="33" d="100"/>
      </p:scale>
      <p:origin x="0" y="-9996"/>
    </p:cViewPr>
  </p:outlineViewPr>
  <p:notesTextViewPr>
    <p:cViewPr>
      <p:scale>
        <a:sx n="3" d="2"/>
        <a:sy n="3" d="2"/>
      </p:scale>
      <p:origin x="0" y="0"/>
    </p:cViewPr>
  </p:notesTextViewPr>
  <p:sorterViewPr>
    <p:cViewPr varScale="1">
      <p:scale>
        <a:sx n="1" d="1"/>
        <a:sy n="1" d="1"/>
      </p:scale>
      <p:origin x="0" y="-418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dev.to/lydiahallie/javascript-visualized-event-loop-3dif"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principles: why do we need concurrency?</a:t>
            </a:r>
          </a:p>
          <a:p>
            <a:endParaRPr lang="en-US" dirty="0"/>
          </a:p>
          <a:p>
            <a:r>
              <a:rPr lang="en-US" dirty="0"/>
              <a:t>Mostly I/O. We are spoiled today with huge amounts of RAM, but there are still occasions when you need to read or write something to/from disk, or to/from network.</a:t>
            </a:r>
          </a:p>
          <a:p>
            <a:endParaRPr lang="en-US" dirty="0"/>
          </a:p>
          <a:p>
            <a:r>
              <a:rPr lang="en-US" dirty="0"/>
              <a:t>This diagram shows roughly the overhead of different kinds of I/O, in nanoseconds. Cutting-edge hardware architectures and OS designs aim to reduce these delays, but the rough order of magnitudes still stand.</a:t>
            </a:r>
          </a:p>
          <a:p>
            <a:endParaRPr lang="en-US" dirty="0"/>
          </a:p>
          <a:p>
            <a:r>
              <a:rPr lang="en-US" dirty="0"/>
              <a:t>If we are “computing” things (running instructions on the CPU), on a 1Ghz CPU, that’s nice and round, so you get 1 instruction executed per nano-second. You could run 150k instructions in time to read 4KB from SSD, 10m instructions in time to get the read head on your spinning magnetic HD into place to read something, or 100m instructions in time to receive a packet over internet.</a:t>
            </a:r>
          </a:p>
          <a:p>
            <a:endParaRPr lang="en-US" dirty="0"/>
          </a:p>
          <a:p>
            <a:r>
              <a:rPr lang="en-US" dirty="0"/>
              <a:t>So, it is desirable to be able to keep doing things while we are waiting for I/O, and not stop the world. Another way to put this, is that we would like to mask this latency to do such slow operations with concurrency: do something else while these I/O operations are happening.</a:t>
            </a:r>
          </a:p>
        </p:txBody>
      </p:sp>
    </p:spTree>
    <p:extLst>
      <p:ext uri="{BB962C8B-B14F-4D97-AF65-F5344CB8AC3E}">
        <p14:creationId xmlns:p14="http://schemas.microsoft.com/office/powerpoint/2010/main" val="42898120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840575-AFF9-9F48-85E1-78753919E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E3054-0459-E7D4-82AD-DE91D73158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D3D3E2-859B-5DBE-27A4-36B21C0E50F0}"/>
              </a:ext>
            </a:extLst>
          </p:cNvPr>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r>
              <a:rPr lang="en-US" dirty="0"/>
              <a:t>- 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p:txBody>
      </p:sp>
    </p:spTree>
    <p:extLst>
      <p:ext uri="{BB962C8B-B14F-4D97-AF65-F5344CB8AC3E}">
        <p14:creationId xmlns:p14="http://schemas.microsoft.com/office/powerpoint/2010/main" val="39832860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9215E-43C6-C8DE-5E0E-5426985A0B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AD9904-FF40-79B0-EFF9-E88BBE8D16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4D406-3D5B-558F-1BF4-4CE1DB59F54D}"/>
              </a:ext>
            </a:extLst>
          </p:cNvPr>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159308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typical async function.  It calls another async function, waits for that function to return, and then does something with the answer.  The "cooperative multiprocessing" means that while this function is waiting for the other function to return, the runtime can switch to some other task.  But there can be no interruptions while we are executing the code in </a:t>
            </a:r>
            <a:r>
              <a:rPr lang="en-US" b="1" dirty="0"/>
              <a:t>this</a:t>
            </a:r>
            <a:r>
              <a:rPr lang="en-US" b="0" dirty="0"/>
              <a:t> function.  Let's look at that idea in more detail.</a:t>
            </a:r>
            <a:endParaRPr lang="en-US" dirty="0"/>
          </a:p>
        </p:txBody>
      </p:sp>
    </p:spTree>
    <p:extLst>
      <p:ext uri="{BB962C8B-B14F-4D97-AF65-F5344CB8AC3E}">
        <p14:creationId xmlns:p14="http://schemas.microsoft.com/office/powerpoint/2010/main" val="40084931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disallowing interrupts everywhere but at the pause points, we avoid almost all of the data races you may have learned about in your operating systems class.   Each grey box is a critical section, and your program consists of a set of critical sections.  Each green box is uninterruptible!!</a:t>
            </a:r>
          </a:p>
          <a:p>
            <a:endParaRPr lang="en-US" dirty="0"/>
          </a:p>
        </p:txBody>
      </p:sp>
    </p:spTree>
    <p:extLst>
      <p:ext uri="{BB962C8B-B14F-4D97-AF65-F5344CB8AC3E}">
        <p14:creationId xmlns:p14="http://schemas.microsoft.com/office/powerpoint/2010/main" val="32144726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function yields or pauses in exactly two places in its code.  What happens at those places?</a:t>
            </a:r>
          </a:p>
          <a:p>
            <a:endParaRPr lang="en-US" dirty="0"/>
          </a:p>
          <a:p>
            <a:r>
              <a:rPr lang="en-US" dirty="0"/>
              <a:t>When </a:t>
            </a:r>
            <a:r>
              <a:rPr lang="en-US" dirty="0" err="1"/>
              <a:t>someFunction</a:t>
            </a:r>
            <a:r>
              <a:rPr lang="en-US" dirty="0"/>
              <a:t> yields at the first location, it informs the runtime that </a:t>
            </a:r>
            <a:r>
              <a:rPr lang="en-US" dirty="0" err="1"/>
              <a:t>someOtherAsyncFunction</a:t>
            </a:r>
            <a:r>
              <a:rPr lang="en-US" dirty="0"/>
              <a:t>(j) is ready to run, and that </a:t>
            </a:r>
            <a:r>
              <a:rPr lang="en-US" dirty="0" err="1"/>
              <a:t>someFunction</a:t>
            </a:r>
            <a:r>
              <a:rPr lang="en-US" dirty="0"/>
              <a:t> will be ready to resume its execution only when </a:t>
            </a:r>
            <a:r>
              <a:rPr lang="en-US" dirty="0" err="1"/>
              <a:t>someOtherAsyncFunction</a:t>
            </a:r>
            <a:r>
              <a:rPr lang="en-US" dirty="0"/>
              <a:t>(j) returns a value.  The runtime can then switch to any process that is ready.  That might be the call to </a:t>
            </a:r>
            <a:r>
              <a:rPr lang="en-US" dirty="0" err="1"/>
              <a:t>someOtherAsync</a:t>
            </a:r>
            <a:r>
              <a:rPr lang="en-US" dirty="0"/>
              <a:t> function, but it might be something else.</a:t>
            </a:r>
          </a:p>
          <a:p>
            <a:endParaRPr lang="en-US" dirty="0"/>
          </a:p>
          <a:p>
            <a:r>
              <a:rPr lang="en-US" dirty="0"/>
              <a:t>When </a:t>
            </a:r>
            <a:r>
              <a:rPr lang="en-US" dirty="0" err="1"/>
              <a:t>someFunction</a:t>
            </a:r>
            <a:r>
              <a:rPr lang="en-US" dirty="0"/>
              <a:t> yields at the second location, it informs the runtime that it is ready to return to its caller, and it gives the runtime permission to switch to any process that is ready.  It might be the caller of </a:t>
            </a:r>
            <a:r>
              <a:rPr lang="en-US" dirty="0" err="1"/>
              <a:t>someFunction</a:t>
            </a:r>
            <a:r>
              <a:rPr lang="en-US" dirty="0"/>
              <a:t>, or it might be something else.</a:t>
            </a:r>
          </a:p>
        </p:txBody>
      </p:sp>
    </p:spTree>
    <p:extLst>
      <p:ext uri="{BB962C8B-B14F-4D97-AF65-F5344CB8AC3E}">
        <p14:creationId xmlns:p14="http://schemas.microsoft.com/office/powerpoint/2010/main" val="17480661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08000"/>
                </a:solidFill>
                <a:effectLst/>
                <a:latin typeface="Consolas" panose="020B0609020204030204" pitchFamily="49" charset="0"/>
              </a:rPr>
              <a:t>In an interrupt-based model, it is possible that statement the print A runs *between* the print B and the print C.  Not for us!</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(Don't worry about the details of the run() procedure-- we'll explain that soon).</a:t>
            </a:r>
          </a:p>
          <a:p>
            <a:endParaRPr lang="en-US" dirty="0"/>
          </a:p>
          <a:p>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dirty="0"/>
          </a:p>
          <a:p>
            <a:endParaRPr lang="en-US" dirty="0"/>
          </a:p>
        </p:txBody>
      </p:sp>
    </p:spTree>
    <p:extLst>
      <p:ext uri="{BB962C8B-B14F-4D97-AF65-F5344CB8AC3E}">
        <p14:creationId xmlns:p14="http://schemas.microsoft.com/office/powerpoint/2010/main" val="32827511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7760609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Say something about success/failure?</a:t>
            </a:r>
          </a:p>
        </p:txBody>
      </p:sp>
    </p:spTree>
    <p:extLst>
      <p:ext uri="{BB962C8B-B14F-4D97-AF65-F5344CB8AC3E}">
        <p14:creationId xmlns:p14="http://schemas.microsoft.com/office/powerpoint/2010/main" val="13614023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new here, everything runs in order. Each console log gets pushed onto call stack and then popped when executed</a:t>
            </a:r>
          </a:p>
        </p:txBody>
      </p:sp>
    </p:spTree>
    <p:extLst>
      <p:ext uri="{BB962C8B-B14F-4D97-AF65-F5344CB8AC3E}">
        <p14:creationId xmlns:p14="http://schemas.microsoft.com/office/powerpoint/2010/main" val="40551509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sz="1000" dirty="0" err="1"/>
              <a:t>setTimeout</a:t>
            </a:r>
            <a:r>
              <a:rPr lang="en-US" sz="1000" dirty="0"/>
              <a:t> is given to </a:t>
            </a:r>
            <a:r>
              <a:rPr lang="en-US" sz="1000" dirty="0" err="1"/>
              <a:t>webAPI</a:t>
            </a:r>
            <a:r>
              <a:rPr lang="en-US" sz="1000" dirty="0"/>
              <a:t> for execution which will place the </a:t>
            </a:r>
            <a:r>
              <a:rPr lang="en-US" sz="1000" b="0" dirty="0">
                <a:solidFill>
                  <a:srgbClr val="000000"/>
                </a:solidFill>
                <a:effectLst/>
                <a:latin typeface="Consolas" panose="020B0609020204030204" pitchFamily="49" charset="0"/>
              </a:rPr>
              <a:t>console.log(</a:t>
            </a:r>
            <a:r>
              <a:rPr lang="en-US" sz="1000" b="0" dirty="0">
                <a:solidFill>
                  <a:srgbClr val="C00000"/>
                </a:solidFill>
                <a:effectLst/>
                <a:latin typeface="Consolas" panose="020B0609020204030204" pitchFamily="49" charset="0"/>
              </a:rPr>
              <a:t>'timeout’</a:t>
            </a:r>
            <a:r>
              <a:rPr lang="en-US" sz="1000" b="0" dirty="0">
                <a:solidFill>
                  <a:srgbClr val="000000"/>
                </a:solidFill>
                <a:effectLst/>
                <a:latin typeface="Consolas" panose="020B0609020204030204" pitchFamily="49" charset="0"/>
              </a:rPr>
              <a:t>) onto callback queue. </a:t>
            </a:r>
            <a:r>
              <a:rPr lang="en-US" sz="1000" dirty="0"/>
              <a:t>Run to completion requires main to finish first then execute the call back.</a:t>
            </a:r>
            <a:br>
              <a:rPr lang="en-US" sz="1000" dirty="0"/>
            </a:br>
            <a:r>
              <a:rPr lang="en-US" sz="1000" dirty="0"/>
              <a:t>Strictly speaking: you have a pending promise to executed a callback at some point after the timer expires. This callback will be placed in </a:t>
            </a:r>
            <a:r>
              <a:rPr lang="en-US" sz="1000" dirty="0" err="1"/>
              <a:t>Macroqueue</a:t>
            </a:r>
            <a:r>
              <a:rPr lang="en-US" sz="1000" dirty="0"/>
              <a:t> until call stack can execute it.</a:t>
            </a:r>
          </a:p>
        </p:txBody>
      </p:sp>
    </p:spTree>
    <p:extLst>
      <p:ext uri="{BB962C8B-B14F-4D97-AF65-F5344CB8AC3E}">
        <p14:creationId xmlns:p14="http://schemas.microsoft.com/office/powerpoint/2010/main" val="38456341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Promise will work the same way, with </a:t>
            </a:r>
            <a:r>
              <a:rPr lang="en-US" sz="1100" b="0" dirty="0">
                <a:solidFill>
                  <a:srgbClr val="000000"/>
                </a:solidFill>
                <a:effectLst/>
                <a:latin typeface="Consolas" panose="020B0609020204030204" pitchFamily="49" charset="0"/>
              </a:rPr>
              <a:t>console.log(</a:t>
            </a:r>
            <a:r>
              <a:rPr lang="en-US" sz="1100" b="0" dirty="0">
                <a:solidFill>
                  <a:srgbClr val="C00000"/>
                </a:solidFill>
                <a:effectLst/>
                <a:latin typeface="Consolas" panose="020B0609020204030204" pitchFamily="49" charset="0"/>
              </a:rPr>
              <a:t>‘promise’</a:t>
            </a:r>
            <a:r>
              <a:rPr lang="en-US" sz="1100" b="0" dirty="0">
                <a:solidFill>
                  <a:srgbClr val="000000"/>
                </a:solidFill>
                <a:effectLst/>
                <a:latin typeface="Consolas" panose="020B0609020204030204" pitchFamily="49" charset="0"/>
              </a:rPr>
              <a:t>) getting placed on Microtask queue. </a:t>
            </a:r>
            <a:r>
              <a:rPr lang="en-US" dirty="0"/>
              <a:t>Run to completion requires main to finish first then execute the call back.</a:t>
            </a:r>
          </a:p>
          <a:p>
            <a:endParaRPr lang="en-US" dirty="0"/>
          </a:p>
        </p:txBody>
      </p:sp>
    </p:spTree>
    <p:extLst>
      <p:ext uri="{BB962C8B-B14F-4D97-AF65-F5344CB8AC3E}">
        <p14:creationId xmlns:p14="http://schemas.microsoft.com/office/powerpoint/2010/main" val="40559292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Since </a:t>
            </a:r>
            <a:r>
              <a:rPr lang="en-US" dirty="0" err="1"/>
              <a:t>MicroTask</a:t>
            </a:r>
            <a:r>
              <a:rPr lang="en-US" dirty="0"/>
              <a:t> queue has priority over microtask queue, callback for promise will get executed first before callback for timer, after </a:t>
            </a:r>
            <a:r>
              <a:rPr lang="en-US" dirty="0" err="1"/>
              <a:t>callstack</a:t>
            </a:r>
            <a:r>
              <a:rPr lang="en-US" dirty="0"/>
              <a:t> is emptied out by finishing main.</a:t>
            </a:r>
          </a:p>
        </p:txBody>
      </p:sp>
    </p:spTree>
    <p:extLst>
      <p:ext uri="{BB962C8B-B14F-4D97-AF65-F5344CB8AC3E}">
        <p14:creationId xmlns:p14="http://schemas.microsoft.com/office/powerpoint/2010/main" val="22910083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a:t>
            </a:r>
            <a:br>
              <a:rPr lang="en-US" dirty="0"/>
            </a:br>
            <a:r>
              <a:rPr lang="en-US" dirty="0"/>
              <a:t>Awaiting allows us to wait for some task to complete first before we do something else.</a:t>
            </a:r>
            <a:br>
              <a:rPr lang="en-US" dirty="0"/>
            </a:br>
            <a:endParaRPr lang="en-US" dirty="0"/>
          </a:p>
        </p:txBody>
      </p:sp>
    </p:spTree>
    <p:extLst>
      <p:ext uri="{BB962C8B-B14F-4D97-AF65-F5344CB8AC3E}">
        <p14:creationId xmlns:p14="http://schemas.microsoft.com/office/powerpoint/2010/main" val="27365880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a:t>
            </a:r>
            <a:br>
              <a:rPr lang="en-US" dirty="0"/>
            </a:br>
            <a:endParaRPr lang="en-US" dirty="0"/>
          </a:p>
        </p:txBody>
      </p:sp>
    </p:spTree>
    <p:extLst>
      <p:ext uri="{BB962C8B-B14F-4D97-AF65-F5344CB8AC3E}">
        <p14:creationId xmlns:p14="http://schemas.microsoft.com/office/powerpoint/2010/main" val="18579236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2DCA0-7665-BF41-EE6E-6EC73038D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D169D-4441-7E4A-9074-15DCC15CF4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1367F-3FE0-1391-F0DB-F1E87C3DADCF}"/>
              </a:ext>
            </a:extLst>
          </p:cNvPr>
          <p:cNvSpPr>
            <a:spLocks noGrp="1"/>
          </p:cNvSpPr>
          <p:nvPr>
            <p:ph type="body" idx="1"/>
          </p:nvPr>
        </p:nvSpPr>
        <p:spPr/>
        <p:txBody>
          <a:bodyPr/>
          <a:lstStyle/>
          <a:p>
            <a:r>
              <a:rPr lang="en-US" dirty="0"/>
              <a:t>It is important to note that you can call </a:t>
            </a:r>
            <a:r>
              <a:rPr lang="en-US" dirty="0" err="1"/>
              <a:t>makeRequest</a:t>
            </a:r>
            <a:r>
              <a:rPr lang="en-US" dirty="0"/>
              <a:t> but it will be awaiting a future response. That promise was returned immediately back to the caller (whichever promise called the </a:t>
            </a:r>
            <a:r>
              <a:rPr lang="en-US" dirty="0" err="1"/>
              <a:t>makeRequest</a:t>
            </a:r>
            <a:r>
              <a:rPr lang="en-US" dirty="0"/>
              <a:t>) and that the caller’s thread continues on while </a:t>
            </a:r>
            <a:r>
              <a:rPr lang="en-US" dirty="0" err="1"/>
              <a:t>makeRequest</a:t>
            </a:r>
            <a:r>
              <a:rPr lang="en-US" dirty="0"/>
              <a:t> is waiting for a response, just as in our previous examples.</a:t>
            </a:r>
          </a:p>
        </p:txBody>
      </p:sp>
    </p:spTree>
    <p:extLst>
      <p:ext uri="{BB962C8B-B14F-4D97-AF65-F5344CB8AC3E}">
        <p14:creationId xmlns:p14="http://schemas.microsoft.com/office/powerpoint/2010/main" val="19917182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898259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41209867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should leverage concurrency whenever possible. </a:t>
            </a:r>
          </a:p>
          <a:p>
            <a:endParaRPr lang="en-US" dirty="0"/>
          </a:p>
          <a:p>
            <a:r>
              <a:rPr lang="en-US" dirty="0"/>
              <a:t>(Time is average of 100 runs on Prof. Wand’s Lenovo X1)</a:t>
            </a:r>
          </a:p>
          <a:p>
            <a:endParaRPr lang="en-US" dirty="0"/>
          </a:p>
        </p:txBody>
      </p:sp>
    </p:spTree>
    <p:extLst>
      <p:ext uri="{BB962C8B-B14F-4D97-AF65-F5344CB8AC3E}">
        <p14:creationId xmlns:p14="http://schemas.microsoft.com/office/powerpoint/2010/main" val="39729342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examples so far, the arguments to the requests were independent of each other.  But there's no reason they have to be independent (except for </a:t>
            </a:r>
            <a:r>
              <a:rPr lang="en-US" dirty="0" err="1"/>
              <a:t>Promise.all</a:t>
            </a:r>
            <a:r>
              <a:rPr lang="en-US" dirty="0"/>
              <a:t>).  You can make them any way you need to.</a:t>
            </a:r>
          </a:p>
        </p:txBody>
      </p:sp>
    </p:spTree>
    <p:extLst>
      <p:ext uri="{BB962C8B-B14F-4D97-AF65-F5344CB8AC3E}">
        <p14:creationId xmlns:p14="http://schemas.microsoft.com/office/powerpoint/2010/main" val="35610407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EA572-721B-ECEB-6452-DCEA5F2D8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E4568-DD61-B9D6-0E98-291013369F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D51956-59BD-B808-92DA-B19BED4E7070}"/>
              </a:ext>
            </a:extLst>
          </p:cNvPr>
          <p:cNvSpPr>
            <a:spLocks noGrp="1"/>
          </p:cNvSpPr>
          <p:nvPr>
            <p:ph type="body" idx="1"/>
          </p:nvPr>
        </p:nvSpPr>
        <p:spPr/>
        <p:txBody>
          <a:bodyPr/>
          <a:lstStyle/>
          <a:p>
            <a:r>
              <a:rPr lang="en-US" dirty="0"/>
              <a:t>Review the code. </a:t>
            </a:r>
            <a:br>
              <a:rPr lang="en-US" dirty="0"/>
            </a:br>
            <a:endParaRPr lang="en-US" dirty="0"/>
          </a:p>
        </p:txBody>
      </p:sp>
    </p:spTree>
    <p:extLst>
      <p:ext uri="{BB962C8B-B14F-4D97-AF65-F5344CB8AC3E}">
        <p14:creationId xmlns:p14="http://schemas.microsoft.com/office/powerpoint/2010/main" val="6478729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2024D-E69E-7C58-13D1-FCEA50E35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94B2D-2393-6A10-F8B0-78DEA5C043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6A7978-C190-AF69-F7C3-80DC31C6B16E}"/>
              </a:ext>
            </a:extLst>
          </p:cNvPr>
          <p:cNvSpPr>
            <a:spLocks noGrp="1"/>
          </p:cNvSpPr>
          <p:nvPr>
            <p:ph type="body" idx="1"/>
          </p:nvPr>
        </p:nvSpPr>
        <p:spPr/>
        <p:txBody>
          <a:bodyPr/>
          <a:lstStyle/>
          <a:p>
            <a:r>
              <a:rPr lang="en-US" dirty="0"/>
              <a:t>OK, this is complicated (which is why it's an antipattern).  Here's what happened:</a:t>
            </a:r>
          </a:p>
          <a:p>
            <a:endParaRPr lang="en-US" dirty="0"/>
          </a:p>
          <a:p>
            <a:pPr marL="228600" indent="-228600">
              <a:buAutoNum type="arabicPeriod"/>
            </a:pPr>
            <a:r>
              <a:rPr lang="en-US" dirty="0"/>
              <a:t>main() called </a:t>
            </a:r>
            <a:r>
              <a:rPr lang="en-US" dirty="0" err="1"/>
              <a:t>fakeRequest</a:t>
            </a:r>
            <a:r>
              <a:rPr lang="en-US" dirty="0"/>
              <a:t>(32).</a:t>
            </a:r>
          </a:p>
          <a:p>
            <a:pPr marL="228600" indent="-228600">
              <a:buAutoNum type="arabicPeriod"/>
            </a:pPr>
            <a:r>
              <a:rPr lang="en-US" dirty="0" err="1"/>
              <a:t>fakeRequest</a:t>
            </a:r>
            <a:r>
              <a:rPr lang="en-US" dirty="0"/>
              <a:t>(32) created a unit of work (a Promise), and told the runtime to run it sometime or other. </a:t>
            </a:r>
          </a:p>
          <a:p>
            <a:pPr marL="228600" indent="-228600">
              <a:buAutoNum type="arabicPeriod"/>
            </a:pPr>
            <a:r>
              <a:rPr lang="en-US" dirty="0"/>
              <a:t>Normally, we wouldn't see the actual value returned by </a:t>
            </a:r>
            <a:r>
              <a:rPr lang="en-US" dirty="0" err="1"/>
              <a:t>fakeRequest</a:t>
            </a:r>
            <a:r>
              <a:rPr lang="en-US" dirty="0"/>
              <a:t>(32), because we'd just wait for the unit of work to run before proceeding.</a:t>
            </a:r>
          </a:p>
          <a:p>
            <a:pPr marL="228600" indent="-228600">
              <a:buAutoNum type="arabicPeriod"/>
            </a:pPr>
            <a:r>
              <a:rPr lang="en-US" dirty="0"/>
              <a:t>But here, we didn't wait-- we just took the value returned by </a:t>
            </a:r>
            <a:r>
              <a:rPr lang="en-US" dirty="0" err="1"/>
              <a:t>fakeRequest</a:t>
            </a:r>
            <a:r>
              <a:rPr lang="en-US" dirty="0"/>
              <a:t>(32)-- the Promise-- and printed it.  </a:t>
            </a:r>
          </a:p>
          <a:p>
            <a:pPr marL="228600" indent="-228600">
              <a:buAutoNum type="arabicPeriod"/>
            </a:pPr>
            <a:r>
              <a:rPr lang="en-US" dirty="0"/>
              <a:t>We finished our current unit of work, printing "main done", which informed the runtime that we were done.</a:t>
            </a:r>
          </a:p>
          <a:p>
            <a:pPr marL="228600" indent="-228600">
              <a:buAutoNum type="arabicPeriod"/>
            </a:pPr>
            <a:r>
              <a:rPr lang="en-US" dirty="0"/>
              <a:t>The runtime then looked around for another unit of work to do.  In this case, it found the unit of work created by </a:t>
            </a:r>
            <a:r>
              <a:rPr lang="en-US" dirty="0" err="1"/>
              <a:t>fakeRequest</a:t>
            </a:r>
            <a:r>
              <a:rPr lang="en-US" dirty="0"/>
              <a:t>(32), and ran it, printing the last two lines</a:t>
            </a:r>
          </a:p>
          <a:p>
            <a:pPr marL="228600" indent="-228600">
              <a:buAutoNum type="arabicPeriod"/>
            </a:pPr>
            <a:endParaRPr lang="en-US" dirty="0"/>
          </a:p>
        </p:txBody>
      </p:sp>
    </p:spTree>
    <p:extLst>
      <p:ext uri="{BB962C8B-B14F-4D97-AF65-F5344CB8AC3E}">
        <p14:creationId xmlns:p14="http://schemas.microsoft.com/office/powerpoint/2010/main" val="243695055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marked the critical sections in a single async function.  When we consider two or more </a:t>
            </a:r>
            <a:r>
              <a:rPr lang="en-US" dirty="0" err="1"/>
              <a:t>asyncs</a:t>
            </a:r>
            <a:r>
              <a:rPr lang="en-US" dirty="0"/>
              <a:t>, the story is a little more complicated-- the two green sections actually form a single critical section, so the 'f started' will *always* be followed immediately by the 'g started'.   (And if there was a side-effect at the start of </a:t>
            </a:r>
            <a:r>
              <a:rPr lang="en-US" dirty="0" err="1"/>
              <a:t>fakeRequest</a:t>
            </a:r>
            <a:r>
              <a:rPr lang="en-US" dirty="0"/>
              <a:t>, that would similarly follow immediately after the 'g started'.  But there isn't </a:t>
            </a:r>
            <a:r>
              <a:rPr lang="en-US" dirty="0">
                <a:sym typeface="Wingdings" panose="05000000000000000000" pitchFamily="2" charset="2"/>
              </a:rPr>
              <a:t> ) . </a:t>
            </a:r>
          </a:p>
          <a:p>
            <a:endParaRPr lang="en-US" dirty="0">
              <a:sym typeface="Wingdings" panose="05000000000000000000" pitchFamily="2" charset="2"/>
            </a:endParaRPr>
          </a:p>
          <a:p>
            <a:r>
              <a:rPr lang="en-US" dirty="0">
                <a:sym typeface="Wingdings" panose="05000000000000000000" pitchFamily="2" charset="2"/>
              </a:rPr>
              <a:t>The 'g started' exposes this subtlety-- if it wasn't there, you'd never be able to tell the difference.  So don't do that.  Make sure that nothing you do before the first await in your async causes a visible side-effect (e.g. a console.log), unless you really want to track what's going on at this level of detail.</a:t>
            </a:r>
            <a:endParaRPr lang="en-US" dirty="0"/>
          </a:p>
        </p:txBody>
      </p:sp>
    </p:spTree>
    <p:extLst>
      <p:ext uri="{BB962C8B-B14F-4D97-AF65-F5344CB8AC3E}">
        <p14:creationId xmlns:p14="http://schemas.microsoft.com/office/powerpoint/2010/main" val="323475264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concludes our tour of cooperative multiprocessing.</a:t>
            </a:r>
          </a:p>
          <a:p>
            <a:r>
              <a:rPr lang="en-US" dirty="0"/>
              <a:t>But where does the non-blocking IO come from?</a:t>
            </a:r>
          </a:p>
        </p:txBody>
      </p:sp>
    </p:spTree>
    <p:extLst>
      <p:ext uri="{BB962C8B-B14F-4D97-AF65-F5344CB8AC3E}">
        <p14:creationId xmlns:p14="http://schemas.microsoft.com/office/powerpoint/2010/main" val="205816658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This is what we said back on the slide with the stork, where we said "</a:t>
            </a:r>
            <a:r>
              <a:rPr lang="en-US" sz="1100" dirty="0"/>
              <a:t>Some typescript libraries have API procedures that return promises"</a:t>
            </a:r>
          </a:p>
          <a:p>
            <a:endParaRPr lang="en-US" dirty="0"/>
          </a:p>
        </p:txBody>
      </p:sp>
    </p:spTree>
    <p:extLst>
      <p:ext uri="{BB962C8B-B14F-4D97-AF65-F5344CB8AC3E}">
        <p14:creationId xmlns:p14="http://schemas.microsoft.com/office/powerpoint/2010/main" val="14281436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Javascript</a:t>
            </a:r>
            <a:r>
              <a:rPr lang="en-US" dirty="0"/>
              <a:t> is a single threaded language. This means it has one call stack and one memory heap. It uses </a:t>
            </a:r>
            <a:r>
              <a:rPr lang="en-US" dirty="0" err="1"/>
              <a:t>WebAPI</a:t>
            </a:r>
            <a:r>
              <a:rPr lang="en-US" dirty="0"/>
              <a:t> to work asynchronously.</a:t>
            </a:r>
          </a:p>
          <a:p>
            <a:endParaRPr lang="en-US" dirty="0"/>
          </a:p>
          <a:p>
            <a:r>
              <a:rPr lang="en-US" dirty="0"/>
              <a:t>How do we get asynchronous code with </a:t>
            </a:r>
            <a:r>
              <a:rPr lang="en-US" dirty="0" err="1"/>
              <a:t>Javascript</a:t>
            </a:r>
            <a:r>
              <a:rPr lang="en-US" dirty="0"/>
              <a:t> then?</a:t>
            </a:r>
          </a:p>
          <a:p>
            <a:r>
              <a:rPr lang="en-US" dirty="0"/>
              <a:t>Well, we can thank the </a:t>
            </a:r>
            <a:r>
              <a:rPr lang="en-US" dirty="0" err="1"/>
              <a:t>Javascript</a:t>
            </a:r>
            <a:r>
              <a:rPr lang="en-US" dirty="0"/>
              <a:t> engine (V8, </a:t>
            </a:r>
            <a:r>
              <a:rPr lang="en-US" dirty="0" err="1"/>
              <a:t>Spidermonkey</a:t>
            </a:r>
            <a:r>
              <a:rPr lang="en-US" dirty="0"/>
              <a:t>, </a:t>
            </a:r>
            <a:r>
              <a:rPr lang="en-US" dirty="0" err="1"/>
              <a:t>JavaScriptCore</a:t>
            </a:r>
            <a:r>
              <a:rPr lang="en-US" dirty="0"/>
              <a:t>, etc...) for that, which has Web API that handle these tasks in the background. The call stack recognizes functions of the Web API and hands them off to be handled by the browser. Once those tasks are finished by the browser, they return and are pushed into a queue (callbacks go in </a:t>
            </a:r>
            <a:r>
              <a:rPr lang="en-US" dirty="0" err="1"/>
              <a:t>Macrotask</a:t>
            </a:r>
            <a:r>
              <a:rPr lang="en-US" dirty="0"/>
              <a:t> queue and promises go into microtask queue)</a:t>
            </a:r>
          </a:p>
          <a:p>
            <a:r>
              <a:rPr lang="en-US" dirty="0"/>
              <a:t>Then they are picked up by the event loop one by one and added onto the call stack.</a:t>
            </a:r>
          </a:p>
          <a:p>
            <a:endParaRPr lang="en-US" dirty="0"/>
          </a:p>
          <a:p>
            <a:r>
              <a:rPr lang="en-US" dirty="0"/>
              <a:t>Try this http://latentflip.com/loupe </a:t>
            </a:r>
          </a:p>
        </p:txBody>
      </p:sp>
    </p:spTree>
    <p:extLst>
      <p:ext uri="{BB962C8B-B14F-4D97-AF65-F5344CB8AC3E}">
        <p14:creationId xmlns:p14="http://schemas.microsoft.com/office/powerpoint/2010/main" val="11690898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126271473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dirty="0">
                <a:solidFill>
                  <a:schemeClr val="tx1"/>
                </a:solidFill>
              </a:rPr>
              <a:t>Courtesy of </a:t>
            </a:r>
            <a:r>
              <a:rPr lang="en-US" dirty="0">
                <a:solidFill>
                  <a:schemeClr val="tx1"/>
                </a:solidFill>
                <a:hlinkClick r:id="rId3"/>
              </a:rPr>
              <a:t>https://dev.to/lydiahallie/javascript-visualized-event-loop-3dif</a:t>
            </a:r>
            <a:endParaRPr lang="en-US" dirty="0">
              <a:solidFill>
                <a:schemeClr val="tx1"/>
              </a:solidFill>
            </a:endParaRPr>
          </a:p>
          <a:p>
            <a:pPr algn="l"/>
            <a:endParaRPr lang="en-US" dirty="0">
              <a:solidFill>
                <a:schemeClr val="tx1"/>
              </a:solidFill>
            </a:endParaRPr>
          </a:p>
        </p:txBody>
      </p:sp>
    </p:spTree>
    <p:extLst>
      <p:ext uri="{BB962C8B-B14F-4D97-AF65-F5344CB8AC3E}">
        <p14:creationId xmlns:p14="http://schemas.microsoft.com/office/powerpoint/2010/main" val="363622169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28354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699882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Promises enforce the order of operations only through the .then. The code in the ‘then’ won’t run until the promise is resolved.  Note that every .then() is a choice point, allowing the runtime to switch to some other task.</a:t>
            </a:r>
          </a:p>
          <a:p>
            <a:br>
              <a:rPr lang="en-US" dirty="0"/>
            </a:br>
            <a:r>
              <a:rPr lang="en-US" dirty="0"/>
              <a:t>(build through example, explaining the possible orders of results. Point out that we should never depend on the order of results we hear back form google/</a:t>
            </a:r>
            <a:r>
              <a:rPr lang="en-US" dirty="0" err="1"/>
              <a:t>facebook</a:t>
            </a:r>
            <a:r>
              <a:rPr lang="en-US" dirty="0"/>
              <a:t>/</a:t>
            </a:r>
            <a:r>
              <a:rPr lang="en-US" dirty="0" err="1"/>
              <a:t>coveytown</a:t>
            </a:r>
            <a:r>
              <a:rPr lang="en-US" dirty="0"/>
              <a:t> because it is non-deterministic. You might happen to see 9/10 times one ordering, but there is no guarantee)</a:t>
            </a:r>
          </a:p>
        </p:txBody>
      </p:sp>
    </p:spTree>
    <p:extLst>
      <p:ext uri="{BB962C8B-B14F-4D97-AF65-F5344CB8AC3E}">
        <p14:creationId xmlns:p14="http://schemas.microsoft.com/office/powerpoint/2010/main" val="93929185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already seen non-deterministic behavior reflected in our console logs.  But that kind of behavior can easily become visible to our program.  All you need is some shared state across your promises.</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47</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6/7/2026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hyperlink" Target="https://dev.to/lydiahallie/javascript-visualized-event-loop-3dif" TargetMode="External"/><Relationship Id="rId4" Type="http://schemas.openxmlformats.org/officeDocument/2006/relationships/image" Target="../media/image7.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08: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normAutofit lnSpcReduction="10000"/>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389F-B6E3-33CA-1849-9E0676038AB2}"/>
              </a:ext>
            </a:extLst>
          </p:cNvPr>
          <p:cNvSpPr>
            <a:spLocks noGrp="1"/>
          </p:cNvSpPr>
          <p:nvPr>
            <p:ph type="title"/>
          </p:nvPr>
        </p:nvSpPr>
        <p:spPr/>
        <p:txBody>
          <a:bodyPr/>
          <a:lstStyle/>
          <a:p>
            <a:r>
              <a:rPr lang="en-US" dirty="0"/>
              <a:t>Why async matters</a:t>
            </a:r>
          </a:p>
        </p:txBody>
      </p:sp>
      <p:sp>
        <p:nvSpPr>
          <p:cNvPr id="3" name="Content Placeholder 2">
            <a:extLst>
              <a:ext uri="{FF2B5EF4-FFF2-40B4-BE49-F238E27FC236}">
                <a16:creationId xmlns:a16="http://schemas.microsoft.com/office/drawing/2014/main" id="{88070A1A-D5FB-DAA5-6568-5B1EA25A543D}"/>
              </a:ext>
            </a:extLst>
          </p:cNvPr>
          <p:cNvSpPr>
            <a:spLocks noGrp="1"/>
          </p:cNvSpPr>
          <p:nvPr>
            <p:ph idx="1"/>
          </p:nvPr>
        </p:nvSpPr>
        <p:spPr/>
        <p:txBody>
          <a:bodyPr/>
          <a:lstStyle/>
          <a:p>
            <a:r>
              <a:rPr lang="en-US" dirty="0"/>
              <a:t>Your browser probably spends 99% of its time waiting</a:t>
            </a:r>
          </a:p>
          <a:p>
            <a:pPr lvl="1"/>
            <a:r>
              <a:rPr lang="en-US" dirty="0"/>
              <a:t>for http requests to return</a:t>
            </a:r>
          </a:p>
          <a:p>
            <a:pPr lvl="1"/>
            <a:r>
              <a:rPr lang="en-US" dirty="0"/>
              <a:t>for database calls to return</a:t>
            </a:r>
          </a:p>
          <a:p>
            <a:r>
              <a:rPr lang="en-US" dirty="0"/>
              <a:t>Wouldn't it be nice if we could use that waiting time for something else?</a:t>
            </a:r>
          </a:p>
          <a:p>
            <a:pPr lvl="1"/>
            <a:r>
              <a:rPr lang="en-US" dirty="0"/>
              <a:t>maybe we have some other http request we could launch</a:t>
            </a:r>
          </a:p>
          <a:p>
            <a:pPr lvl="1"/>
            <a:r>
              <a:rPr lang="en-US" dirty="0"/>
              <a:t>maybe other things (throbbers??)</a:t>
            </a:r>
          </a:p>
          <a:p>
            <a:r>
              <a:rPr lang="en-US" b="1" dirty="0"/>
              <a:t>async</a:t>
            </a:r>
            <a:r>
              <a:rPr lang="en-US" dirty="0"/>
              <a:t> is Typescript's way of handling this</a:t>
            </a:r>
            <a:endParaRPr lang="en-US" b="1" dirty="0"/>
          </a:p>
        </p:txBody>
      </p:sp>
      <p:sp>
        <p:nvSpPr>
          <p:cNvPr id="4" name="Slide Number Placeholder 3">
            <a:extLst>
              <a:ext uri="{FF2B5EF4-FFF2-40B4-BE49-F238E27FC236}">
                <a16:creationId xmlns:a16="http://schemas.microsoft.com/office/drawing/2014/main" id="{D86D2662-16EA-5ECF-41AD-4C591CC22FC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00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2AFFF-8173-684B-84C4-4485658ADFAA}"/>
              </a:ext>
            </a:extLst>
          </p:cNvPr>
          <p:cNvSpPr>
            <a:spLocks noGrp="1"/>
          </p:cNvSpPr>
          <p:nvPr>
            <p:ph type="title"/>
          </p:nvPr>
        </p:nvSpPr>
        <p:spPr/>
        <p:txBody>
          <a:bodyPr>
            <a:normAutofit/>
          </a:bodyPr>
          <a:lstStyle/>
          <a:p>
            <a:r>
              <a:rPr lang="en-US" sz="3600" dirty="0"/>
              <a:t>Your app probably spends most of its time waiting</a:t>
            </a:r>
          </a:p>
        </p:txBody>
      </p:sp>
      <p:sp>
        <p:nvSpPr>
          <p:cNvPr id="3" name="Text Placeholder 2">
            <a:extLst>
              <a:ext uri="{FF2B5EF4-FFF2-40B4-BE49-F238E27FC236}">
                <a16:creationId xmlns:a16="http://schemas.microsoft.com/office/drawing/2014/main" id="{78B96E90-8488-4353-B730-DCAA6C341B31}"/>
              </a:ext>
            </a:extLst>
          </p:cNvPr>
          <p:cNvSpPr>
            <a:spLocks noGrp="1"/>
          </p:cNvSpPr>
          <p:nvPr>
            <p:ph type="body" idx="4294967295"/>
          </p:nvPr>
        </p:nvSpPr>
        <p:spPr>
          <a:xfrm>
            <a:off x="870031" y="1480284"/>
            <a:ext cx="5277346" cy="5137083"/>
          </a:xfrm>
        </p:spPr>
        <p:txBody>
          <a:bodyPr>
            <a:normAutofit fontScale="92500" lnSpcReduction="20000"/>
          </a:bodyPr>
          <a:lstStyle/>
          <a:p>
            <a:r>
              <a:rPr lang="en-US" sz="2400" dirty="0"/>
              <a:t>Consider: a 1Ghz CPU executes an instruction every 1 ns</a:t>
            </a:r>
          </a:p>
          <a:p>
            <a:endParaRPr lang="en-US" sz="2400" dirty="0"/>
          </a:p>
          <a:p>
            <a:endParaRPr lang="en-US" sz="2400" dirty="0"/>
          </a:p>
          <a:p>
            <a:endParaRPr lang="en-US" sz="2400" dirty="0"/>
          </a:p>
          <a:p>
            <a:endParaRPr lang="en-US" sz="2400" dirty="0"/>
          </a:p>
          <a:p>
            <a:endParaRPr lang="en-US" sz="2400" dirty="0"/>
          </a:p>
          <a:p>
            <a:r>
              <a:rPr lang="en-US" sz="2400" dirty="0"/>
              <a:t>Almost anything else takes approximately forever</a:t>
            </a:r>
          </a:p>
          <a:p>
            <a:r>
              <a:rPr lang="en-US" sz="2400" b="1" dirty="0">
                <a:solidFill>
                  <a:srgbClr val="FF0000"/>
                </a:solidFill>
              </a:rPr>
              <a:t>Want to utilize this “wasted” time by doing something else</a:t>
            </a:r>
          </a:p>
          <a:p>
            <a:pPr lvl="1"/>
            <a:r>
              <a:rPr lang="en-US" sz="1800" dirty="0"/>
              <a:t>Processing data</a:t>
            </a:r>
          </a:p>
          <a:p>
            <a:pPr lvl="1"/>
            <a:r>
              <a:rPr lang="en-US" sz="1800" dirty="0"/>
              <a:t>Communicating with remote hosts</a:t>
            </a:r>
          </a:p>
          <a:p>
            <a:pPr lvl="1"/>
            <a:r>
              <a:rPr lang="en-US" sz="1800" dirty="0"/>
              <a:t>Timers that countdown while our app is running</a:t>
            </a:r>
          </a:p>
          <a:p>
            <a:pPr lvl="1"/>
            <a:r>
              <a:rPr lang="en-US" sz="1800" dirty="0"/>
              <a:t>Echoing user input</a:t>
            </a:r>
          </a:p>
          <a:p>
            <a:endParaRPr lang="en-US" sz="2400" dirty="0"/>
          </a:p>
        </p:txBody>
      </p:sp>
      <p:sp>
        <p:nvSpPr>
          <p:cNvPr id="43" name="Slide Number">
            <a:extLst>
              <a:ext uri="{FF2B5EF4-FFF2-40B4-BE49-F238E27FC236}">
                <a16:creationId xmlns:a16="http://schemas.microsoft.com/office/drawing/2014/main" id="{7361703E-BB61-5440-98E4-6A3AF012595E}"/>
              </a:ext>
            </a:extLst>
          </p:cNvPr>
          <p:cNvSpPr txBox="1">
            <a:spLocks/>
          </p:cNvSpPr>
          <p:nvPr/>
        </p:nvSpPr>
        <p:spPr>
          <a:xfrm>
            <a:off x="11269653" y="5603206"/>
            <a:ext cx="339836" cy="32893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a:lstStyle>
          <a:p>
            <a:fld id="{86CB4B4D-7CA3-9044-876B-883B54F8677D}" type="slidenum">
              <a:rPr lang="en-US" smtClean="0"/>
              <a:pPr/>
              <a:t>4</a:t>
            </a:fld>
            <a:endParaRPr lang="en-US"/>
          </a:p>
        </p:txBody>
      </p:sp>
      <p:grpSp>
        <p:nvGrpSpPr>
          <p:cNvPr id="4" name="Group 3">
            <a:extLst>
              <a:ext uri="{FF2B5EF4-FFF2-40B4-BE49-F238E27FC236}">
                <a16:creationId xmlns:a16="http://schemas.microsoft.com/office/drawing/2014/main" id="{9CA97BE8-1ED2-DFB2-890D-11E8391B7FC1}"/>
              </a:ext>
            </a:extLst>
          </p:cNvPr>
          <p:cNvGrpSpPr/>
          <p:nvPr/>
        </p:nvGrpSpPr>
        <p:grpSpPr>
          <a:xfrm>
            <a:off x="2171523" y="2215719"/>
            <a:ext cx="9432664" cy="3138199"/>
            <a:chOff x="1601248" y="2680334"/>
            <a:chExt cx="8850152" cy="3138199"/>
          </a:xfrm>
        </p:grpSpPr>
        <p:grpSp>
          <p:nvGrpSpPr>
            <p:cNvPr id="44" name="Group">
              <a:extLst>
                <a:ext uri="{FF2B5EF4-FFF2-40B4-BE49-F238E27FC236}">
                  <a16:creationId xmlns:a16="http://schemas.microsoft.com/office/drawing/2014/main" id="{D28951AE-72F0-AA4F-8BBE-A01B57F777CE}"/>
                </a:ext>
              </a:extLst>
            </p:cNvPr>
            <p:cNvGrpSpPr/>
            <p:nvPr/>
          </p:nvGrpSpPr>
          <p:grpSpPr>
            <a:xfrm>
              <a:off x="1601248" y="2680334"/>
              <a:ext cx="8005516" cy="1561773"/>
              <a:chOff x="0" y="326479"/>
              <a:chExt cx="16011027" cy="3123543"/>
            </a:xfrm>
          </p:grpSpPr>
          <p:sp>
            <p:nvSpPr>
              <p:cNvPr id="45" name="CPU 1">
                <a:extLst>
                  <a:ext uri="{FF2B5EF4-FFF2-40B4-BE49-F238E27FC236}">
                    <a16:creationId xmlns:a16="http://schemas.microsoft.com/office/drawing/2014/main" id="{C44283A3-14B9-4F48-B140-E2F448F47176}"/>
                  </a:ext>
                </a:extLst>
              </p:cNvPr>
              <p:cNvSpPr/>
              <p:nvPr/>
            </p:nvSpPr>
            <p:spPr>
              <a:xfrm>
                <a:off x="0" y="430659"/>
                <a:ext cx="6996899" cy="2227679"/>
              </a:xfrm>
              <a:prstGeom prst="rect">
                <a:avLst/>
              </a:prstGeom>
              <a:solidFill>
                <a:srgbClr val="516D7C"/>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lgn="l">
                  <a:defRPr b="0">
                    <a:solidFill>
                      <a:srgbClr val="FFFFFF"/>
                    </a:solidFill>
                    <a:latin typeface="Helvetica Light"/>
                    <a:ea typeface="Helvetica Light"/>
                    <a:cs typeface="Helvetica Light"/>
                    <a:sym typeface="Helvetica Light"/>
                  </a:defRPr>
                </a:lvl1pPr>
              </a:lstStyle>
              <a:p>
                <a:r>
                  <a:rPr sz="1400" dirty="0"/>
                  <a:t>CPU</a:t>
                </a:r>
                <a:r>
                  <a:rPr lang="en-US" sz="1400" dirty="0"/>
                  <a:t> 1</a:t>
                </a:r>
                <a:endParaRPr sz="1400" dirty="0"/>
              </a:p>
            </p:txBody>
          </p:sp>
          <p:sp>
            <p:nvSpPr>
              <p:cNvPr id="47" name="thread0()">
                <a:extLst>
                  <a:ext uri="{FF2B5EF4-FFF2-40B4-BE49-F238E27FC236}">
                    <a16:creationId xmlns:a16="http://schemas.microsoft.com/office/drawing/2014/main" id="{2D163110-8804-4C4F-AC94-2983B0DB297E}"/>
                  </a:ext>
                </a:extLst>
              </p:cNvPr>
              <p:cNvSpPr/>
              <p:nvPr/>
            </p:nvSpPr>
            <p:spPr>
              <a:xfrm>
                <a:off x="363536" y="1253934"/>
                <a:ext cx="2332254" cy="960919"/>
              </a:xfrm>
              <a:prstGeom prst="rect">
                <a:avLst/>
              </a:prstGeom>
              <a:solidFill>
                <a:srgbClr val="B4FCFD"/>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thread0()</a:t>
                </a:r>
              </a:p>
            </p:txBody>
          </p:sp>
          <p:sp>
            <p:nvSpPr>
              <p:cNvPr id="49" name="Main Memory">
                <a:extLst>
                  <a:ext uri="{FF2B5EF4-FFF2-40B4-BE49-F238E27FC236}">
                    <a16:creationId xmlns:a16="http://schemas.microsoft.com/office/drawing/2014/main" id="{15F491F7-3A90-6448-A43A-1CC3A010670C}"/>
                  </a:ext>
                </a:extLst>
              </p:cNvPr>
              <p:cNvSpPr/>
              <p:nvPr/>
            </p:nvSpPr>
            <p:spPr>
              <a:xfrm>
                <a:off x="8876106" y="359223"/>
                <a:ext cx="1785940" cy="2915695"/>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Main Memory</a:t>
                </a:r>
              </a:p>
            </p:txBody>
          </p:sp>
          <p:grpSp>
            <p:nvGrpSpPr>
              <p:cNvPr id="50" name="Group">
                <a:extLst>
                  <a:ext uri="{FF2B5EF4-FFF2-40B4-BE49-F238E27FC236}">
                    <a16:creationId xmlns:a16="http://schemas.microsoft.com/office/drawing/2014/main" id="{7DA54FA5-BD81-7B4E-BB1F-79830504C261}"/>
                  </a:ext>
                </a:extLst>
              </p:cNvPr>
              <p:cNvGrpSpPr/>
              <p:nvPr/>
            </p:nvGrpSpPr>
            <p:grpSpPr>
              <a:xfrm>
                <a:off x="2466902" y="1253935"/>
                <a:ext cx="6739604" cy="1315499"/>
                <a:chOff x="0" y="280981"/>
                <a:chExt cx="6739603" cy="1315499"/>
              </a:xfrm>
            </p:grpSpPr>
            <p:sp>
              <p:nvSpPr>
                <p:cNvPr id="63" name="CPU 1 Cache">
                  <a:extLst>
                    <a:ext uri="{FF2B5EF4-FFF2-40B4-BE49-F238E27FC236}">
                      <a16:creationId xmlns:a16="http://schemas.microsoft.com/office/drawing/2014/main" id="{5E9D27E1-5910-D14C-81C3-DDE2A5309E65}"/>
                    </a:ext>
                  </a:extLst>
                </p:cNvPr>
                <p:cNvSpPr/>
                <p:nvPr/>
              </p:nvSpPr>
              <p:spPr>
                <a:xfrm>
                  <a:off x="1343492" y="280981"/>
                  <a:ext cx="2951821" cy="960919"/>
                </a:xfrm>
                <a:prstGeom prst="rect">
                  <a:avLst/>
                </a:prstGeom>
                <a:solidFill>
                  <a:srgbClr val="96CBB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defRPr b="0">
                      <a:latin typeface="Helvetica Light"/>
                      <a:ea typeface="Helvetica Light"/>
                      <a:cs typeface="Helvetica Light"/>
                      <a:sym typeface="Helvetica Light"/>
                    </a:defRPr>
                  </a:lvl1pPr>
                </a:lstStyle>
                <a:p>
                  <a:r>
                    <a:rPr sz="1600" dirty="0">
                      <a:solidFill>
                        <a:schemeClr val="bg2">
                          <a:lumMod val="10000"/>
                        </a:schemeClr>
                      </a:solidFill>
                    </a:rPr>
                    <a:t>CPU 1 Cache</a:t>
                  </a:r>
                </a:p>
              </p:txBody>
            </p:sp>
            <p:grpSp>
              <p:nvGrpSpPr>
                <p:cNvPr id="76" name="Group">
                  <a:extLst>
                    <a:ext uri="{FF2B5EF4-FFF2-40B4-BE49-F238E27FC236}">
                      <a16:creationId xmlns:a16="http://schemas.microsoft.com/office/drawing/2014/main" id="{CA01C9CD-5B39-B044-816C-90DEC1E00A6C}"/>
                    </a:ext>
                  </a:extLst>
                </p:cNvPr>
                <p:cNvGrpSpPr/>
                <p:nvPr/>
              </p:nvGrpSpPr>
              <p:grpSpPr>
                <a:xfrm>
                  <a:off x="4230362" y="326479"/>
                  <a:ext cx="2509241" cy="1270001"/>
                  <a:chOff x="0" y="326479"/>
                  <a:chExt cx="2509238" cy="1270000"/>
                </a:xfrm>
              </p:grpSpPr>
              <p:sp>
                <p:nvSpPr>
                  <p:cNvPr id="77" name="Line">
                    <a:extLst>
                      <a:ext uri="{FF2B5EF4-FFF2-40B4-BE49-F238E27FC236}">
                        <a16:creationId xmlns:a16="http://schemas.microsoft.com/office/drawing/2014/main" id="{1D42CE66-FA2C-2A4B-B01F-3AA114EC0D09}"/>
                      </a:ext>
                    </a:extLst>
                  </p:cNvPr>
                  <p:cNvSpPr/>
                  <p:nvPr/>
                </p:nvSpPr>
                <p:spPr>
                  <a:xfrm>
                    <a:off x="0" y="571545"/>
                    <a:ext cx="2205969"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8" name="Line">
                    <a:extLst>
                      <a:ext uri="{FF2B5EF4-FFF2-40B4-BE49-F238E27FC236}">
                        <a16:creationId xmlns:a16="http://schemas.microsoft.com/office/drawing/2014/main" id="{09BE313C-67E4-FC43-9BA1-54C7F6358EB9}"/>
                      </a:ext>
                    </a:extLst>
                  </p:cNvPr>
                  <p:cNvSpPr/>
                  <p:nvPr/>
                </p:nvSpPr>
                <p:spPr>
                  <a:xfrm>
                    <a:off x="0" y="1000170"/>
                    <a:ext cx="2205969"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9" name="100ns">
                    <a:extLst>
                      <a:ext uri="{FF2B5EF4-FFF2-40B4-BE49-F238E27FC236}">
                        <a16:creationId xmlns:a16="http://schemas.microsoft.com/office/drawing/2014/main" id="{504F086F-92DB-374E-8ED7-0740686AA3B6}"/>
                      </a:ext>
                    </a:extLst>
                  </p:cNvPr>
                  <p:cNvSpPr/>
                  <p:nvPr/>
                </p:nvSpPr>
                <p:spPr>
                  <a:xfrm>
                    <a:off x="1239238" y="32647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a:solidFill>
                          <a:schemeClr val="bg2">
                            <a:lumMod val="10000"/>
                          </a:schemeClr>
                        </a:solidFill>
                      </a:rPr>
                      <a:t>100ns</a:t>
                    </a:r>
                  </a:p>
                </p:txBody>
              </p:sp>
            </p:grpSp>
            <p:grpSp>
              <p:nvGrpSpPr>
                <p:cNvPr id="68" name="Group">
                  <a:extLst>
                    <a:ext uri="{FF2B5EF4-FFF2-40B4-BE49-F238E27FC236}">
                      <a16:creationId xmlns:a16="http://schemas.microsoft.com/office/drawing/2014/main" id="{EAE5A875-AD9C-E943-B2BD-71091FE9EDAE}"/>
                    </a:ext>
                  </a:extLst>
                </p:cNvPr>
                <p:cNvGrpSpPr/>
                <p:nvPr/>
              </p:nvGrpSpPr>
              <p:grpSpPr>
                <a:xfrm>
                  <a:off x="0" y="326479"/>
                  <a:ext cx="2008787" cy="1270001"/>
                  <a:chOff x="0" y="326479"/>
                  <a:chExt cx="2008785" cy="1270000"/>
                </a:xfrm>
              </p:grpSpPr>
              <p:grpSp>
                <p:nvGrpSpPr>
                  <p:cNvPr id="69" name="Group">
                    <a:extLst>
                      <a:ext uri="{FF2B5EF4-FFF2-40B4-BE49-F238E27FC236}">
                        <a16:creationId xmlns:a16="http://schemas.microsoft.com/office/drawing/2014/main" id="{68646CCA-F4F9-5148-830B-99284A02BD69}"/>
                      </a:ext>
                    </a:extLst>
                  </p:cNvPr>
                  <p:cNvGrpSpPr/>
                  <p:nvPr/>
                </p:nvGrpSpPr>
                <p:grpSpPr>
                  <a:xfrm>
                    <a:off x="0" y="546455"/>
                    <a:ext cx="1477572" cy="287097"/>
                    <a:chOff x="0" y="0"/>
                    <a:chExt cx="1477571" cy="287095"/>
                  </a:xfrm>
                </p:grpSpPr>
                <p:sp>
                  <p:nvSpPr>
                    <p:cNvPr id="71" name="Line">
                      <a:extLst>
                        <a:ext uri="{FF2B5EF4-FFF2-40B4-BE49-F238E27FC236}">
                          <a16:creationId xmlns:a16="http://schemas.microsoft.com/office/drawing/2014/main" id="{89E3B08B-4B8C-8F4A-91E3-7002C7C1896B}"/>
                        </a:ext>
                      </a:extLst>
                    </p:cNvPr>
                    <p:cNvSpPr/>
                    <p:nvPr/>
                  </p:nvSpPr>
                  <p:spPr>
                    <a:xfrm>
                      <a:off x="0" y="0"/>
                      <a:ext cx="1477572" cy="0"/>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72" name="Line">
                      <a:extLst>
                        <a:ext uri="{FF2B5EF4-FFF2-40B4-BE49-F238E27FC236}">
                          <a16:creationId xmlns:a16="http://schemas.microsoft.com/office/drawing/2014/main" id="{7AF63D1B-E67E-F644-86B1-53D750A442BC}"/>
                        </a:ext>
                      </a:extLst>
                    </p:cNvPr>
                    <p:cNvSpPr/>
                    <p:nvPr/>
                  </p:nvSpPr>
                  <p:spPr>
                    <a:xfrm>
                      <a:off x="0" y="287095"/>
                      <a:ext cx="1477572"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grpSp>
              <p:sp>
                <p:nvSpPr>
                  <p:cNvPr id="70" name="7ns">
                    <a:extLst>
                      <a:ext uri="{FF2B5EF4-FFF2-40B4-BE49-F238E27FC236}">
                        <a16:creationId xmlns:a16="http://schemas.microsoft.com/office/drawing/2014/main" id="{A712BDBD-46F8-6148-8ECD-F7EDB780F7EA}"/>
                      </a:ext>
                    </a:extLst>
                  </p:cNvPr>
                  <p:cNvSpPr/>
                  <p:nvPr/>
                </p:nvSpPr>
                <p:spPr>
                  <a:xfrm>
                    <a:off x="738785" y="32647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a:solidFill>
                          <a:schemeClr val="bg2">
                            <a:lumMod val="10000"/>
                          </a:schemeClr>
                        </a:solidFill>
                      </a:rPr>
                      <a:t>7ns</a:t>
                    </a:r>
                  </a:p>
                </p:txBody>
              </p:sp>
            </p:grpSp>
          </p:grpSp>
          <p:grpSp>
            <p:nvGrpSpPr>
              <p:cNvPr id="51" name="Group">
                <a:extLst>
                  <a:ext uri="{FF2B5EF4-FFF2-40B4-BE49-F238E27FC236}">
                    <a16:creationId xmlns:a16="http://schemas.microsoft.com/office/drawing/2014/main" id="{0FC89C71-14F4-FB4E-803E-B42F61FF5EA9}"/>
                  </a:ext>
                </a:extLst>
              </p:cNvPr>
              <p:cNvGrpSpPr/>
              <p:nvPr/>
            </p:nvGrpSpPr>
            <p:grpSpPr>
              <a:xfrm>
                <a:off x="10763250" y="326479"/>
                <a:ext cx="5229913" cy="1387010"/>
                <a:chOff x="38774" y="326479"/>
                <a:chExt cx="5229912" cy="1387008"/>
              </a:xfrm>
            </p:grpSpPr>
            <p:sp>
              <p:nvSpPr>
                <p:cNvPr id="58" name="SSD">
                  <a:extLst>
                    <a:ext uri="{FF2B5EF4-FFF2-40B4-BE49-F238E27FC236}">
                      <a16:creationId xmlns:a16="http://schemas.microsoft.com/office/drawing/2014/main" id="{0EAF6096-CDDC-DF47-A423-1FFA17308BE2}"/>
                    </a:ext>
                  </a:extLst>
                </p:cNvPr>
                <p:cNvSpPr/>
                <p:nvPr/>
              </p:nvSpPr>
              <p:spPr>
                <a:xfrm>
                  <a:off x="2402164" y="752570"/>
                  <a:ext cx="2866524" cy="960919"/>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a:solidFill>
                        <a:schemeClr val="bg2">
                          <a:lumMod val="10000"/>
                        </a:schemeClr>
                      </a:solidFill>
                    </a:rPr>
                    <a:t>SSD</a:t>
                  </a:r>
                </a:p>
              </p:txBody>
            </p:sp>
            <p:grpSp>
              <p:nvGrpSpPr>
                <p:cNvPr id="59" name="Group">
                  <a:extLst>
                    <a:ext uri="{FF2B5EF4-FFF2-40B4-BE49-F238E27FC236}">
                      <a16:creationId xmlns:a16="http://schemas.microsoft.com/office/drawing/2014/main" id="{79FCB333-BB5A-5E40-AEE0-D340C8E61E36}"/>
                    </a:ext>
                  </a:extLst>
                </p:cNvPr>
                <p:cNvGrpSpPr/>
                <p:nvPr/>
              </p:nvGrpSpPr>
              <p:grpSpPr>
                <a:xfrm>
                  <a:off x="38774" y="326479"/>
                  <a:ext cx="5219225" cy="1270001"/>
                  <a:chOff x="38774" y="326479"/>
                  <a:chExt cx="5219223" cy="1270000"/>
                </a:xfrm>
              </p:grpSpPr>
              <p:sp>
                <p:nvSpPr>
                  <p:cNvPr id="60" name="Line">
                    <a:extLst>
                      <a:ext uri="{FF2B5EF4-FFF2-40B4-BE49-F238E27FC236}">
                        <a16:creationId xmlns:a16="http://schemas.microsoft.com/office/drawing/2014/main" id="{B4B50764-CA0F-7346-8A5C-93DBF96F6617}"/>
                      </a:ext>
                    </a:extLst>
                  </p:cNvPr>
                  <p:cNvSpPr/>
                  <p:nvPr/>
                </p:nvSpPr>
                <p:spPr>
                  <a:xfrm>
                    <a:off x="38774" y="1020623"/>
                    <a:ext cx="2205970" cy="1"/>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61" name="Line">
                    <a:extLst>
                      <a:ext uri="{FF2B5EF4-FFF2-40B4-BE49-F238E27FC236}">
                        <a16:creationId xmlns:a16="http://schemas.microsoft.com/office/drawing/2014/main" id="{030C2544-089C-0F47-8C36-C71C58B0C2AB}"/>
                      </a:ext>
                    </a:extLst>
                  </p:cNvPr>
                  <p:cNvSpPr/>
                  <p:nvPr/>
                </p:nvSpPr>
                <p:spPr>
                  <a:xfrm>
                    <a:off x="38774" y="1449248"/>
                    <a:ext cx="2205970" cy="1"/>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62" name="150,000ns (just to read 4KB)">
                    <a:extLst>
                      <a:ext uri="{FF2B5EF4-FFF2-40B4-BE49-F238E27FC236}">
                        <a16:creationId xmlns:a16="http://schemas.microsoft.com/office/drawing/2014/main" id="{9325D6D0-9B33-A049-BD49-8B265CC162CA}"/>
                      </a:ext>
                    </a:extLst>
                  </p:cNvPr>
                  <p:cNvSpPr/>
                  <p:nvPr/>
                </p:nvSpPr>
                <p:spPr>
                  <a:xfrm>
                    <a:off x="3987998" y="326479"/>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dirty="0">
                        <a:solidFill>
                          <a:schemeClr val="bg2">
                            <a:lumMod val="10000"/>
                          </a:schemeClr>
                        </a:solidFill>
                      </a:rPr>
                      <a:t>150,000ns (just to read 4KB)</a:t>
                    </a:r>
                  </a:p>
                </p:txBody>
              </p:sp>
            </p:grpSp>
          </p:grpSp>
          <p:grpSp>
            <p:nvGrpSpPr>
              <p:cNvPr id="52" name="Group">
                <a:extLst>
                  <a:ext uri="{FF2B5EF4-FFF2-40B4-BE49-F238E27FC236}">
                    <a16:creationId xmlns:a16="http://schemas.microsoft.com/office/drawing/2014/main" id="{26D7B826-7CEA-A446-93AF-8D2CE3AD544B}"/>
                  </a:ext>
                </a:extLst>
              </p:cNvPr>
              <p:cNvGrpSpPr/>
              <p:nvPr/>
            </p:nvGrpSpPr>
            <p:grpSpPr>
              <a:xfrm>
                <a:off x="10763250" y="2063010"/>
                <a:ext cx="5247777" cy="1387012"/>
                <a:chOff x="83728" y="-1201900"/>
                <a:chExt cx="5247775" cy="1387011"/>
              </a:xfrm>
            </p:grpSpPr>
            <p:sp>
              <p:nvSpPr>
                <p:cNvPr id="53" name="Magnetic HD">
                  <a:extLst>
                    <a:ext uri="{FF2B5EF4-FFF2-40B4-BE49-F238E27FC236}">
                      <a16:creationId xmlns:a16="http://schemas.microsoft.com/office/drawing/2014/main" id="{887EC307-138E-334D-9544-EEE537956F47}"/>
                    </a:ext>
                  </a:extLst>
                </p:cNvPr>
                <p:cNvSpPr/>
                <p:nvPr/>
              </p:nvSpPr>
              <p:spPr>
                <a:xfrm>
                  <a:off x="2464979" y="-775809"/>
                  <a:ext cx="2866524" cy="960920"/>
                </a:xfrm>
                <a:prstGeom prst="rect">
                  <a:avLst/>
                </a:prstGeom>
                <a:solidFill>
                  <a:srgbClr val="EE7D69"/>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ctr">
                  <a:noAutofit/>
                </a:bodyPr>
                <a:lstStyle>
                  <a:lvl1pPr>
                    <a:defRPr b="0">
                      <a:latin typeface="Helvetica Light"/>
                      <a:ea typeface="Helvetica Light"/>
                      <a:cs typeface="Helvetica Light"/>
                      <a:sym typeface="Helvetica Light"/>
                    </a:defRPr>
                  </a:lvl1pPr>
                </a:lstStyle>
                <a:p>
                  <a:r>
                    <a:rPr sz="1600">
                      <a:solidFill>
                        <a:schemeClr val="bg2">
                          <a:lumMod val="10000"/>
                        </a:schemeClr>
                      </a:solidFill>
                    </a:rPr>
                    <a:t>Magnetic HD</a:t>
                  </a:r>
                </a:p>
              </p:txBody>
            </p:sp>
            <p:grpSp>
              <p:nvGrpSpPr>
                <p:cNvPr id="54" name="Group">
                  <a:extLst>
                    <a:ext uri="{FF2B5EF4-FFF2-40B4-BE49-F238E27FC236}">
                      <a16:creationId xmlns:a16="http://schemas.microsoft.com/office/drawing/2014/main" id="{ECC30FC0-871B-8043-BFC0-389A7353B08D}"/>
                    </a:ext>
                  </a:extLst>
                </p:cNvPr>
                <p:cNvGrpSpPr/>
                <p:nvPr/>
              </p:nvGrpSpPr>
              <p:grpSpPr>
                <a:xfrm>
                  <a:off x="83728" y="-1201900"/>
                  <a:ext cx="5227851" cy="1270003"/>
                  <a:chOff x="83728" y="-1201899"/>
                  <a:chExt cx="5227849" cy="1270002"/>
                </a:xfrm>
              </p:grpSpPr>
              <p:sp>
                <p:nvSpPr>
                  <p:cNvPr id="55" name="Line">
                    <a:extLst>
                      <a:ext uri="{FF2B5EF4-FFF2-40B4-BE49-F238E27FC236}">
                        <a16:creationId xmlns:a16="http://schemas.microsoft.com/office/drawing/2014/main" id="{6179BC15-F03B-7445-98CA-4DBC78F241E7}"/>
                      </a:ext>
                    </a:extLst>
                  </p:cNvPr>
                  <p:cNvSpPr/>
                  <p:nvPr/>
                </p:nvSpPr>
                <p:spPr>
                  <a:xfrm>
                    <a:off x="83728" y="-507753"/>
                    <a:ext cx="2205970" cy="2"/>
                  </a:xfrm>
                  <a:prstGeom prst="line">
                    <a:avLst/>
                  </a:prstGeom>
                  <a:noFill/>
                  <a:ln w="25400" cap="flat">
                    <a:solidFill>
                      <a:srgbClr val="000000"/>
                    </a:solidFill>
                    <a:prstDash val="solid"/>
                    <a:miter lim="400000"/>
                    <a:tail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56" name="Line">
                    <a:extLst>
                      <a:ext uri="{FF2B5EF4-FFF2-40B4-BE49-F238E27FC236}">
                        <a16:creationId xmlns:a16="http://schemas.microsoft.com/office/drawing/2014/main" id="{B40C6026-6B48-B84F-B094-67D05B989047}"/>
                      </a:ext>
                    </a:extLst>
                  </p:cNvPr>
                  <p:cNvSpPr/>
                  <p:nvPr/>
                </p:nvSpPr>
                <p:spPr>
                  <a:xfrm>
                    <a:off x="83728" y="-79130"/>
                    <a:ext cx="2205970" cy="2"/>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57" name="10,000,000ns (just to seek!)">
                    <a:extLst>
                      <a:ext uri="{FF2B5EF4-FFF2-40B4-BE49-F238E27FC236}">
                        <a16:creationId xmlns:a16="http://schemas.microsoft.com/office/drawing/2014/main" id="{C3FBAB01-6491-AF49-AAA2-2C03731227D2}"/>
                      </a:ext>
                    </a:extLst>
                  </p:cNvPr>
                  <p:cNvSpPr/>
                  <p:nvPr/>
                </p:nvSpPr>
                <p:spPr>
                  <a:xfrm>
                    <a:off x="4041576" y="-1201899"/>
                    <a:ext cx="1270001" cy="1270002"/>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5719" tIns="35719" rIns="35719" bIns="35719" numCol="1" anchor="ctr">
                    <a:spAutoFit/>
                  </a:bodyPr>
                  <a:lstStyle>
                    <a:lvl1pPr>
                      <a:defRPr sz="4000" b="0">
                        <a:latin typeface="Consolas"/>
                        <a:ea typeface="Consolas"/>
                        <a:cs typeface="Consolas"/>
                        <a:sym typeface="Consolas"/>
                      </a:defRPr>
                    </a:lvl1pPr>
                  </a:lstStyle>
                  <a:p>
                    <a:r>
                      <a:rPr sz="2000" dirty="0">
                        <a:solidFill>
                          <a:schemeClr val="bg2">
                            <a:lumMod val="10000"/>
                          </a:schemeClr>
                        </a:solidFill>
                      </a:rPr>
                      <a:t>10,000,000ns (just to seek!)</a:t>
                    </a:r>
                  </a:p>
                </p:txBody>
              </p:sp>
            </p:grpSp>
          </p:grpSp>
        </p:grpSp>
        <p:sp>
          <p:nvSpPr>
            <p:cNvPr id="85" name="CPU 1">
              <a:extLst>
                <a:ext uri="{FF2B5EF4-FFF2-40B4-BE49-F238E27FC236}">
                  <a16:creationId xmlns:a16="http://schemas.microsoft.com/office/drawing/2014/main" id="{708F2F5E-4319-B74F-82E2-80860EDE1BA8}"/>
                </a:ext>
              </a:extLst>
            </p:cNvPr>
            <p:cNvSpPr/>
            <p:nvPr/>
          </p:nvSpPr>
          <p:spPr>
            <a:xfrm>
              <a:off x="5483209" y="5271139"/>
              <a:ext cx="2005158" cy="547394"/>
            </a:xfrm>
            <a:prstGeom prst="rect">
              <a:avLst/>
            </a:prstGeom>
            <a:solidFill>
              <a:srgbClr val="516D7C"/>
            </a:solidFill>
            <a:ln w="12700" cap="flat">
              <a:noFill/>
              <a:miter lim="400000"/>
            </a:ln>
            <a:effectLst>
              <a:outerShdw blurRad="50800" dist="25400" dir="5400000" rotWithShape="0">
                <a:srgbClr val="000000">
                  <a:alpha val="5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5719" tIns="35719" rIns="35719" bIns="35719" numCol="1" anchor="t">
              <a:noAutofit/>
            </a:bodyPr>
            <a:lstStyle>
              <a:lvl1pPr algn="l">
                <a:defRPr b="0">
                  <a:solidFill>
                    <a:srgbClr val="FFFFFF"/>
                  </a:solidFill>
                  <a:latin typeface="Helvetica Light"/>
                  <a:ea typeface="Helvetica Light"/>
                  <a:cs typeface="Helvetica Light"/>
                  <a:sym typeface="Helvetica Light"/>
                </a:defRPr>
              </a:lvl1pPr>
            </a:lstStyle>
            <a:p>
              <a:pPr algn="ctr"/>
              <a:r>
                <a:rPr lang="en-US" sz="1600" dirty="0"/>
                <a:t>Remote Computer (Internet in between)</a:t>
              </a:r>
              <a:endParaRPr sz="1600" dirty="0"/>
            </a:p>
          </p:txBody>
        </p:sp>
        <p:sp>
          <p:nvSpPr>
            <p:cNvPr id="86" name="Line">
              <a:extLst>
                <a:ext uri="{FF2B5EF4-FFF2-40B4-BE49-F238E27FC236}">
                  <a16:creationId xmlns:a16="http://schemas.microsoft.com/office/drawing/2014/main" id="{0AC42634-E149-064A-83E6-ED7D43BA6518}"/>
                </a:ext>
              </a:extLst>
            </p:cNvPr>
            <p:cNvSpPr/>
            <p:nvPr/>
          </p:nvSpPr>
          <p:spPr>
            <a:xfrm flipV="1">
              <a:off x="6352115" y="4154555"/>
              <a:ext cx="4389" cy="1113840"/>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87" name="Line">
              <a:extLst>
                <a:ext uri="{FF2B5EF4-FFF2-40B4-BE49-F238E27FC236}">
                  <a16:creationId xmlns:a16="http://schemas.microsoft.com/office/drawing/2014/main" id="{BF898E9F-2960-EC4D-94DC-36C091B62C39}"/>
                </a:ext>
              </a:extLst>
            </p:cNvPr>
            <p:cNvSpPr/>
            <p:nvPr/>
          </p:nvSpPr>
          <p:spPr>
            <a:xfrm>
              <a:off x="6544272" y="4154555"/>
              <a:ext cx="0" cy="1113840"/>
            </a:xfrm>
            <a:prstGeom prst="line">
              <a:avLst/>
            </a:prstGeom>
            <a:noFill/>
            <a:ln w="25400" cap="flat">
              <a:solidFill>
                <a:srgbClr val="000000"/>
              </a:solidFill>
              <a:prstDash val="solid"/>
              <a:miter lim="400000"/>
              <a:headEnd type="triangle" w="med" len="med"/>
            </a:ln>
            <a:effectLst/>
          </p:spPr>
          <p:txBody>
            <a:bodyPr wrap="square" lIns="35719" tIns="35719" rIns="35719" bIns="35719" numCol="1" anchor="ctr">
              <a:noAutofit/>
            </a:bodyPr>
            <a:lstStyle/>
            <a:p>
              <a:pPr>
                <a:defRPr b="0">
                  <a:latin typeface="Helvetica Light"/>
                  <a:ea typeface="Helvetica Light"/>
                  <a:cs typeface="Helvetica Light"/>
                  <a:sym typeface="Helvetica Light"/>
                </a:defRPr>
              </a:pPr>
              <a:endParaRPr sz="800"/>
            </a:p>
          </p:txBody>
        </p:sp>
        <p:sp>
          <p:nvSpPr>
            <p:cNvPr id="89" name="TextBox 88">
              <a:extLst>
                <a:ext uri="{FF2B5EF4-FFF2-40B4-BE49-F238E27FC236}">
                  <a16:creationId xmlns:a16="http://schemas.microsoft.com/office/drawing/2014/main" id="{7B5E046B-2A36-564E-BE8A-235D40FF9BD3}"/>
                </a:ext>
              </a:extLst>
            </p:cNvPr>
            <p:cNvSpPr txBox="1"/>
            <p:nvPr/>
          </p:nvSpPr>
          <p:spPr>
            <a:xfrm>
              <a:off x="6697659" y="4335500"/>
              <a:ext cx="3753741" cy="101566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2000" dirty="0">
                  <a:solidFill>
                    <a:schemeClr val="bg2">
                      <a:lumMod val="10000"/>
                    </a:schemeClr>
                  </a:solidFill>
                </a:rPr>
                <a:t>~100,000,000ns</a:t>
              </a:r>
            </a:p>
            <a:p>
              <a:pPr algn="l"/>
              <a:r>
                <a:rPr lang="en-US" sz="2000" dirty="0">
                  <a:solidFill>
                    <a:schemeClr val="bg2">
                      <a:lumMod val="10000"/>
                    </a:schemeClr>
                  </a:solidFill>
                </a:rPr>
                <a:t>Earth to moon: ~16,000,000 inches</a:t>
              </a:r>
            </a:p>
          </p:txBody>
        </p:sp>
      </p:grpSp>
      <p:sp>
        <p:nvSpPr>
          <p:cNvPr id="90" name="Typical Java Example">
            <a:extLst>
              <a:ext uri="{FF2B5EF4-FFF2-40B4-BE49-F238E27FC236}">
                <a16:creationId xmlns:a16="http://schemas.microsoft.com/office/drawing/2014/main" id="{8BE3D08A-63B0-9D43-82C7-497A8FE3CC61}"/>
              </a:ext>
            </a:extLst>
          </p:cNvPr>
          <p:cNvSpPr txBox="1">
            <a:spLocks/>
          </p:cNvSpPr>
          <p:nvPr/>
        </p:nvSpPr>
        <p:spPr>
          <a:xfrm>
            <a:off x="870031" y="1000578"/>
            <a:ext cx="10985500" cy="467390"/>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normAutofit/>
          </a:bodyPr>
          <a:lstStyle>
            <a:lvl1pPr marL="3048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1pPr>
            <a:lvl2pPr marL="6096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2pPr>
            <a:lvl3pPr marL="9144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3pPr>
            <a:lvl4pPr marL="12192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4pPr>
            <a:lvl5pPr marL="15240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5pPr>
            <a:lvl6pPr marL="18288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6pPr>
            <a:lvl7pPr marL="21336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7pPr>
            <a:lvl8pPr marL="24384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8pPr>
            <a:lvl9pPr marL="2743200" marR="0" indent="-304800" algn="l" defTabSz="1219169" rtl="0" latinLnBrk="0">
              <a:lnSpc>
                <a:spcPct val="90000"/>
              </a:lnSpc>
              <a:spcBef>
                <a:spcPts val="2250"/>
              </a:spcBef>
              <a:spcAft>
                <a:spcPts val="0"/>
              </a:spcAft>
              <a:buClrTx/>
              <a:buSzPct val="123000"/>
              <a:buFontTx/>
              <a:buChar char="•"/>
              <a:tabLst/>
              <a:defRPr sz="2400" b="0" i="0" u="none" strike="noStrike" cap="none" spc="0" baseline="0">
                <a:solidFill>
                  <a:srgbClr val="000000"/>
                </a:solidFill>
                <a:uFillTx/>
                <a:latin typeface="+mn-lt"/>
                <a:ea typeface="+mn-ea"/>
                <a:cs typeface="+mn-cs"/>
                <a:sym typeface="Helvetica Neue"/>
              </a:defRPr>
            </a:lvl9pPr>
          </a:lstStyle>
          <a:p>
            <a:pPr marL="0" indent="0" hangingPunct="1">
              <a:buNone/>
            </a:pPr>
            <a:endParaRPr lang="en-US" dirty="0"/>
          </a:p>
        </p:txBody>
      </p:sp>
      <p:sp>
        <p:nvSpPr>
          <p:cNvPr id="7" name="Text Placeholder 2">
            <a:extLst>
              <a:ext uri="{FF2B5EF4-FFF2-40B4-BE49-F238E27FC236}">
                <a16:creationId xmlns:a16="http://schemas.microsoft.com/office/drawing/2014/main" id="{D04E28F1-8A9A-1F7F-3A64-3130A6130F08}"/>
              </a:ext>
            </a:extLst>
          </p:cNvPr>
          <p:cNvSpPr txBox="1">
            <a:spLocks/>
          </p:cNvSpPr>
          <p:nvPr/>
        </p:nvSpPr>
        <p:spPr>
          <a:xfrm>
            <a:off x="378738" y="4471620"/>
            <a:ext cx="5597525" cy="41275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1800" dirty="0"/>
          </a:p>
        </p:txBody>
      </p:sp>
    </p:spTree>
    <p:extLst>
      <p:ext uri="{BB962C8B-B14F-4D97-AF65-F5344CB8AC3E}">
        <p14:creationId xmlns:p14="http://schemas.microsoft.com/office/powerpoint/2010/main" val="1169116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nodePh="1">
                                  <p:stCondLst>
                                    <p:cond delay="0"/>
                                  </p:stCondLst>
                                  <p:endCondLst>
                                    <p:cond evt="begin" delay="0">
                                      <p:tn val="5"/>
                                    </p:cond>
                                  </p:end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616869" y="1465264"/>
            <a:ext cx="8958263" cy="3172998"/>
          </a:xfrm>
        </p:spPr>
        <p:txBody>
          <a:bodyPr>
            <a:normAutofit/>
          </a:bodyPr>
          <a:lstStyle/>
          <a:p>
            <a:r>
              <a:rPr lang="en-US" sz="3600" dirty="0"/>
              <a:t>Typescript/</a:t>
            </a:r>
            <a:r>
              <a:rPr lang="en-US" sz="3600" dirty="0" err="1"/>
              <a:t>Javascript</a:t>
            </a:r>
            <a:r>
              <a:rPr lang="en-US" sz="3600" dirty="0"/>
              <a:t> achieves this goal using two techniques:</a:t>
            </a:r>
            <a:br>
              <a:rPr lang="en-US" sz="3600" dirty="0"/>
            </a:br>
            <a:r>
              <a:rPr lang="en-US" sz="3600" dirty="0"/>
              <a:t> </a:t>
            </a:r>
            <a:br>
              <a:rPr lang="en-US" sz="3600" dirty="0"/>
            </a:br>
            <a:r>
              <a:rPr lang="en-US" sz="3600" dirty="0"/>
              <a:t>1. cooperative multiprocessing </a:t>
            </a:r>
            <a:br>
              <a:rPr lang="en-US" sz="3600" dirty="0"/>
            </a:br>
            <a:r>
              <a:rPr lang="en-US" sz="3600" dirty="0"/>
              <a:t> </a:t>
            </a:r>
            <a:br>
              <a:rPr lang="en-US" sz="3600" dirty="0"/>
            </a:br>
            <a:r>
              <a:rPr lang="en-US" sz="3600" dirty="0"/>
              <a:t>2. non-blocking IO</a:t>
            </a:r>
          </a:p>
        </p:txBody>
      </p:sp>
    </p:spTree>
    <p:extLst>
      <p:ext uri="{BB962C8B-B14F-4D97-AF65-F5344CB8AC3E}">
        <p14:creationId xmlns:p14="http://schemas.microsoft.com/office/powerpoint/2010/main" val="29120012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err="1"/>
              <a:t>Javascript</a:t>
            </a:r>
            <a:r>
              <a:rPr lang="en-US" dirty="0"/>
              <a:t>/Typescript uses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a:t>
            </a:r>
          </a:p>
          <a:p>
            <a:r>
              <a:rPr lang="en-US" dirty="0"/>
              <a:t>To make this practical (and avoid cheating!), we need a programming model that encourages this behavior</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C1908-58CA-47C6-5C4A-CE7041555344}"/>
              </a:ext>
            </a:extLst>
          </p:cNvPr>
          <p:cNvSpPr>
            <a:spLocks noGrp="1"/>
          </p:cNvSpPr>
          <p:nvPr>
            <p:ph type="title"/>
          </p:nvPr>
        </p:nvSpPr>
        <p:spPr/>
        <p:txBody>
          <a:bodyPr/>
          <a:lstStyle/>
          <a:p>
            <a:r>
              <a:rPr lang="en-US" b="1" dirty="0"/>
              <a:t>async/await</a:t>
            </a:r>
            <a:r>
              <a:rPr lang="en-US" dirty="0"/>
              <a:t> is a programming model for cooperative multiprocessing</a:t>
            </a:r>
          </a:p>
        </p:txBody>
      </p:sp>
      <p:sp>
        <p:nvSpPr>
          <p:cNvPr id="3" name="Content Placeholder 2">
            <a:extLst>
              <a:ext uri="{FF2B5EF4-FFF2-40B4-BE49-F238E27FC236}">
                <a16:creationId xmlns:a16="http://schemas.microsoft.com/office/drawing/2014/main" id="{C5A2B572-0791-29A3-3ABE-73504FAE7FC9}"/>
              </a:ext>
            </a:extLst>
          </p:cNvPr>
          <p:cNvSpPr>
            <a:spLocks noGrp="1"/>
          </p:cNvSpPr>
          <p:nvPr>
            <p:ph idx="1"/>
          </p:nvPr>
        </p:nvSpPr>
        <p:spPr/>
        <p:txBody>
          <a:bodyPr>
            <a:normAutofit lnSpcReduction="10000"/>
          </a:bodyPr>
          <a:lstStyle/>
          <a:p>
            <a:r>
              <a:rPr lang="en-US" dirty="0"/>
              <a:t>In async/await, the program is organized into a set of "async functions“</a:t>
            </a:r>
          </a:p>
          <a:p>
            <a:r>
              <a:rPr lang="en-US" dirty="0"/>
              <a:t>An async function is like an ordinary function, except that it may be executed by </a:t>
            </a:r>
            <a:r>
              <a:rPr lang="en-US" dirty="0" err="1"/>
              <a:t>webAPI</a:t>
            </a:r>
            <a:r>
              <a:rPr lang="en-US" dirty="0"/>
              <a:t> or the browser</a:t>
            </a:r>
          </a:p>
          <a:p>
            <a:r>
              <a:rPr lang="en-US" dirty="0"/>
              <a:t>If you await on async function, it can pause the execution until async function is completed. This is also known as a ‘promise’. We will show you those with an example.</a:t>
            </a:r>
          </a:p>
          <a:p>
            <a:r>
              <a:rPr lang="en-US" dirty="0"/>
              <a:t>When one program pauses, the runtime can choose to resume executing any process that is ready to run. </a:t>
            </a:r>
          </a:p>
        </p:txBody>
      </p:sp>
      <p:sp>
        <p:nvSpPr>
          <p:cNvPr id="4" name="Slide Number Placeholder 3">
            <a:extLst>
              <a:ext uri="{FF2B5EF4-FFF2-40B4-BE49-F238E27FC236}">
                <a16:creationId xmlns:a16="http://schemas.microsoft.com/office/drawing/2014/main" id="{39BC67CE-EBDD-3E49-7B69-2C19B45AC4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62121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B6FF2-D7E9-5798-4A7B-8CC815E92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B1FB9-6229-BC24-7548-3E614A7B2BE7}"/>
              </a:ext>
            </a:extLst>
          </p:cNvPr>
          <p:cNvSpPr>
            <a:spLocks noGrp="1"/>
          </p:cNvSpPr>
          <p:nvPr>
            <p:ph type="title"/>
          </p:nvPr>
        </p:nvSpPr>
        <p:spPr/>
        <p:txBody>
          <a:bodyPr/>
          <a:lstStyle/>
          <a:p>
            <a:r>
              <a:rPr lang="en-US" dirty="0"/>
              <a:t>How does JS Event Loop make this happen?</a:t>
            </a:r>
          </a:p>
        </p:txBody>
      </p:sp>
      <p:sp>
        <p:nvSpPr>
          <p:cNvPr id="4" name="Slide Number Placeholder 3">
            <a:extLst>
              <a:ext uri="{FF2B5EF4-FFF2-40B4-BE49-F238E27FC236}">
                <a16:creationId xmlns:a16="http://schemas.microsoft.com/office/drawing/2014/main" id="{EA3A904D-F20A-D34F-4524-7477EE34E62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2B28A1BC-D08D-6A8C-D1F1-3D3620D33AC2}"/>
              </a:ext>
            </a:extLst>
          </p:cNvPr>
          <p:cNvSpPr txBox="1">
            <a:spLocks/>
          </p:cNvSpPr>
          <p:nvPr/>
        </p:nvSpPr>
        <p:spPr>
          <a:xfrm>
            <a:off x="838200" y="1691623"/>
            <a:ext cx="4659086" cy="4261916"/>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err="1"/>
              <a:t>WebAPI</a:t>
            </a:r>
            <a:r>
              <a:rPr lang="en-US" dirty="0"/>
              <a:t> are often used for asynchronous tasks</a:t>
            </a:r>
          </a:p>
          <a:p>
            <a:r>
              <a:rPr lang="en-US" dirty="0"/>
              <a:t>Queues are used for “await”-</a:t>
            </a:r>
            <a:r>
              <a:rPr lang="en-US" dirty="0" err="1"/>
              <a:t>ing</a:t>
            </a:r>
            <a:r>
              <a:rPr lang="en-US" dirty="0"/>
              <a:t> tasks</a:t>
            </a:r>
          </a:p>
          <a:p>
            <a:r>
              <a:rPr lang="en-US" dirty="0"/>
              <a:t>When call stack gets </a:t>
            </a:r>
            <a:r>
              <a:rPr lang="en-US" dirty="0">
                <a:solidFill>
                  <a:srgbClr val="FF0000"/>
                </a:solidFill>
              </a:rPr>
              <a:t>empty</a:t>
            </a:r>
            <a:r>
              <a:rPr lang="en-US" dirty="0"/>
              <a:t>, event loop picks up tasks from Callback Queue</a:t>
            </a:r>
          </a:p>
          <a:p>
            <a:r>
              <a:rPr lang="en-US" dirty="0"/>
              <a:t>Microtask queue has priority over microtask queue</a:t>
            </a:r>
          </a:p>
        </p:txBody>
      </p:sp>
      <p:pic>
        <p:nvPicPr>
          <p:cNvPr id="1030" name="Picture 6">
            <a:extLst>
              <a:ext uri="{FF2B5EF4-FFF2-40B4-BE49-F238E27FC236}">
                <a16:creationId xmlns:a16="http://schemas.microsoft.com/office/drawing/2014/main" id="{BD18DA11-1A64-B2DC-B906-FF4A98FDE87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3386" y="1892300"/>
            <a:ext cx="6094427" cy="307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26907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95FEC-6821-6977-2431-C067695AC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6CF76-DB57-9E39-882E-43FBB293B9AB}"/>
              </a:ext>
            </a:extLst>
          </p:cNvPr>
          <p:cNvSpPr>
            <a:spLocks noGrp="1"/>
          </p:cNvSpPr>
          <p:nvPr>
            <p:ph type="title"/>
          </p:nvPr>
        </p:nvSpPr>
        <p:spPr/>
        <p:txBody>
          <a:bodyPr/>
          <a:lstStyle/>
          <a:p>
            <a:r>
              <a:rPr lang="en-US" b="1" dirty="0"/>
              <a:t>Run to Completion </a:t>
            </a:r>
            <a:r>
              <a:rPr lang="en-US" dirty="0"/>
              <a:t>is a central concept</a:t>
            </a:r>
          </a:p>
        </p:txBody>
      </p:sp>
      <p:sp>
        <p:nvSpPr>
          <p:cNvPr id="3" name="Content Placeholder 2">
            <a:extLst>
              <a:ext uri="{FF2B5EF4-FFF2-40B4-BE49-F238E27FC236}">
                <a16:creationId xmlns:a16="http://schemas.microsoft.com/office/drawing/2014/main" id="{3538D3B6-EF06-E264-4B6F-5ECA254C9BD9}"/>
              </a:ext>
            </a:extLst>
          </p:cNvPr>
          <p:cNvSpPr>
            <a:spLocks noGrp="1"/>
          </p:cNvSpPr>
          <p:nvPr>
            <p:ph idx="1"/>
          </p:nvPr>
        </p:nvSpPr>
        <p:spPr/>
        <p:txBody>
          <a:bodyPr>
            <a:normAutofit lnSpcReduction="10000"/>
          </a:bodyPr>
          <a:lstStyle/>
          <a:p>
            <a:r>
              <a:rPr lang="en-US" dirty="0"/>
              <a:t>In JS, you work on one and one task only (i.e., event loop has a single call stack)</a:t>
            </a:r>
          </a:p>
          <a:p>
            <a:r>
              <a:rPr lang="en-US" dirty="0"/>
              <a:t>Also, if you start a task, you must finish it (i.e., call stack must be emptied) before you start another task.</a:t>
            </a:r>
          </a:p>
          <a:p>
            <a:r>
              <a:rPr lang="en-US" dirty="0"/>
              <a:t>The pattern we've just talked about is called "run-to-completion" semantics, because a pause point corresponds exactly to the end of one of these units of work</a:t>
            </a:r>
          </a:p>
          <a:p>
            <a:r>
              <a:rPr lang="en-US" dirty="0"/>
              <a:t>You can do lots of different things with promises.</a:t>
            </a:r>
          </a:p>
          <a:p>
            <a:r>
              <a:rPr lang="en-US" dirty="0"/>
              <a:t>Let's look some typical patterns.</a:t>
            </a:r>
          </a:p>
        </p:txBody>
      </p:sp>
      <p:sp>
        <p:nvSpPr>
          <p:cNvPr id="4" name="Slide Number Placeholder 3">
            <a:extLst>
              <a:ext uri="{FF2B5EF4-FFF2-40B4-BE49-F238E27FC236}">
                <a16:creationId xmlns:a16="http://schemas.microsoft.com/office/drawing/2014/main" id="{B94B5527-A2AF-C396-DB8A-CD99C811F1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25112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6BC9-D17A-04C0-6494-8EC9E3BDD202}"/>
              </a:ext>
            </a:extLst>
          </p:cNvPr>
          <p:cNvSpPr>
            <a:spLocks noGrp="1"/>
          </p:cNvSpPr>
          <p:nvPr>
            <p:ph type="title"/>
          </p:nvPr>
        </p:nvSpPr>
        <p:spPr/>
        <p:txBody>
          <a:bodyPr/>
          <a:lstStyle/>
          <a:p>
            <a:r>
              <a:rPr lang="en-US" dirty="0"/>
              <a:t>A typical async function</a:t>
            </a:r>
          </a:p>
        </p:txBody>
      </p:sp>
      <p:sp>
        <p:nvSpPr>
          <p:cNvPr id="4" name="Slide Number Placeholder 3">
            <a:extLst>
              <a:ext uri="{FF2B5EF4-FFF2-40B4-BE49-F238E27FC236}">
                <a16:creationId xmlns:a16="http://schemas.microsoft.com/office/drawing/2014/main" id="{B547F1A3-4AF0-248D-8B15-63E6DEE8CE1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A9CEBD37-F784-A140-E148-C38031ACAC3B}"/>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5611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4E37-B77C-9C4E-D129-5600BEF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C7B646-E7C9-1ECF-A13D-7C617B073950}"/>
              </a:ext>
            </a:extLst>
          </p:cNvPr>
          <p:cNvSpPr>
            <a:spLocks noGrp="1"/>
          </p:cNvSpPr>
          <p:nvPr>
            <p:ph type="title"/>
          </p:nvPr>
        </p:nvSpPr>
        <p:spPr/>
        <p:txBody>
          <a:bodyPr/>
          <a:lstStyle/>
          <a:p>
            <a:r>
              <a:rPr lang="en-US" dirty="0"/>
              <a:t>An async function can only pause in two places</a:t>
            </a:r>
          </a:p>
        </p:txBody>
      </p:sp>
      <p:sp>
        <p:nvSpPr>
          <p:cNvPr id="4" name="Slide Number Placeholder 3">
            <a:extLst>
              <a:ext uri="{FF2B5EF4-FFF2-40B4-BE49-F238E27FC236}">
                <a16:creationId xmlns:a16="http://schemas.microsoft.com/office/drawing/2014/main" id="{00BB5638-3499-FC92-7DE1-50A479596E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480AB355-7D55-D6A3-81E9-2B286F62CD44}"/>
              </a:ext>
            </a:extLst>
          </p:cNvPr>
          <p:cNvGrpSpPr/>
          <p:nvPr/>
        </p:nvGrpSpPr>
        <p:grpSpPr>
          <a:xfrm>
            <a:off x="838201" y="1828800"/>
            <a:ext cx="8308888" cy="3046988"/>
            <a:chOff x="838201" y="1828800"/>
            <a:chExt cx="8308888" cy="3046988"/>
          </a:xfrm>
        </p:grpSpPr>
        <p:sp>
          <p:nvSpPr>
            <p:cNvPr id="6" name="TextBox 5">
              <a:extLst>
                <a:ext uri="{FF2B5EF4-FFF2-40B4-BE49-F238E27FC236}">
                  <a16:creationId xmlns:a16="http://schemas.microsoft.com/office/drawing/2014/main" id="{8E901E3E-3BD3-D61C-AF10-3804D308DE16}"/>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3" name="Rectangle 2">
              <a:extLst>
                <a:ext uri="{FF2B5EF4-FFF2-40B4-BE49-F238E27FC236}">
                  <a16:creationId xmlns:a16="http://schemas.microsoft.com/office/drawing/2014/main" id="{AD72C626-B5CD-E8CD-D7D3-DB3B71C929C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5" name="Rectangle 4">
              <a:extLst>
                <a:ext uri="{FF2B5EF4-FFF2-40B4-BE49-F238E27FC236}">
                  <a16:creationId xmlns:a16="http://schemas.microsoft.com/office/drawing/2014/main" id="{FBBEA780-06CD-240A-2352-06148FFFCBDB}"/>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7" name="TextBox 6">
            <a:extLst>
              <a:ext uri="{FF2B5EF4-FFF2-40B4-BE49-F238E27FC236}">
                <a16:creationId xmlns:a16="http://schemas.microsoft.com/office/drawing/2014/main" id="{A7054B68-E3A5-6C34-34E3-FEFB197B43B6}"/>
              </a:ext>
            </a:extLst>
          </p:cNvPr>
          <p:cNvSpPr txBox="1"/>
          <p:nvPr/>
        </p:nvSpPr>
        <p:spPr>
          <a:xfrm>
            <a:off x="8342616" y="2152269"/>
            <a:ext cx="3471809" cy="1263775"/>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latin typeface="Verdana" panose="020B0604030504040204" pitchFamily="34" charset="0"/>
                <a:ea typeface="Verdana" panose="020B0604030504040204" pitchFamily="34" charset="0"/>
              </a:rPr>
              <a:t>It will never </a:t>
            </a:r>
          </a:p>
          <a:p>
            <a:pPr algn="l"/>
            <a:r>
              <a:rPr lang="en-US" sz="3200" dirty="0">
                <a:solidFill>
                  <a:schemeClr val="tx1"/>
                </a:solidFill>
                <a:latin typeface="Verdana" panose="020B0604030504040204" pitchFamily="34" charset="0"/>
                <a:ea typeface="Verdana" panose="020B0604030504040204" pitchFamily="34" charset="0"/>
              </a:rPr>
              <a:t>pause in here</a:t>
            </a:r>
          </a:p>
        </p:txBody>
      </p:sp>
      <p:cxnSp>
        <p:nvCxnSpPr>
          <p:cNvPr id="8" name="Straight Arrow Connector 7">
            <a:extLst>
              <a:ext uri="{FF2B5EF4-FFF2-40B4-BE49-F238E27FC236}">
                <a16:creationId xmlns:a16="http://schemas.microsoft.com/office/drawing/2014/main" id="{83030F62-7303-04CB-DF87-217370AD0FA9}"/>
              </a:ext>
            </a:extLst>
          </p:cNvPr>
          <p:cNvCxnSpPr>
            <a:cxnSpLocks/>
          </p:cNvCxnSpPr>
          <p:nvPr/>
        </p:nvCxnSpPr>
        <p:spPr>
          <a:xfrm flipH="1">
            <a:off x="4407614" y="2583480"/>
            <a:ext cx="3935002" cy="122589"/>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92DF861A-00B0-115D-46D2-C2FE0E83C985}"/>
              </a:ext>
            </a:extLst>
          </p:cNvPr>
          <p:cNvSpPr txBox="1"/>
          <p:nvPr/>
        </p:nvSpPr>
        <p:spPr>
          <a:xfrm>
            <a:off x="8342615" y="3632831"/>
            <a:ext cx="3471809" cy="878607"/>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latin typeface="Verdana" panose="020B0604030504040204" pitchFamily="34" charset="0"/>
                <a:ea typeface="Verdana" panose="020B0604030504040204" pitchFamily="34" charset="0"/>
              </a:rPr>
              <a:t>Or in here</a:t>
            </a:r>
          </a:p>
        </p:txBody>
      </p:sp>
      <p:cxnSp>
        <p:nvCxnSpPr>
          <p:cNvPr id="14" name="Straight Arrow Connector 13">
            <a:extLst>
              <a:ext uri="{FF2B5EF4-FFF2-40B4-BE49-F238E27FC236}">
                <a16:creationId xmlns:a16="http://schemas.microsoft.com/office/drawing/2014/main" id="{D50DDC1E-F961-9AFF-F97B-74EDC8E77DF4}"/>
              </a:ext>
            </a:extLst>
          </p:cNvPr>
          <p:cNvCxnSpPr>
            <a:cxnSpLocks/>
            <a:endCxn id="5" idx="3"/>
          </p:cNvCxnSpPr>
          <p:nvPr/>
        </p:nvCxnSpPr>
        <p:spPr>
          <a:xfrm flipH="1" flipV="1">
            <a:off x="4407612" y="3901026"/>
            <a:ext cx="3935003" cy="171108"/>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1619310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C6A7-42E5-92A7-A388-5D39A22C6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0E2B-EA5B-E5E3-4734-1DD582E88390}"/>
              </a:ext>
            </a:extLst>
          </p:cNvPr>
          <p:cNvSpPr>
            <a:spLocks noGrp="1"/>
          </p:cNvSpPr>
          <p:nvPr>
            <p:ph type="title"/>
          </p:nvPr>
        </p:nvSpPr>
        <p:spPr/>
        <p:txBody>
          <a:bodyPr/>
          <a:lstStyle/>
          <a:p>
            <a:r>
              <a:rPr lang="en-US" dirty="0"/>
              <a:t>What happens at those pause points?</a:t>
            </a:r>
          </a:p>
        </p:txBody>
      </p:sp>
      <p:sp>
        <p:nvSpPr>
          <p:cNvPr id="4" name="Slide Number Placeholder 3">
            <a:extLst>
              <a:ext uri="{FF2B5EF4-FFF2-40B4-BE49-F238E27FC236}">
                <a16:creationId xmlns:a16="http://schemas.microsoft.com/office/drawing/2014/main" id="{098AE61C-7625-0DB4-C960-56F5656312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4D01E542-52F2-E8A8-9707-37515E355D5C}"/>
              </a:ext>
            </a:extLst>
          </p:cNvPr>
          <p:cNvGrpSpPr/>
          <p:nvPr/>
        </p:nvGrpSpPr>
        <p:grpSpPr>
          <a:xfrm>
            <a:off x="1050852" y="1807463"/>
            <a:ext cx="8308888" cy="3046988"/>
            <a:chOff x="838201" y="1828800"/>
            <a:chExt cx="8308888" cy="3046988"/>
          </a:xfrm>
        </p:grpSpPr>
        <p:sp>
          <p:nvSpPr>
            <p:cNvPr id="13" name="TextBox 12">
              <a:extLst>
                <a:ext uri="{FF2B5EF4-FFF2-40B4-BE49-F238E27FC236}">
                  <a16:creationId xmlns:a16="http://schemas.microsoft.com/office/drawing/2014/main" id="{524B25CF-BEFF-046A-98F7-748F614143FC}"/>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4" name="Rectangle 13">
              <a:extLst>
                <a:ext uri="{FF2B5EF4-FFF2-40B4-BE49-F238E27FC236}">
                  <a16:creationId xmlns:a16="http://schemas.microsoft.com/office/drawing/2014/main" id="{8FCB9E41-85AC-1023-B08A-8B59385C742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5" name="Rectangle 14">
              <a:extLst>
                <a:ext uri="{FF2B5EF4-FFF2-40B4-BE49-F238E27FC236}">
                  <a16:creationId xmlns:a16="http://schemas.microsoft.com/office/drawing/2014/main" id="{C15C1478-8464-EE6D-2843-95C0DBFF2C95}"/>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pic>
        <p:nvPicPr>
          <p:cNvPr id="20" name="Picture 19" descr="A yellow triangle sign on a pole&#10;&#10;AI-generated content may be incorrect.">
            <a:extLst>
              <a:ext uri="{FF2B5EF4-FFF2-40B4-BE49-F238E27FC236}">
                <a16:creationId xmlns:a16="http://schemas.microsoft.com/office/drawing/2014/main" id="{C3898ABD-47E4-1D05-62BB-461544070F4D}"/>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6" y="2532393"/>
            <a:ext cx="565449" cy="713028"/>
          </a:xfrm>
          <a:prstGeom prst="rect">
            <a:avLst/>
          </a:prstGeom>
        </p:spPr>
      </p:pic>
      <p:pic>
        <p:nvPicPr>
          <p:cNvPr id="21" name="Picture 20" descr="A yellow triangle sign on a pole&#10;&#10;AI-generated content may be incorrect.">
            <a:extLst>
              <a:ext uri="{FF2B5EF4-FFF2-40B4-BE49-F238E27FC236}">
                <a16:creationId xmlns:a16="http://schemas.microsoft.com/office/drawing/2014/main" id="{F18DA810-04C3-45CC-D75C-6FCD09FD2EE9}"/>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5" y="3639856"/>
            <a:ext cx="565449" cy="713028"/>
          </a:xfrm>
          <a:prstGeom prst="rect">
            <a:avLst/>
          </a:prstGeom>
        </p:spPr>
      </p:pic>
      <p:sp>
        <p:nvSpPr>
          <p:cNvPr id="22" name="TextBox 21">
            <a:extLst>
              <a:ext uri="{FF2B5EF4-FFF2-40B4-BE49-F238E27FC236}">
                <a16:creationId xmlns:a16="http://schemas.microsoft.com/office/drawing/2014/main" id="{F7501E0E-3098-D85A-EE3B-7B7C3DD3BA87}"/>
              </a:ext>
            </a:extLst>
          </p:cNvPr>
          <p:cNvSpPr txBox="1"/>
          <p:nvPr/>
        </p:nvSpPr>
        <p:spPr>
          <a:xfrm>
            <a:off x="8220172" y="3996370"/>
            <a:ext cx="1979629" cy="596188"/>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Pause points</a:t>
            </a:r>
          </a:p>
        </p:txBody>
      </p:sp>
      <p:cxnSp>
        <p:nvCxnSpPr>
          <p:cNvPr id="24" name="Straight Arrow Connector 23">
            <a:extLst>
              <a:ext uri="{FF2B5EF4-FFF2-40B4-BE49-F238E27FC236}">
                <a16:creationId xmlns:a16="http://schemas.microsoft.com/office/drawing/2014/main" id="{A45A24AF-25E9-0D54-9223-CEB9EBCDAD1B}"/>
              </a:ext>
            </a:extLst>
          </p:cNvPr>
          <p:cNvCxnSpPr>
            <a:cxnSpLocks/>
            <a:stCxn id="22" idx="1"/>
            <a:endCxn id="20" idx="3"/>
          </p:cNvCxnSpPr>
          <p:nvPr/>
        </p:nvCxnSpPr>
        <p:spPr>
          <a:xfrm flipH="1" flipV="1">
            <a:off x="3683755" y="2888907"/>
            <a:ext cx="4536417" cy="14055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E1E3DBE-FA26-3DF1-DB47-7EE45163FEEE}"/>
              </a:ext>
            </a:extLst>
          </p:cNvPr>
          <p:cNvCxnSpPr>
            <a:cxnSpLocks/>
            <a:stCxn id="22" idx="1"/>
          </p:cNvCxnSpPr>
          <p:nvPr/>
        </p:nvCxnSpPr>
        <p:spPr>
          <a:xfrm flipH="1" flipV="1">
            <a:off x="3535224" y="4074278"/>
            <a:ext cx="4684948" cy="22018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943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Java vs. JS/TS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646330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'B'</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Promise</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all</a:t>
            </a:r>
            <a:r>
              <a:rPr lang="en-US" sz="2000" b="0" dirty="0">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lgn="l">
              <a:buNone/>
            </a:pP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a:t>
            </a:r>
          </a:p>
          <a:p>
            <a:pPr algn="l"/>
            <a:endParaRPr lang="en-US" sz="14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455689C7-7C27-5D24-90F6-149A2C5D118F}"/>
              </a:ext>
            </a:extLst>
          </p:cNvPr>
          <p:cNvSpPr/>
          <p:nvPr/>
        </p:nvSpPr>
        <p:spPr>
          <a:xfrm>
            <a:off x="7366572" y="286242"/>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/Slides/dataRace2.ts</a:t>
            </a: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a:xfrm>
            <a:off x="8022211" y="1631794"/>
            <a:ext cx="3761294" cy="4351338"/>
          </a:xfrm>
        </p:spPr>
        <p:txBody>
          <a:bodyPr>
            <a:normAutofit/>
          </a:bodyPr>
          <a:lstStyle/>
          <a:p>
            <a:r>
              <a:rPr lang="en-US" sz="2000" dirty="0"/>
              <a:t>In Java, you could get an interrupt between the print B and the print C.</a:t>
            </a:r>
          </a:p>
          <a:p>
            <a:r>
              <a:rPr lang="en-US" sz="2000" dirty="0"/>
              <a:t>So the output could be ABC, BAC, BCA</a:t>
            </a:r>
          </a:p>
          <a:p>
            <a:r>
              <a:rPr lang="en-US" sz="2000" dirty="0"/>
              <a:t>In TS/JS, the print B and print C are in the same critical section, so BAC is impossible!</a:t>
            </a:r>
          </a:p>
        </p:txBody>
      </p:sp>
    </p:spTree>
    <p:extLst>
      <p:ext uri="{BB962C8B-B14F-4D97-AF65-F5344CB8AC3E}">
        <p14:creationId xmlns:p14="http://schemas.microsoft.com/office/powerpoint/2010/main" val="83173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0D74F-37D9-58E0-28AE-F4FE65F1E4AA}"/>
              </a:ext>
            </a:extLst>
          </p:cNvPr>
          <p:cNvSpPr>
            <a:spLocks noGrp="1"/>
          </p:cNvSpPr>
          <p:nvPr>
            <p:ph type="title"/>
          </p:nvPr>
        </p:nvSpPr>
        <p:spPr/>
        <p:txBody>
          <a:bodyPr/>
          <a:lstStyle/>
          <a:p>
            <a:r>
              <a:rPr lang="en-US" dirty="0"/>
              <a:t>What happens when you await?</a:t>
            </a:r>
          </a:p>
        </p:txBody>
      </p:sp>
      <p:sp>
        <p:nvSpPr>
          <p:cNvPr id="3" name="Content Placeholder 2">
            <a:extLst>
              <a:ext uri="{FF2B5EF4-FFF2-40B4-BE49-F238E27FC236}">
                <a16:creationId xmlns:a16="http://schemas.microsoft.com/office/drawing/2014/main" id="{923883D1-804C-2B0E-B307-7E10EB59752B}"/>
              </a:ext>
            </a:extLst>
          </p:cNvPr>
          <p:cNvSpPr>
            <a:spLocks noGrp="1"/>
          </p:cNvSpPr>
          <p:nvPr>
            <p:ph idx="1"/>
          </p:nvPr>
        </p:nvSpPr>
        <p:spPr>
          <a:xfrm>
            <a:off x="838200" y="1500160"/>
            <a:ext cx="9240078" cy="4351338"/>
          </a:xfrm>
        </p:spPr>
        <p:txBody>
          <a:bodyPr>
            <a:normAutofit lnSpcReduction="10000"/>
          </a:bodyPr>
          <a:lstStyle/>
          <a:p>
            <a:r>
              <a:rPr lang="en-US" dirty="0"/>
              <a:t>When you ‘await’ on an asynchronous task, you are cooperating with the event loop by allowing it to work on something else.</a:t>
            </a:r>
          </a:p>
          <a:p>
            <a:r>
              <a:rPr lang="en-US" dirty="0"/>
              <a:t>In technical terms, you are returning with a </a:t>
            </a:r>
            <a:r>
              <a:rPr lang="en-US" b="1" i="1" dirty="0"/>
              <a:t>pending</a:t>
            </a:r>
            <a:r>
              <a:rPr lang="en-US" i="1" dirty="0"/>
              <a:t> </a:t>
            </a:r>
            <a:r>
              <a:rPr lang="en-US" dirty="0"/>
              <a:t>promise which means that some work will be completed in future.</a:t>
            </a:r>
          </a:p>
          <a:p>
            <a:r>
              <a:rPr lang="en-US" dirty="0"/>
              <a:t>While you are waiting for that future, event loop will continue finishing its current task (whatever is in call stack) and then other tasks (whatever is in callback queue).</a:t>
            </a:r>
          </a:p>
          <a:p>
            <a:r>
              <a:rPr lang="en-US" dirty="0"/>
              <a:t>Eventually you will return to complete the </a:t>
            </a:r>
            <a:r>
              <a:rPr lang="en-US" b="1" i="1" dirty="0"/>
              <a:t>awaited</a:t>
            </a:r>
            <a:r>
              <a:rPr lang="en-US" i="1" dirty="0"/>
              <a:t> </a:t>
            </a:r>
            <a:r>
              <a:rPr lang="en-US" dirty="0"/>
              <a:t>work</a:t>
            </a:r>
          </a:p>
          <a:p>
            <a:r>
              <a:rPr lang="en-US" dirty="0"/>
              <a:t>Let’s understand those with some examples</a:t>
            </a:r>
          </a:p>
        </p:txBody>
      </p:sp>
      <p:sp>
        <p:nvSpPr>
          <p:cNvPr id="4" name="Slide Number Placeholder 3">
            <a:extLst>
              <a:ext uri="{FF2B5EF4-FFF2-40B4-BE49-F238E27FC236}">
                <a16:creationId xmlns:a16="http://schemas.microsoft.com/office/drawing/2014/main" id="{5D0C82EA-6AFA-0238-FD72-B79658B367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82660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A promise can be in one of exactly 3 states</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Content Placeholder 7">
            <a:extLst>
              <a:ext uri="{FF2B5EF4-FFF2-40B4-BE49-F238E27FC236}">
                <a16:creationId xmlns:a16="http://schemas.microsoft.com/office/drawing/2014/main" id="{D5C85CCA-136C-08C1-FA65-98C61B06999D}"/>
              </a:ext>
            </a:extLst>
          </p:cNvPr>
          <p:cNvSpPr>
            <a:spLocks noGrp="1"/>
          </p:cNvSpPr>
          <p:nvPr>
            <p:ph idx="1"/>
          </p:nvPr>
        </p:nvSpPr>
        <p:spPr>
          <a:xfrm>
            <a:off x="838199" y="1500160"/>
            <a:ext cx="9386455" cy="4663134"/>
          </a:xfrm>
        </p:spPr>
        <p:txBody>
          <a:bodyPr>
            <a:normAutofit/>
          </a:bodyPr>
          <a:lstStyle/>
          <a:p>
            <a:pPr>
              <a:lnSpc>
                <a:spcPct val="120000"/>
              </a:lnSpc>
            </a:pPr>
            <a:r>
              <a:rPr lang="en-US" sz="2400" b="0" i="0" dirty="0">
                <a:solidFill>
                  <a:srgbClr val="222222"/>
                </a:solidFill>
                <a:effectLst/>
                <a:latin typeface="Verdana" panose="020B0604030504040204" pitchFamily="34" charset="0"/>
                <a:ea typeface="Verdana" panose="020B0604030504040204" pitchFamily="34" charset="0"/>
              </a:rPr>
              <a:t>A JavaScript promise can be in one of three states: </a:t>
            </a: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a:t>
            </a:r>
            <a:r>
              <a:rPr lang="en-US" sz="2400" b="0" i="0" dirty="0">
                <a:solidFill>
                  <a:srgbClr val="FF0000"/>
                </a:solidFill>
                <a:effectLst/>
                <a:latin typeface="Verdana" panose="020B0604030504040204" pitchFamily="34" charset="0"/>
                <a:ea typeface="Verdana" panose="020B0604030504040204" pitchFamily="34" charset="0"/>
              </a:rPr>
              <a:t>fulfilled</a:t>
            </a:r>
            <a:r>
              <a:rPr lang="en-US" sz="2400" b="0" i="0" dirty="0">
                <a:solidFill>
                  <a:srgbClr val="222222"/>
                </a:solidFill>
                <a:effectLst/>
                <a:latin typeface="Verdana" panose="020B0604030504040204" pitchFamily="34" charset="0"/>
                <a:ea typeface="Verdana" panose="020B0604030504040204" pitchFamily="34" charset="0"/>
              </a:rPr>
              <a:t>, or </a:t>
            </a:r>
            <a:r>
              <a:rPr lang="en-US" sz="2400" b="0" i="0" dirty="0">
                <a:solidFill>
                  <a:srgbClr val="FF0000"/>
                </a:solidFill>
                <a:effectLst/>
                <a:latin typeface="Verdana" panose="020B0604030504040204" pitchFamily="34" charset="0"/>
                <a:ea typeface="Verdana" panose="020B0604030504040204" pitchFamily="34" charset="0"/>
              </a:rPr>
              <a:t>rejected</a:t>
            </a:r>
            <a:r>
              <a:rPr lang="en-US" sz="2400" b="0" i="0" dirty="0">
                <a:solidFill>
                  <a:srgbClr val="222222"/>
                </a:solidFill>
                <a:effectLst/>
                <a:latin typeface="Verdana" panose="020B0604030504040204" pitchFamily="34" charset="0"/>
                <a:ea typeface="Verdana" panose="020B0604030504040204" pitchFamily="34" charset="0"/>
              </a:rPr>
              <a:t>. </a:t>
            </a: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is the initial state where the promise is </a:t>
            </a:r>
            <a:r>
              <a:rPr lang="en-US" sz="2400" b="1" i="1" dirty="0">
                <a:solidFill>
                  <a:srgbClr val="222222"/>
                </a:solidFill>
                <a:effectLst/>
                <a:latin typeface="Verdana" panose="020B0604030504040204" pitchFamily="34" charset="0"/>
                <a:ea typeface="Verdana" panose="020B0604030504040204" pitchFamily="34" charset="0"/>
              </a:rPr>
              <a:t>waiting</a:t>
            </a:r>
            <a:r>
              <a:rPr lang="en-US" sz="2400" b="0" i="0" dirty="0">
                <a:solidFill>
                  <a:srgbClr val="222222"/>
                </a:solidFill>
                <a:effectLst/>
                <a:latin typeface="Verdana" panose="020B0604030504040204" pitchFamily="34" charset="0"/>
                <a:ea typeface="Verdana" panose="020B0604030504040204" pitchFamily="34" charset="0"/>
              </a:rPr>
              <a:t> for an operation to complete; Then it becomes </a:t>
            </a:r>
            <a:r>
              <a:rPr lang="en-US" dirty="0">
                <a:solidFill>
                  <a:srgbClr val="FF0000"/>
                </a:solidFill>
              </a:rPr>
              <a:t>Ready</a:t>
            </a:r>
            <a:r>
              <a:rPr lang="en-US" dirty="0"/>
              <a:t> for Execution; and eventually it is </a:t>
            </a:r>
            <a:r>
              <a:rPr lang="en-US" dirty="0">
                <a:solidFill>
                  <a:srgbClr val="FF0000"/>
                </a:solidFill>
              </a:rPr>
              <a:t>Executing </a:t>
            </a:r>
            <a:r>
              <a:rPr lang="en-US" dirty="0"/>
              <a:t>before being resolved</a:t>
            </a:r>
            <a:endParaRPr lang="en-US" sz="2400" b="0" i="0" dirty="0">
              <a:effectLst/>
              <a:latin typeface="Verdana" panose="020B0604030504040204" pitchFamily="34" charset="0"/>
              <a:ea typeface="Verdana" panose="020B0604030504040204" pitchFamily="34" charset="0"/>
            </a:endParaRP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Resolved</a:t>
            </a:r>
            <a:r>
              <a:rPr lang="en-US" sz="2400" b="0" i="0" dirty="0">
                <a:solidFill>
                  <a:srgbClr val="222222"/>
                </a:solidFill>
                <a:effectLst/>
                <a:latin typeface="Verdana" panose="020B0604030504040204" pitchFamily="34" charset="0"/>
                <a:ea typeface="Verdana" panose="020B0604030504040204" pitchFamily="34" charset="0"/>
              </a:rPr>
              <a:t>: either fulfilled or rejected. </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fulfilled</a:t>
            </a:r>
            <a:r>
              <a:rPr lang="en-US" b="0" i="0" dirty="0">
                <a:solidFill>
                  <a:srgbClr val="222222"/>
                </a:solidFill>
                <a:effectLst/>
                <a:latin typeface="Verdana" panose="020B0604030504040204" pitchFamily="34" charset="0"/>
                <a:ea typeface="Verdana" panose="020B0604030504040204" pitchFamily="34" charset="0"/>
              </a:rPr>
              <a:t> means the operation was successful,</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rejected</a:t>
            </a:r>
            <a:r>
              <a:rPr lang="en-US" b="0" i="0" dirty="0">
                <a:solidFill>
                  <a:srgbClr val="222222"/>
                </a:solidFill>
                <a:effectLst/>
                <a:latin typeface="Verdana" panose="020B0604030504040204" pitchFamily="34" charset="0"/>
                <a:ea typeface="Verdana" panose="020B0604030504040204" pitchFamily="34" charset="0"/>
              </a:rPr>
              <a:t> indicates that the operation failed.</a:t>
            </a:r>
            <a:endParaRPr lang="en-US" sz="2400" dirty="0">
              <a:latin typeface="Verdana" panose="020B0604030504040204" pitchFamily="34" charset="0"/>
              <a:ea typeface="Verdana" panose="020B0604030504040204" pitchFamily="34" charset="0"/>
            </a:endParaRPr>
          </a:p>
          <a:p>
            <a:endParaRPr lang="en-US" dirty="0"/>
          </a:p>
        </p:txBody>
      </p:sp>
    </p:spTree>
    <p:extLst>
      <p:ext uri="{BB962C8B-B14F-4D97-AF65-F5344CB8AC3E}">
        <p14:creationId xmlns:p14="http://schemas.microsoft.com/office/powerpoint/2010/main" val="6886642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Simple sequential execution:</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5"/>
            <a:ext cx="4745491" cy="1728026"/>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p:txBody>
      </p:sp>
      <p:sp>
        <p:nvSpPr>
          <p:cNvPr id="7" name="Content Placeholder 1">
            <a:extLst>
              <a:ext uri="{FF2B5EF4-FFF2-40B4-BE49-F238E27FC236}">
                <a16:creationId xmlns:a16="http://schemas.microsoft.com/office/drawing/2014/main" id="{B51487F4-AF67-1E67-9BA6-1939C17C9D85}"/>
              </a:ext>
            </a:extLst>
          </p:cNvPr>
          <p:cNvSpPr txBox="1">
            <a:spLocks/>
          </p:cNvSpPr>
          <p:nvPr/>
        </p:nvSpPr>
        <p:spPr>
          <a:xfrm>
            <a:off x="838200" y="4552122"/>
            <a:ext cx="5257800" cy="636104"/>
          </a:xfrm>
          <a:prstGeom prst="rect">
            <a:avLst/>
          </a:prstGeom>
        </p:spPr>
        <p:txBody>
          <a:bodyP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Everything runs sequentially</a:t>
            </a:r>
          </a:p>
        </p:txBody>
      </p:sp>
    </p:spTree>
    <p:extLst>
      <p:ext uri="{BB962C8B-B14F-4D97-AF65-F5344CB8AC3E}">
        <p14:creationId xmlns:p14="http://schemas.microsoft.com/office/powerpoint/2010/main" val="153517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Async task can finish later</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setTimeout</a:t>
            </a:r>
            <a:r>
              <a:rPr lang="en-US" sz="2000" b="0" dirty="0">
                <a:solidFill>
                  <a:srgbClr val="000000"/>
                </a:solidFill>
                <a:effectLst/>
                <a:latin typeface="Consolas" panose="020B0609020204030204" pitchFamily="49" charset="0"/>
              </a:rPr>
              <a:t>(()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'timeout'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a:t>
            </a:r>
            <a:r>
              <a:rPr lang="en-US" sz="2000" b="0" dirty="0">
                <a:solidFill>
                  <a:schemeClr val="accent6">
                    <a:lumMod val="75000"/>
                  </a:schemeClr>
                </a:solidFill>
                <a:effectLst/>
                <a:latin typeface="Consolas" panose="020B0609020204030204" pitchFamily="49" charset="0"/>
              </a:rPr>
              <a:t>0</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5"/>
            <a:ext cx="4745491" cy="1911624"/>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timeout</a:t>
            </a:r>
          </a:p>
          <a:p>
            <a:pPr algn="l"/>
            <a:endParaRPr lang="en-US" sz="2000" dirty="0">
              <a:solidFill>
                <a:schemeClr val="tx1"/>
              </a:solidFill>
              <a:latin typeface="Verdana" panose="020B0604030504040204" pitchFamily="34" charset="0"/>
              <a:ea typeface="Verdana" panose="020B0604030504040204" pitchFamily="34" charset="0"/>
            </a:endParaRPr>
          </a:p>
        </p:txBody>
      </p:sp>
      <p:sp>
        <p:nvSpPr>
          <p:cNvPr id="7" name="Content Placeholder 1">
            <a:extLst>
              <a:ext uri="{FF2B5EF4-FFF2-40B4-BE49-F238E27FC236}">
                <a16:creationId xmlns:a16="http://schemas.microsoft.com/office/drawing/2014/main" id="{315FA537-E5BF-4D2F-2D23-7574271DD453}"/>
              </a:ext>
            </a:extLst>
          </p:cNvPr>
          <p:cNvSpPr txBox="1">
            <a:spLocks/>
          </p:cNvSpPr>
          <p:nvPr/>
        </p:nvSpPr>
        <p:spPr>
          <a:xfrm>
            <a:off x="838200" y="5339415"/>
            <a:ext cx="5257800" cy="653882"/>
          </a:xfrm>
          <a:prstGeom prst="rect">
            <a:avLst/>
          </a:prstGeom>
        </p:spPr>
        <p:txBody>
          <a:bodyPr>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Run to completion requires main to finish first</a:t>
            </a:r>
          </a:p>
        </p:txBody>
      </p:sp>
    </p:spTree>
    <p:extLst>
      <p:ext uri="{BB962C8B-B14F-4D97-AF65-F5344CB8AC3E}">
        <p14:creationId xmlns:p14="http://schemas.microsoft.com/office/powerpoint/2010/main" val="2642664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 can also be resolved in future</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Promise.resolve</a:t>
            </a:r>
            <a:r>
              <a:rPr lang="en-US" sz="2000" b="0" dirty="0">
                <a:solidFill>
                  <a:srgbClr val="000000"/>
                </a:solidFill>
                <a:effectLst/>
                <a:latin typeface="Consolas" panose="020B0609020204030204" pitchFamily="49" charset="0"/>
              </a:rPr>
              <a:t>().then( ()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promise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871867"/>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promise</a:t>
            </a:r>
          </a:p>
          <a:p>
            <a:pPr algn="l"/>
            <a:endParaRPr lang="en-US" sz="2000" dirty="0">
              <a:solidFill>
                <a:schemeClr val="tx1"/>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550782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Promises have priority (Micro over Macro)</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Promise.resolve</a:t>
            </a:r>
            <a:r>
              <a:rPr lang="en-US" sz="2000" b="0" dirty="0">
                <a:solidFill>
                  <a:srgbClr val="000000"/>
                </a:solidFill>
                <a:effectLst/>
                <a:latin typeface="Consolas" panose="020B0609020204030204" pitchFamily="49" charset="0"/>
              </a:rPr>
              <a:t>().then( ()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promise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 </a:t>
            </a:r>
          </a:p>
          <a:p>
            <a:pPr algn="l"/>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setTimeout</a:t>
            </a:r>
            <a:r>
              <a:rPr lang="en-US" sz="2000" dirty="0">
                <a:solidFill>
                  <a:srgbClr val="000000"/>
                </a:solidFill>
                <a:latin typeface="Consolas" panose="020B0609020204030204" pitchFamily="49" charset="0"/>
              </a:rPr>
              <a:t>(() =&gt; {</a:t>
            </a:r>
          </a:p>
          <a:p>
            <a:pPr algn="l"/>
            <a:r>
              <a:rPr lang="en-US" sz="2000" dirty="0">
                <a:solidFill>
                  <a:srgbClr val="000000"/>
                </a:solidFill>
                <a:latin typeface="Consolas" panose="020B0609020204030204" pitchFamily="49" charset="0"/>
              </a:rPr>
              <a:t>      console.log(</a:t>
            </a:r>
            <a:r>
              <a:rPr lang="en-US" sz="2000" dirty="0">
                <a:solidFill>
                  <a:srgbClr val="C00000"/>
                </a:solidFill>
                <a:latin typeface="Consolas" panose="020B0609020204030204" pitchFamily="49" charset="0"/>
              </a:rPr>
              <a:t>'timeout'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chemeClr val="accent6">
                    <a:lumMod val="75000"/>
                  </a:schemeClr>
                </a:solidFill>
                <a:latin typeface="Consolas" panose="020B0609020204030204" pitchFamily="49" charset="0"/>
              </a:rPr>
              <a:t>0</a:t>
            </a:r>
            <a:r>
              <a:rPr lang="en-US" sz="2000" dirty="0">
                <a:solidFill>
                  <a:srgbClr val="000000"/>
                </a:solidFill>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97125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promise</a:t>
            </a:r>
            <a:br>
              <a:rPr lang="en-US" sz="2000" dirty="0">
                <a:solidFill>
                  <a:schemeClr val="tx1"/>
                </a:solidFill>
                <a:latin typeface="Verdana" panose="020B0604030504040204" pitchFamily="34" charset="0"/>
                <a:ea typeface="Verdana" panose="020B0604030504040204" pitchFamily="34" charset="0"/>
              </a:rPr>
            </a:br>
            <a:r>
              <a:rPr lang="en-US" sz="2000" dirty="0">
                <a:solidFill>
                  <a:schemeClr val="tx1"/>
                </a:solidFill>
                <a:latin typeface="Verdana" panose="020B0604030504040204" pitchFamily="34" charset="0"/>
                <a:ea typeface="Verdana" panose="020B0604030504040204" pitchFamily="34" charset="0"/>
              </a:rPr>
              <a:t>timeout</a:t>
            </a:r>
          </a:p>
        </p:txBody>
      </p:sp>
    </p:spTree>
    <p:extLst>
      <p:ext uri="{BB962C8B-B14F-4D97-AF65-F5344CB8AC3E}">
        <p14:creationId xmlns:p14="http://schemas.microsoft.com/office/powerpoint/2010/main" val="2008209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You can await on async tasks (1)</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40120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(32);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2212691"/>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1015.98 msec</a:t>
            </a:r>
          </a:p>
        </p:txBody>
      </p:sp>
      <p:sp>
        <p:nvSpPr>
          <p:cNvPr id="6" name="TextBox 5">
            <a:extLst>
              <a:ext uri="{FF2B5EF4-FFF2-40B4-BE49-F238E27FC236}">
                <a16:creationId xmlns:a16="http://schemas.microsoft.com/office/drawing/2014/main" id="{10F73DF1-E385-26F3-57AF-14F63A03A54D}"/>
              </a:ext>
            </a:extLst>
          </p:cNvPr>
          <p:cNvSpPr txBox="1"/>
          <p:nvPr/>
        </p:nvSpPr>
        <p:spPr>
          <a:xfrm>
            <a:off x="7234474" y="1924411"/>
            <a:ext cx="4745491" cy="1800325"/>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55000" lnSpcReduction="20000"/>
          </a:bodyPr>
          <a:lstStyle/>
          <a:p>
            <a:pPr algn="l">
              <a:lnSpc>
                <a:spcPct val="120000"/>
              </a:lnSpc>
            </a:pPr>
            <a:r>
              <a:rPr lang="en-US" sz="2000" dirty="0">
                <a:solidFill>
                  <a:srgbClr val="0A52B1"/>
                </a:solidFill>
                <a:latin typeface="Verdana" panose="020B0604030504040204" pitchFamily="34" charset="0"/>
                <a:ea typeface="Verdana" panose="020B0604030504040204" pitchFamily="34" charset="0"/>
              </a:rPr>
              <a:t>export function </a:t>
            </a:r>
            <a:r>
              <a:rPr lang="en-US" sz="2000" b="1"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(n: number): Promise&lt;number&gt;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a:solidFill>
                  <a:srgbClr val="0A52B1"/>
                </a:solidFill>
                <a:latin typeface="Verdana" panose="020B0604030504040204" pitchFamily="34" charset="0"/>
                <a:ea typeface="Verdana" panose="020B0604030504040204" pitchFamily="34" charset="0"/>
              </a:rPr>
              <a:t>return new </a:t>
            </a:r>
            <a:r>
              <a:rPr lang="en-US" sz="2000" dirty="0">
                <a:solidFill>
                  <a:schemeClr val="tx1"/>
                </a:solidFill>
                <a:latin typeface="Verdana" panose="020B0604030504040204" pitchFamily="34" charset="0"/>
                <a:ea typeface="Verdana" panose="020B0604030504040204" pitchFamily="34" charset="0"/>
              </a:rPr>
              <a:t>Promise((resolve, reject)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a:t>
            </a:r>
            <a:r>
              <a:rPr lang="en-US" sz="2000" dirty="0" err="1">
                <a:solidFill>
                  <a:srgbClr val="C00000"/>
                </a:solidFill>
                <a:latin typeface="Verdana" panose="020B0604030504040204" pitchFamily="34" charset="0"/>
                <a:ea typeface="Verdana" panose="020B0604030504040204" pitchFamily="34" charset="0"/>
              </a:rPr>
              <a:t>fakeRequest</a:t>
            </a:r>
            <a:r>
              <a:rPr lang="en-US" sz="2000" dirty="0">
                <a:solidFill>
                  <a:srgbClr val="C00000"/>
                </a:solidFill>
                <a:latin typeface="Verdana" panose="020B0604030504040204" pitchFamily="34" charset="0"/>
                <a:ea typeface="Verdana" panose="020B0604030504040204" pitchFamily="34" charset="0"/>
              </a:rPr>
              <a:t> received request:'</a:t>
            </a:r>
            <a:r>
              <a:rPr lang="en-US" sz="2000" dirty="0">
                <a:solidFill>
                  <a:schemeClr val="tx1"/>
                </a:solidFill>
                <a:latin typeface="Verdana" panose="020B0604030504040204" pitchFamily="34" charset="0"/>
                <a:ea typeface="Verdana" panose="020B0604030504040204" pitchFamily="34" charset="0"/>
              </a:rPr>
              <a:t>, n);</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setTimeout</a:t>
            </a:r>
            <a:r>
              <a:rPr lang="en-US" sz="2000" dirty="0">
                <a:solidFill>
                  <a:schemeClr val="tx1"/>
                </a:solidFill>
                <a:latin typeface="Verdana" panose="020B0604030504040204" pitchFamily="34" charset="0"/>
                <a:ea typeface="Verdana" panose="020B0604030504040204" pitchFamily="34" charset="0"/>
              </a:rPr>
              <a: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'time passes....'</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resolve(n + </a:t>
            </a:r>
            <a:r>
              <a:rPr lang="en-US" sz="2000" dirty="0">
                <a:solidFill>
                  <a:schemeClr val="accent6">
                    <a:lumMod val="75000"/>
                  </a:schemeClr>
                </a:solidFill>
                <a:latin typeface="Verdana" panose="020B0604030504040204" pitchFamily="34" charset="0"/>
                <a:ea typeface="Verdana" panose="020B0604030504040204" pitchFamily="34" charset="0"/>
              </a:rPr>
              <a:t>10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 </a:t>
            </a:r>
            <a:r>
              <a:rPr lang="en-US" sz="2000" dirty="0">
                <a:solidFill>
                  <a:schemeClr val="accent6">
                    <a:lumMod val="75000"/>
                  </a:schemeClr>
                </a:solidFill>
                <a:latin typeface="Verdana" panose="020B0604030504040204" pitchFamily="34" charset="0"/>
                <a:ea typeface="Verdana" panose="020B0604030504040204" pitchFamily="34" charset="0"/>
              </a:rPr>
              <a:t>1000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a:t>
            </a:r>
          </a:p>
        </p:txBody>
      </p:sp>
    </p:spTree>
    <p:extLst>
      <p:ext uri="{BB962C8B-B14F-4D97-AF65-F5344CB8AC3E}">
        <p14:creationId xmlns:p14="http://schemas.microsoft.com/office/powerpoint/2010/main" val="684796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You can await on async tasks (2)</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09342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makeRequest</a:t>
            </a:r>
            <a:r>
              <a:rPr lang="en-US" sz="2000" b="0" dirty="0">
                <a:solidFill>
                  <a:srgbClr val="008000"/>
                </a:solidFill>
                <a:effectLst/>
                <a:latin typeface="Consolas" panose="020B0609020204030204" pitchFamily="49" charset="0"/>
              </a:rPr>
              <a:t> is a utility function to simulate API </a:t>
            </a:r>
            <a:r>
              <a:rPr lang="en-US" sz="2000" dirty="0">
                <a:solidFill>
                  <a:srgbClr val="008000"/>
                </a:solidFill>
                <a:latin typeface="Consolas" panose="020B0609020204030204" pitchFamily="49" charset="0"/>
              </a:rPr>
              <a:t>requests and    // then response</a:t>
            </a: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(12);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141076"/>
            <a:ext cx="4745491" cy="269993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1800" dirty="0">
                <a:solidFill>
                  <a:schemeClr val="tx1"/>
                </a:solidFill>
                <a:latin typeface="Verdana" panose="020B0604030504040204" pitchFamily="34" charset="0"/>
                <a:ea typeface="Verdana" panose="020B0604030504040204" pitchFamily="34" charset="0"/>
              </a:rPr>
              <a:t>$ node </a:t>
            </a:r>
            <a:r>
              <a:rPr lang="en-US" sz="1800" dirty="0" err="1">
                <a:solidFill>
                  <a:schemeClr val="tx1"/>
                </a:solidFill>
                <a:latin typeface="Verdana" panose="020B0604030504040204" pitchFamily="34" charset="0"/>
                <a:ea typeface="Verdana" panose="020B0604030504040204" pitchFamily="34" charset="0"/>
              </a:rPr>
              <a:t>oneRequest.ts</a:t>
            </a:r>
            <a:endParaRPr lang="en-US" sz="1800" dirty="0">
              <a:solidFill>
                <a:schemeClr val="tx1"/>
              </a:solidFill>
              <a:latin typeface="Verdana" panose="020B0604030504040204" pitchFamily="34" charset="0"/>
              <a:ea typeface="Verdana" panose="020B0604030504040204" pitchFamily="34" charset="0"/>
            </a:endParaRPr>
          </a:p>
          <a:p>
            <a:pPr algn="l"/>
            <a:r>
              <a:rPr lang="en-US" sz="1800" dirty="0">
                <a:solidFill>
                  <a:schemeClr val="tx1"/>
                </a:solidFill>
                <a:latin typeface="Verdana" panose="020B0604030504040204" pitchFamily="34" charset="0"/>
                <a:ea typeface="Verdana" panose="020B0604030504040204" pitchFamily="34" charset="0"/>
              </a:rPr>
              <a:t>main started</a:t>
            </a:r>
          </a:p>
          <a:p>
            <a:pPr algn="l"/>
            <a:r>
              <a:rPr lang="en-US" sz="1800" dirty="0">
                <a:solidFill>
                  <a:schemeClr val="tx1"/>
                </a:solidFill>
                <a:latin typeface="Verdana" panose="020B0604030504040204" pitchFamily="34" charset="0"/>
                <a:ea typeface="Verdana" panose="020B0604030504040204" pitchFamily="34" charset="0"/>
              </a:rPr>
              <a:t>starting </a:t>
            </a:r>
            <a:r>
              <a:rPr lang="en-US" sz="1800" dirty="0" err="1">
                <a:solidFill>
                  <a:schemeClr val="tx1"/>
                </a:solidFill>
                <a:latin typeface="Verdana" panose="020B0604030504040204" pitchFamily="34" charset="0"/>
                <a:ea typeface="Verdana" panose="020B0604030504040204" pitchFamily="34" charset="0"/>
              </a:rPr>
              <a:t>makeRequest</a:t>
            </a:r>
            <a:r>
              <a:rPr lang="en-US" sz="1800" dirty="0">
                <a:solidFill>
                  <a:schemeClr val="tx1"/>
                </a:solidFill>
                <a:latin typeface="Verdana" panose="020B0604030504040204" pitchFamily="34" charset="0"/>
                <a:ea typeface="Verdana" panose="020B0604030504040204" pitchFamily="34" charset="0"/>
              </a:rPr>
              <a:t>(12)</a:t>
            </a:r>
          </a:p>
          <a:p>
            <a:pPr algn="l"/>
            <a:r>
              <a:rPr lang="en-US" sz="1800" dirty="0">
                <a:solidFill>
                  <a:schemeClr val="tx1"/>
                </a:solidFill>
                <a:latin typeface="Verdana" panose="020B0604030504040204" pitchFamily="34" charset="0"/>
                <a:ea typeface="Verdana" panose="020B0604030504040204" pitchFamily="34" charset="0"/>
              </a:rPr>
              <a:t>main done</a:t>
            </a:r>
          </a:p>
          <a:p>
            <a:pPr algn="l"/>
            <a:r>
              <a:rPr lang="en-US" sz="1800" dirty="0">
                <a:solidFill>
                  <a:schemeClr val="tx1"/>
                </a:solidFill>
                <a:latin typeface="Verdana" panose="020B0604030504040204" pitchFamily="34" charset="0"/>
                <a:ea typeface="Verdana" panose="020B0604030504040204" pitchFamily="34" charset="0"/>
              </a:rPr>
              <a:t>request: 12 </a:t>
            </a:r>
          </a:p>
          <a:p>
            <a:pPr algn="l"/>
            <a:r>
              <a:rPr lang="en-US" sz="1800" dirty="0">
                <a:solidFill>
                  <a:schemeClr val="tx1"/>
                </a:solidFill>
                <a:latin typeface="Verdana" panose="020B0604030504040204" pitchFamily="34" charset="0"/>
                <a:ea typeface="Verdana" panose="020B0604030504040204" pitchFamily="34" charset="0"/>
              </a:rPr>
              <a:t>response: This is GET number 190 on the current server</a:t>
            </a:r>
          </a:p>
          <a:p>
            <a:pPr algn="l"/>
            <a:r>
              <a:rPr lang="en-US" sz="1800" dirty="0">
                <a:solidFill>
                  <a:schemeClr val="tx1"/>
                </a:solidFill>
                <a:latin typeface="Verdana" panose="020B0604030504040204" pitchFamily="34" charset="0"/>
                <a:ea typeface="Verdana" panose="020B0604030504040204" pitchFamily="34" charset="0"/>
              </a:rPr>
              <a:t>1015.98 msec</a:t>
            </a:r>
          </a:p>
        </p:txBody>
      </p:sp>
      <p:sp>
        <p:nvSpPr>
          <p:cNvPr id="6" name="TextBox 5">
            <a:extLst>
              <a:ext uri="{FF2B5EF4-FFF2-40B4-BE49-F238E27FC236}">
                <a16:creationId xmlns:a16="http://schemas.microsoft.com/office/drawing/2014/main" id="{10F73DF1-E385-26F3-57AF-14F63A03A54D}"/>
              </a:ext>
            </a:extLst>
          </p:cNvPr>
          <p:cNvSpPr txBox="1"/>
          <p:nvPr/>
        </p:nvSpPr>
        <p:spPr>
          <a:xfrm>
            <a:off x="5818754" y="2600269"/>
            <a:ext cx="6277168" cy="112917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dirty="0">
                <a:solidFill>
                  <a:srgbClr val="0000FF"/>
                </a:solidFill>
                <a:latin typeface="Consolas" panose="020B0609020204030204" pitchFamily="49" charset="0"/>
              </a:rPr>
              <a:t>export</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async</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function</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makeRequest</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requestNumber:number</a:t>
            </a:r>
            <a:r>
              <a:rPr lang="en-US" dirty="0">
                <a:solidFill>
                  <a:srgbClr val="000000"/>
                </a:solidFill>
                <a:latin typeface="Consolas" panose="020B0609020204030204" pitchFamily="49" charset="0"/>
              </a:rPr>
              <a:t>) {</a:t>
            </a:r>
          </a:p>
          <a:p>
            <a:pPr algn="l"/>
            <a:r>
              <a:rPr lang="en-US" dirty="0">
                <a:solidFill>
                  <a:srgbClr val="000000"/>
                </a:solidFill>
                <a:latin typeface="Consolas" panose="020B0609020204030204" pitchFamily="49" charset="0"/>
              </a:rPr>
              <a:t>    console.log(</a:t>
            </a:r>
            <a:r>
              <a:rPr lang="en-US" dirty="0">
                <a:solidFill>
                  <a:srgbClr val="A31515"/>
                </a:solidFill>
                <a:latin typeface="Consolas" panose="020B0609020204030204" pitchFamily="49" charset="0"/>
              </a:rPr>
              <a:t>`starting </a:t>
            </a:r>
            <a:r>
              <a:rPr lang="en-US" dirty="0" err="1">
                <a:solidFill>
                  <a:srgbClr val="A31515"/>
                </a:solidFill>
                <a:latin typeface="Consolas" panose="020B0609020204030204" pitchFamily="49" charset="0"/>
              </a:rPr>
              <a:t>makeRequest</a:t>
            </a:r>
            <a:r>
              <a:rPr lang="en-US" dirty="0">
                <a:solidFill>
                  <a:srgbClr val="A31515"/>
                </a:solidFill>
                <a:latin typeface="Consolas" panose="020B0609020204030204" pitchFamily="49" charset="0"/>
              </a:rPr>
              <a:t>(</a:t>
            </a:r>
            <a:r>
              <a:rPr lang="en-US" dirty="0">
                <a:solidFill>
                  <a:srgbClr val="0000FF"/>
                </a:solidFill>
                <a:latin typeface="Consolas" panose="020B0609020204030204" pitchFamily="49" charset="0"/>
              </a:rPr>
              <a:t>${</a:t>
            </a:r>
            <a:r>
              <a:rPr lang="en-US" dirty="0" err="1">
                <a:solidFill>
                  <a:srgbClr val="000000"/>
                </a:solidFill>
                <a:latin typeface="Consolas" panose="020B0609020204030204" pitchFamily="49" charset="0"/>
              </a:rPr>
              <a:t>requestNumber</a:t>
            </a:r>
            <a:r>
              <a:rPr lang="en-US" dirty="0">
                <a:solidFill>
                  <a:srgbClr val="0000FF"/>
                </a:solidFill>
                <a:latin typeface="Consolas" panose="020B0609020204030204" pitchFamily="49" charset="0"/>
              </a:rPr>
              <a:t>}</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p>
          <a:p>
            <a:pPr algn="l"/>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const</a:t>
            </a:r>
            <a:r>
              <a:rPr lang="en-US" dirty="0">
                <a:solidFill>
                  <a:srgbClr val="000000"/>
                </a:solidFill>
                <a:latin typeface="Consolas" panose="020B0609020204030204" pitchFamily="49" charset="0"/>
              </a:rPr>
              <a:t> response = </a:t>
            </a:r>
            <a:r>
              <a:rPr lang="en-US" dirty="0">
                <a:solidFill>
                  <a:srgbClr val="0000FF"/>
                </a:solidFill>
                <a:latin typeface="Consolas" panose="020B0609020204030204" pitchFamily="49" charset="0"/>
              </a:rPr>
              <a:t>await</a:t>
            </a:r>
            <a:r>
              <a:rPr lang="en-US" dirty="0">
                <a:solidFill>
                  <a:srgbClr val="000000"/>
                </a:solidFill>
                <a:latin typeface="Consolas" panose="020B0609020204030204" pitchFamily="49" charset="0"/>
              </a:rPr>
              <a:t> 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p>
          <a:p>
            <a:pPr algn="l"/>
            <a:r>
              <a:rPr lang="en-US" dirty="0">
                <a:solidFill>
                  <a:srgbClr val="000000"/>
                </a:solidFill>
                <a:latin typeface="Consolas" panose="020B0609020204030204" pitchFamily="49" charset="0"/>
              </a:rPr>
              <a:t>    console.log(</a:t>
            </a:r>
            <a:r>
              <a:rPr lang="en-US" dirty="0">
                <a:solidFill>
                  <a:srgbClr val="A31515"/>
                </a:solidFill>
                <a:latin typeface="Consolas" panose="020B0609020204030204" pitchFamily="49" charset="0"/>
              </a:rPr>
              <a:t>'request:'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requestNumber</a:t>
            </a:r>
            <a:r>
              <a:rPr lang="en-US" dirty="0">
                <a:solidFill>
                  <a:srgbClr val="000000"/>
                </a:solidFill>
                <a:latin typeface="Consolas" panose="020B0609020204030204" pitchFamily="49" charset="0"/>
              </a:rPr>
              <a:t>, </a:t>
            </a:r>
            <a:r>
              <a:rPr lang="en-US" dirty="0">
                <a:solidFill>
                  <a:srgbClr val="A31515"/>
                </a:solidFill>
                <a:latin typeface="Consolas" panose="020B0609020204030204" pitchFamily="49" charset="0"/>
              </a:rPr>
              <a:t>'; response:'</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response.data</a:t>
            </a:r>
            <a:r>
              <a:rPr lang="en-US" dirty="0">
                <a:solidFill>
                  <a:srgbClr val="000000"/>
                </a:solidFill>
                <a:latin typeface="Consolas" panose="020B0609020204030204" pitchFamily="49" charset="0"/>
              </a:rPr>
              <a:t>);</a:t>
            </a:r>
          </a:p>
          <a:p>
            <a:pPr algn="l"/>
            <a:r>
              <a:rPr lang="en-US"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118417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627C-81B3-2732-376C-3DF84021D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91CA-470E-0255-51F4-CC8BF4993552}"/>
              </a:ext>
            </a:extLst>
          </p:cNvPr>
          <p:cNvSpPr>
            <a:spLocks noGrp="1"/>
          </p:cNvSpPr>
          <p:nvPr>
            <p:ph type="title"/>
          </p:nvPr>
        </p:nvSpPr>
        <p:spPr/>
        <p:txBody>
          <a:bodyPr/>
          <a:lstStyle/>
          <a:p>
            <a:r>
              <a:rPr lang="en-US" dirty="0"/>
              <a:t>Pattern for starting a concurrent computation using non-blocking I/O</a:t>
            </a:r>
          </a:p>
        </p:txBody>
      </p:sp>
      <p:sp>
        <p:nvSpPr>
          <p:cNvPr id="3" name="Content Placeholder 2">
            <a:extLst>
              <a:ext uri="{FF2B5EF4-FFF2-40B4-BE49-F238E27FC236}">
                <a16:creationId xmlns:a16="http://schemas.microsoft.com/office/drawing/2014/main" id="{9D42814D-9EF7-9483-CDB5-0247C4D40674}"/>
              </a:ext>
            </a:extLst>
          </p:cNvPr>
          <p:cNvSpPr>
            <a:spLocks noGrp="1"/>
          </p:cNvSpPr>
          <p:nvPr>
            <p:ph idx="1"/>
          </p:nvPr>
        </p:nvSpPr>
        <p:spPr>
          <a:xfrm>
            <a:off x="733302" y="3254361"/>
            <a:ext cx="11155326" cy="2755213"/>
          </a:xfrm>
        </p:spPr>
        <p:txBody>
          <a:bodyPr>
            <a:normAutofit fontScale="85000" lnSpcReduction="10000"/>
          </a:bodyPr>
          <a:lstStyle/>
          <a:p>
            <a:pPr marL="457200" indent="-457200">
              <a:buFont typeface="+mj-lt"/>
              <a:buAutoNum type="arabicPeriod"/>
            </a:pPr>
            <a:r>
              <a:rPr lang="en-US" dirty="0"/>
              <a:t>The first console.log is printed</a:t>
            </a:r>
          </a:p>
          <a:p>
            <a:pPr marL="457200" indent="-457200">
              <a:buFont typeface="+mj-lt"/>
              <a:buAutoNum type="arabicPeriod"/>
            </a:pPr>
            <a:r>
              <a:rPr lang="en-US" dirty="0"/>
              <a:t>The http request is </a:t>
            </a:r>
            <a:r>
              <a:rPr lang="en-US" i="1" dirty="0"/>
              <a:t>immediately</a:t>
            </a:r>
            <a:r>
              <a:rPr lang="en-US" dirty="0"/>
              <a:t> sent, using non-blocking i/o. The browser goes about its business</a:t>
            </a:r>
          </a:p>
          <a:p>
            <a:pPr marL="457200" indent="-457200">
              <a:buFont typeface="+mj-lt"/>
              <a:buAutoNum type="arabicPeriod"/>
            </a:pPr>
            <a:r>
              <a:rPr lang="en-US" dirty="0"/>
              <a:t>A pending promise is returned to the caller. Caller can continue its other business.</a:t>
            </a:r>
          </a:p>
          <a:p>
            <a:pPr marL="457200" indent="-457200">
              <a:buFont typeface="+mj-lt"/>
              <a:buAutoNum type="arabicPeriod"/>
            </a:pPr>
            <a:r>
              <a:rPr lang="en-US" dirty="0"/>
              <a:t>Eventually, the fetch returns.</a:t>
            </a:r>
          </a:p>
          <a:p>
            <a:pPr marL="457200" indent="-457200">
              <a:buFont typeface="+mj-lt"/>
              <a:buAutoNum type="arabicPeriod"/>
            </a:pPr>
            <a:r>
              <a:rPr lang="en-US" dirty="0"/>
              <a:t>Some time after that, the console.log is printed and the </a:t>
            </a:r>
            <a:r>
              <a:rPr lang="en-US" dirty="0" err="1"/>
              <a:t>makeRequest</a:t>
            </a:r>
            <a:r>
              <a:rPr lang="en-US" dirty="0"/>
              <a:t> concludes.</a:t>
            </a:r>
          </a:p>
          <a:p>
            <a:pPr marL="457200" indent="-457200">
              <a:buFont typeface="+mj-lt"/>
              <a:buAutoNum type="arabicPeriod"/>
            </a:pPr>
            <a:r>
              <a:rPr lang="en-US" dirty="0"/>
              <a:t>Any promises that are waiting for the result of this </a:t>
            </a:r>
            <a:r>
              <a:rPr lang="en-US" dirty="0" err="1"/>
              <a:t>makeRequest</a:t>
            </a:r>
            <a:r>
              <a:rPr lang="en-US" dirty="0"/>
              <a:t> become eligible for execution.</a:t>
            </a:r>
          </a:p>
          <a:p>
            <a:pPr marL="0" indent="0">
              <a:buNone/>
            </a:pPr>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3B8A6EB-75B7-BE7A-9873-3855350241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4625BB71-7766-8C90-ECB1-1D83B8007F99}"/>
              </a:ext>
            </a:extLst>
          </p:cNvPr>
          <p:cNvSpPr txBox="1"/>
          <p:nvPr/>
        </p:nvSpPr>
        <p:spPr>
          <a:xfrm>
            <a:off x="733302" y="1611457"/>
            <a:ext cx="10620498" cy="163121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00FF"/>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requestNumber:number</a:t>
            </a:r>
            <a:r>
              <a:rPr lang="en-US" sz="2000" b="0" dirty="0">
                <a:solidFill>
                  <a:srgbClr val="000000"/>
                </a:solidFill>
                <a:effectLst/>
                <a:latin typeface="Consolas" panose="020B0609020204030204" pitchFamily="49" charset="0"/>
              </a:rPr>
              <a:t>) {</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a:t>
            </a:r>
            <a:r>
              <a:rPr lang="en-US" sz="2000" b="0" dirty="0" err="1">
                <a:solidFill>
                  <a:srgbClr val="A31515"/>
                </a:solidFill>
                <a:effectLst/>
                <a:latin typeface="Consolas" panose="020B0609020204030204" pitchFamily="49" charset="0"/>
              </a:rPr>
              <a:t>makeRequest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response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fetch</a:t>
            </a:r>
            <a:r>
              <a:rPr lang="en-US" sz="2000" b="0" dirty="0">
                <a:solidFill>
                  <a:srgbClr val="000000"/>
                </a:solidFill>
                <a:effectLst/>
                <a:latin typeface="Consolas" panose="020B0609020204030204" pitchFamily="49" charset="0"/>
              </a:rPr>
              <a:t>(</a:t>
            </a:r>
            <a:r>
              <a:rPr lang="en-US" sz="2000" b="0" dirty="0">
                <a:solidFill>
                  <a:srgbClr val="A31515"/>
                </a:solidFill>
                <a:effectLst/>
                <a:latin typeface="Consolas" panose="020B0609020204030204" pitchFamily="49" charset="0"/>
              </a:rPr>
              <a:t>'https://rest-</a:t>
            </a:r>
            <a:r>
              <a:rPr lang="en-US" sz="2000" b="0" dirty="0" err="1">
                <a:solidFill>
                  <a:srgbClr val="A31515"/>
                </a:solidFill>
                <a:effectLst/>
                <a:latin typeface="Consolas" panose="020B0609020204030204" pitchFamily="49" charset="0"/>
              </a:rPr>
              <a:t>example.covey.town</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'request:'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requestNumber</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 response:'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response.data</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p:txBody>
      </p:sp>
      <p:sp>
        <p:nvSpPr>
          <p:cNvPr id="6" name="Rectangle: Rounded Corners 5">
            <a:extLst>
              <a:ext uri="{FF2B5EF4-FFF2-40B4-BE49-F238E27FC236}">
                <a16:creationId xmlns:a16="http://schemas.microsoft.com/office/drawing/2014/main" id="{54862370-2DDE-0308-73F3-23123117560F}"/>
              </a:ext>
            </a:extLst>
          </p:cNvPr>
          <p:cNvSpPr/>
          <p:nvPr/>
        </p:nvSpPr>
        <p:spPr>
          <a:xfrm>
            <a:off x="7981315" y="28415"/>
            <a:ext cx="4210685" cy="434698"/>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makeOneRequests.ts</a:t>
            </a:r>
            <a:endParaRPr lang="en-US" sz="2400" dirty="0">
              <a:solidFill>
                <a:schemeClr val="tx1"/>
              </a:solidFill>
            </a:endParaRPr>
          </a:p>
        </p:txBody>
      </p:sp>
    </p:spTree>
    <p:extLst>
      <p:ext uri="{BB962C8B-B14F-4D97-AF65-F5344CB8AC3E}">
        <p14:creationId xmlns:p14="http://schemas.microsoft.com/office/powerpoint/2010/main" val="38395947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9573260" cy="5078313"/>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1800" b="0" dirty="0">
                <a:solidFill>
                  <a:srgbClr val="0000FF"/>
                </a:solidFill>
                <a:effectLst/>
                <a:latin typeface="Consolas" panose="020B0609020204030204" pitchFamily="49" charset="0"/>
              </a:rPr>
              <a:t>import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axios</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from</a:t>
            </a:r>
            <a:r>
              <a:rPr lang="en-US" sz="1800" b="0" dirty="0">
                <a:solidFill>
                  <a:srgbClr val="000000"/>
                </a:solidFill>
                <a:effectLst/>
                <a:latin typeface="Consolas" panose="020B0609020204030204" pitchFamily="49" charset="0"/>
              </a:rPr>
              <a:t> </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axios</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FF"/>
                </a:solidFill>
                <a:effectLst/>
                <a:latin typeface="Consolas" panose="020B0609020204030204" pitchFamily="49" charset="0"/>
              </a:rPr>
              <a:t>export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requestNumber:number</a:t>
            </a:r>
            <a:r>
              <a:rPr lang="en-US" sz="1800" b="0" dirty="0">
                <a:solidFill>
                  <a:srgbClr val="000000"/>
                </a:solidFill>
                <a:effectLst/>
                <a:latin typeface="Consolas" panose="020B0609020204030204" pitchFamily="49" charset="0"/>
              </a:rPr>
              <a:t>)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a:t>
            </a:r>
            <a:r>
              <a:rPr lang="en-US" sz="1800" b="0" dirty="0" err="1">
                <a:solidFill>
                  <a:srgbClr val="A31515"/>
                </a:solidFill>
                <a:effectLst/>
                <a:latin typeface="Consolas" panose="020B0609020204030204" pitchFamily="49" charset="0"/>
              </a:rPr>
              <a:t>makeRequest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response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dirty="0">
                <a:solidFill>
                  <a:srgbClr val="000000"/>
                </a:solidFill>
                <a:latin typeface="Consolas" panose="020B0609020204030204" pitchFamily="49" charset="0"/>
              </a:rPr>
              <a:t>fetch(</a:t>
            </a:r>
            <a:r>
              <a:rPr lang="en-US" sz="1800" dirty="0">
                <a:solidFill>
                  <a:srgbClr val="A31515"/>
                </a:solidFill>
                <a:latin typeface="Consolas" panose="020B0609020204030204" pitchFamily="49" charset="0"/>
              </a:rPr>
              <a:t>'https://rest-</a:t>
            </a:r>
            <a:r>
              <a:rPr lang="en-US" sz="1800" dirty="0" err="1">
                <a:solidFill>
                  <a:srgbClr val="A31515"/>
                </a:solidFill>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dirty="0">
                <a:solidFill>
                  <a:srgbClr val="000000"/>
                </a:solidFill>
                <a:latin typeface="Consolas" panose="020B0609020204030204" pitchFamily="49" charset="0"/>
              </a:rPr>
              <a:t>);</a:t>
            </a:r>
            <a:endParaRPr lang="en-US" sz="1800" b="0" dirty="0">
              <a:solidFill>
                <a:srgbClr val="000000"/>
              </a:solidFill>
              <a:effectLst/>
              <a:latin typeface="Consolas" panose="020B0609020204030204" pitchFamily="49" charset="0"/>
            </a:endParaRP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`request: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make3ConcurrentRequests()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make3ConcurrentRequests'</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100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200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300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'make3ConcurrentRequests finished'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p>
          <a:p>
            <a:pPr algn="l"/>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get requests</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A0C2D166-D221-5634-F340-3FF7ECCBAEE9}"/>
              </a:ext>
            </a:extLst>
          </p:cNvPr>
          <p:cNvSpPr txBox="1"/>
          <p:nvPr/>
        </p:nvSpPr>
        <p:spPr>
          <a:xfrm>
            <a:off x="4498451" y="2025605"/>
            <a:ext cx="7117080" cy="2862322"/>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node </a:t>
            </a:r>
            <a:r>
              <a:rPr lang="en-US" sz="2000" dirty="0" err="1">
                <a:solidFill>
                  <a:prstClr val="black"/>
                </a:solidFill>
                <a:latin typeface="Lucida Console" panose="020B0609040504020204" pitchFamily="49" charset="0"/>
              </a:rPr>
              <a:t>makeThreeConcurrentRequests.ts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starting make3ConcurrentRequests</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(100)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(200)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(300)</a:t>
            </a:r>
          </a:p>
          <a:p>
            <a:pPr algn="l"/>
            <a:r>
              <a:rPr lang="en-US" sz="2000" dirty="0">
                <a:solidFill>
                  <a:prstClr val="black"/>
                </a:solidFill>
                <a:latin typeface="Lucida Console" panose="020B0609040504020204" pitchFamily="49" charset="0"/>
              </a:rPr>
              <a:t>make3ConcurrentRequests finished</a:t>
            </a:r>
          </a:p>
          <a:p>
            <a:pPr algn="l"/>
            <a:r>
              <a:rPr lang="en-US" sz="2000" dirty="0">
                <a:solidFill>
                  <a:prstClr val="black"/>
                </a:solidFill>
                <a:latin typeface="Lucida Console" panose="020B0609040504020204" pitchFamily="49" charset="0"/>
              </a:rPr>
              <a:t>request 300 returned</a:t>
            </a:r>
          </a:p>
          <a:p>
            <a:pPr algn="l"/>
            <a:r>
              <a:rPr lang="en-US" sz="2000" dirty="0">
                <a:solidFill>
                  <a:prstClr val="black"/>
                </a:solidFill>
                <a:latin typeface="Lucida Console" panose="020B0609040504020204" pitchFamily="49" charset="0"/>
              </a:rPr>
              <a:t>request 100 returned</a:t>
            </a:r>
          </a:p>
          <a:p>
            <a:pPr algn="l"/>
            <a:r>
              <a:rPr lang="en-US" sz="2000" dirty="0">
                <a:solidFill>
                  <a:prstClr val="black"/>
                </a:solidFill>
                <a:latin typeface="Lucida Console" panose="020B0609040504020204" pitchFamily="49" charset="0"/>
              </a:rPr>
              <a:t>request 200 returned</a:t>
            </a:r>
            <a:endParaRPr lang="en-US" sz="2000" dirty="0"/>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spTree>
    <p:extLst>
      <p:ext uri="{BB962C8B-B14F-4D97-AF65-F5344CB8AC3E}">
        <p14:creationId xmlns:p14="http://schemas.microsoft.com/office/powerpoint/2010/main" val="2188387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If you add awaits, the requests will be processed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res1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(1)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res1</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res2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res2</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res3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res3</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a:t>
            </a:r>
          </a:p>
          <a:p>
            <a:pPr algn="l"/>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041030"/>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7125667" y="1375114"/>
            <a:ext cx="4969278"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threeRequestsSequentially.ts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(1) returned: 11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(2) returned: 12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 returned: 13</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3024.03 msec</a:t>
            </a:r>
          </a:p>
        </p:txBody>
      </p:sp>
      <p:sp>
        <p:nvSpPr>
          <p:cNvPr id="6" name="Oval 5">
            <a:extLst>
              <a:ext uri="{FF2B5EF4-FFF2-40B4-BE49-F238E27FC236}">
                <a16:creationId xmlns:a16="http://schemas.microsoft.com/office/drawing/2014/main" id="{0D7BB16A-95D1-89D3-897B-11BAEE66BE98}"/>
              </a:ext>
            </a:extLst>
          </p:cNvPr>
          <p:cNvSpPr/>
          <p:nvPr/>
        </p:nvSpPr>
        <p:spPr>
          <a:xfrm>
            <a:off x="7041446" y="531194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838D7-25A5-BD6D-3EB0-27C3E474BB42}"/>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3" name="Slide Number Placeholder 2">
            <a:extLst>
              <a:ext uri="{FF2B5EF4-FFF2-40B4-BE49-F238E27FC236}">
                <a16:creationId xmlns:a16="http://schemas.microsoft.com/office/drawing/2014/main" id="{694671A2-AD83-14D7-2291-0DE439A8B07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AE052D-2915-5AC4-85A2-7B9A3F13D352}"/>
              </a:ext>
            </a:extLst>
          </p:cNvPr>
          <p:cNvSpPr txBox="1"/>
          <p:nvPr/>
        </p:nvSpPr>
        <p:spPr>
          <a:xfrm>
            <a:off x="376990" y="1528172"/>
            <a:ext cx="928537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main() {</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'starting main'</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promises =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results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Promise.all</a:t>
            </a:r>
            <a:r>
              <a:rPr lang="en-US" sz="2400" b="0" dirty="0">
                <a:solidFill>
                  <a:srgbClr val="000000"/>
                </a:solidFill>
                <a:effectLst/>
                <a:latin typeface="Consolas" panose="020B0609020204030204" pitchFamily="49" charset="0"/>
              </a:rPr>
              <a:t>(promises);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'results:'</a:t>
            </a:r>
            <a:r>
              <a:rPr lang="en-US" sz="2400" b="0" dirty="0">
                <a:solidFill>
                  <a:srgbClr val="000000"/>
                </a:solidFill>
                <a:effectLst/>
                <a:latin typeface="Consolas" panose="020B0609020204030204" pitchFamily="49" charset="0"/>
              </a:rPr>
              <a:t>, results);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'main done'</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a:t>
            </a:r>
          </a:p>
          <a:p>
            <a:pPr algn="l"/>
            <a:br>
              <a:rPr lang="en-US" sz="2400" b="0" dirty="0">
                <a:solidFill>
                  <a:srgbClr val="000000"/>
                </a:solidFill>
                <a:effectLst/>
                <a:latin typeface="Consolas" panose="020B0609020204030204" pitchFamily="49" charset="0"/>
              </a:rPr>
            </a:br>
            <a:r>
              <a:rPr lang="en-US" sz="2400" b="0" dirty="0" err="1">
                <a:solidFill>
                  <a:srgbClr val="000000"/>
                </a:solidFill>
                <a:effectLst/>
                <a:latin typeface="Consolas" panose="020B0609020204030204" pitchFamily="49" charset="0"/>
              </a:rPr>
              <a:t>timeIt</a:t>
            </a:r>
            <a:r>
              <a:rPr lang="en-US" sz="24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E0DE3C76-DED3-4E5B-DACE-9C0E5736DF97}"/>
              </a:ext>
            </a:extLst>
          </p:cNvPr>
          <p:cNvSpPr txBox="1"/>
          <p:nvPr/>
        </p:nvSpPr>
        <p:spPr>
          <a:xfrm>
            <a:off x="6760709" y="236501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threeRequestsConcurrently.ts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1018.81 </a:t>
            </a:r>
            <a:r>
              <a:rPr lang="en-US" sz="2000" dirty="0" err="1">
                <a:solidFill>
                  <a:schemeClr val="tx1"/>
                </a:solidFill>
                <a:latin typeface="Verdana" panose="020B0604030504040204" pitchFamily="34" charset="0"/>
                <a:ea typeface="Verdana" panose="020B0604030504040204" pitchFamily="34" charset="0"/>
              </a:rPr>
              <a:t>msecno</a:t>
            </a:r>
            <a:endParaRPr lang="en-US" sz="2000" dirty="0">
              <a:solidFill>
                <a:schemeClr val="tx1"/>
              </a:solidFill>
              <a:latin typeface="Verdana" panose="020B0604030504040204" pitchFamily="34" charset="0"/>
              <a:ea typeface="Verdana" panose="020B0604030504040204" pitchFamily="34" charset="0"/>
            </a:endParaRPr>
          </a:p>
        </p:txBody>
      </p:sp>
      <p:sp>
        <p:nvSpPr>
          <p:cNvPr id="7" name="Oval 6">
            <a:extLst>
              <a:ext uri="{FF2B5EF4-FFF2-40B4-BE49-F238E27FC236}">
                <a16:creationId xmlns:a16="http://schemas.microsoft.com/office/drawing/2014/main" id="{DF350BD1-BCBF-4053-D8F2-B89C978EAA4F}"/>
              </a:ext>
            </a:extLst>
          </p:cNvPr>
          <p:cNvSpPr/>
          <p:nvPr/>
        </p:nvSpPr>
        <p:spPr>
          <a:xfrm>
            <a:off x="6608309" y="5618765"/>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Rectangle: Rounded Corners 3">
            <a:extLst>
              <a:ext uri="{FF2B5EF4-FFF2-40B4-BE49-F238E27FC236}">
                <a16:creationId xmlns:a16="http://schemas.microsoft.com/office/drawing/2014/main" id="{96E20820-F3F8-F753-CE7F-B002FECF2E4E}"/>
              </a:ext>
            </a:extLst>
          </p:cNvPr>
          <p:cNvSpPr/>
          <p:nvPr/>
        </p:nvSpPr>
        <p:spPr>
          <a:xfrm>
            <a:off x="5798634" y="906135"/>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spTree>
    <p:extLst>
      <p:ext uri="{BB962C8B-B14F-4D97-AF65-F5344CB8AC3E}">
        <p14:creationId xmlns:p14="http://schemas.microsoft.com/office/powerpoint/2010/main" val="1692804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P spid="7" grpId="0" animBg="1"/>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3FE440-1FD3-2B4F-403A-E40489D13083}"/>
              </a:ext>
            </a:extLst>
          </p:cNvPr>
          <p:cNvSpPr>
            <a:spLocks noGrp="1"/>
          </p:cNvSpPr>
          <p:nvPr>
            <p:ph type="title"/>
          </p:nvPr>
        </p:nvSpPr>
        <p:spPr/>
        <p:txBody>
          <a:bodyPr/>
          <a:lstStyle/>
          <a:p>
            <a:r>
              <a:rPr lang="en-US" dirty="0"/>
              <a:t>…but it would be much slower</a:t>
            </a:r>
          </a:p>
        </p:txBody>
      </p:sp>
      <p:sp>
        <p:nvSpPr>
          <p:cNvPr id="3" name="Slide Number Placeholder 2">
            <a:extLst>
              <a:ext uri="{FF2B5EF4-FFF2-40B4-BE49-F238E27FC236}">
                <a16:creationId xmlns:a16="http://schemas.microsoft.com/office/drawing/2014/main" id="{462549B7-9B6F-7E72-66A0-E704B24B20F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17FB539-8276-5DDE-65FD-937F1297E272}"/>
              </a:ext>
            </a:extLst>
          </p:cNvPr>
          <p:cNvSpPr txBox="1"/>
          <p:nvPr/>
        </p:nvSpPr>
        <p:spPr>
          <a:xfrm>
            <a:off x="711200" y="1745040"/>
            <a:ext cx="10769600" cy="1323439"/>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tsx</a:t>
            </a:r>
            <a:r>
              <a:rPr lang="en-US" sz="2000" dirty="0">
                <a:solidFill>
                  <a:prstClr val="black"/>
                </a:solidFill>
                <a:latin typeface="Lucida Console" panose="020B0609040504020204" pitchFamily="49" charset="0"/>
              </a:rPr>
              <a:t> </a:t>
            </a:r>
            <a:r>
              <a:rPr lang="en-US" sz="2000" dirty="0" err="1">
                <a:solidFill>
                  <a:prstClr val="black"/>
                </a:solidFill>
                <a:latin typeface="Lucida Console" panose="020B0609040504020204" pitchFamily="49" charset="0"/>
              </a:rPr>
              <a:t>timeComparison.ts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After 100 runs of length 10 with delay 100ms</a:t>
            </a:r>
          </a:p>
          <a:p>
            <a:pPr algn="l"/>
            <a:r>
              <a:rPr lang="en-US" sz="2000" dirty="0" err="1">
                <a:solidFill>
                  <a:prstClr val="black"/>
                </a:solidFill>
                <a:latin typeface="Lucida Console" panose="020B0609040504020204" pitchFamily="49" charset="0"/>
              </a:rPr>
              <a:t>makeRequestsConcurrently</a:t>
            </a:r>
            <a:r>
              <a:rPr lang="en-US" sz="2000" dirty="0">
                <a:solidFill>
                  <a:prstClr val="black"/>
                </a:solidFill>
                <a:latin typeface="Lucida Console" panose="020B0609040504020204" pitchFamily="49" charset="0"/>
              </a:rPr>
              <a:t>: min = 107  avg = 109 max = 115 msec</a:t>
            </a:r>
          </a:p>
          <a:p>
            <a:pPr algn="l"/>
            <a:r>
              <a:rPr lang="en-US" sz="2000" dirty="0" err="1">
                <a:solidFill>
                  <a:prstClr val="black"/>
                </a:solidFill>
                <a:latin typeface="Lucida Console" panose="020B0609040504020204" pitchFamily="49" charset="0"/>
              </a:rPr>
              <a:t>makeRequestsSerially</a:t>
            </a:r>
            <a:r>
              <a:rPr lang="en-US" sz="2000" dirty="0">
                <a:solidFill>
                  <a:prstClr val="black"/>
                </a:solidFill>
                <a:latin typeface="Lucida Console" panose="020B0609040504020204" pitchFamily="49" charset="0"/>
              </a:rPr>
              <a:t>    : min = 1085  avg = 1093 max = 1103 msec</a:t>
            </a:r>
          </a:p>
        </p:txBody>
      </p:sp>
    </p:spTree>
    <p:extLst>
      <p:ext uri="{BB962C8B-B14F-4D97-AF65-F5344CB8AC3E}">
        <p14:creationId xmlns:p14="http://schemas.microsoft.com/office/powerpoint/2010/main" val="18641397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237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674302" y="3966210"/>
            <a:ext cx="1398428" cy="786357"/>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800" dirty="0">
                <a:solidFill>
                  <a:schemeClr val="tx1"/>
                </a:solidFill>
              </a:rPr>
              <a:t>34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557F9-4669-BC23-671C-8C691083F9C1}"/>
              </a:ext>
            </a:extLst>
          </p:cNvPr>
          <p:cNvSpPr>
            <a:spLocks noGrp="1"/>
          </p:cNvSpPr>
          <p:nvPr>
            <p:ph type="title"/>
          </p:nvPr>
        </p:nvSpPr>
        <p:spPr/>
        <p:txBody>
          <a:bodyPr/>
          <a:lstStyle/>
          <a:p>
            <a:r>
              <a:rPr lang="en-US" dirty="0"/>
              <a:t>Requests can also be chained (if they are serial)</a:t>
            </a:r>
          </a:p>
        </p:txBody>
      </p:sp>
      <p:sp>
        <p:nvSpPr>
          <p:cNvPr id="3" name="Slide Number Placeholder 2">
            <a:extLst>
              <a:ext uri="{FF2B5EF4-FFF2-40B4-BE49-F238E27FC236}">
                <a16:creationId xmlns:a16="http://schemas.microsoft.com/office/drawing/2014/main" id="{F8808706-6268-9CD3-2DA8-A73471FBB5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987993F6-2888-EBB7-4525-CD86F2703834}"/>
              </a:ext>
            </a:extLst>
          </p:cNvPr>
          <p:cNvSpPr txBox="1"/>
          <p:nvPr/>
        </p:nvSpPr>
        <p:spPr>
          <a:xfrm>
            <a:off x="96252" y="1472817"/>
            <a:ext cx="10719601" cy="367564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none">
            <a:noAutofit/>
          </a:bodyPr>
          <a:lstStyle/>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main() {</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started'</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request1 = </a:t>
            </a:r>
            <a:r>
              <a:rPr lang="en-US" sz="1800" b="0" dirty="0">
                <a:solidFill>
                  <a:srgbClr val="098658"/>
                </a:solidFill>
                <a:effectLst/>
                <a:latin typeface="Consolas" panose="020B0609020204030204" pitchFamily="49" charset="0"/>
              </a:rPr>
              <a:t>32</a:t>
            </a:r>
            <a:endParaRPr lang="en-US" sz="1800" b="0" dirty="0">
              <a:solidFill>
                <a:srgbClr val="000000"/>
              </a:solidFill>
              <a:effectLst/>
              <a:latin typeface="Consolas" panose="020B0609020204030204" pitchFamily="49" charset="0"/>
            </a:endParaRP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res1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(request1);</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request1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res2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(res1);</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res1</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res2</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res3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(res2);</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fakeRequest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res2</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)returned: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res3</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console.log([request1, res1, res2, res3]);</a:t>
            </a:r>
          </a:p>
          <a:p>
            <a:pPr algn="l">
              <a:buNone/>
            </a:pPr>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'main done'</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p:txBody>
      </p:sp>
      <p:sp>
        <p:nvSpPr>
          <p:cNvPr id="4" name="TextBox 3">
            <a:extLst>
              <a:ext uri="{FF2B5EF4-FFF2-40B4-BE49-F238E27FC236}">
                <a16:creationId xmlns:a16="http://schemas.microsoft.com/office/drawing/2014/main" id="{D8EF7B45-A161-261B-F400-90B48A588379}"/>
              </a:ext>
            </a:extLst>
          </p:cNvPr>
          <p:cNvSpPr txBox="1"/>
          <p:nvPr/>
        </p:nvSpPr>
        <p:spPr>
          <a:xfrm>
            <a:off x="7350257" y="1594186"/>
            <a:ext cx="4745491" cy="4762164"/>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threeRequestsChained.ts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42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(42)returned: 52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52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(52)returned: 62</a:t>
            </a:r>
          </a:p>
          <a:p>
            <a:pPr algn="l"/>
            <a:r>
              <a:rPr lang="en-US" sz="2000" dirty="0">
                <a:solidFill>
                  <a:schemeClr val="tx1"/>
                </a:solidFill>
                <a:latin typeface="Verdana" panose="020B0604030504040204" pitchFamily="34" charset="0"/>
                <a:ea typeface="Verdana" panose="020B0604030504040204" pitchFamily="34" charset="0"/>
              </a:rPr>
              <a:t>[ 32, 42, 52, 62 ]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3080.99 msec</a:t>
            </a:r>
          </a:p>
        </p:txBody>
      </p:sp>
      <p:sp>
        <p:nvSpPr>
          <p:cNvPr id="6" name="Rectangle: Rounded Corners 5">
            <a:extLst>
              <a:ext uri="{FF2B5EF4-FFF2-40B4-BE49-F238E27FC236}">
                <a16:creationId xmlns:a16="http://schemas.microsoft.com/office/drawing/2014/main" id="{E7327235-4F4D-134F-DFF0-8BB6AD19BE88}"/>
              </a:ext>
            </a:extLst>
          </p:cNvPr>
          <p:cNvSpPr/>
          <p:nvPr/>
        </p:nvSpPr>
        <p:spPr>
          <a:xfrm>
            <a:off x="915080" y="5391129"/>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threeRequestsChained.ts</a:t>
            </a:r>
            <a:endParaRPr lang="en-US" sz="2400" dirty="0">
              <a:solidFill>
                <a:schemeClr val="tx1"/>
              </a:solidFill>
            </a:endParaRPr>
          </a:p>
        </p:txBody>
      </p:sp>
    </p:spTree>
    <p:extLst>
      <p:ext uri="{BB962C8B-B14F-4D97-AF65-F5344CB8AC3E}">
        <p14:creationId xmlns:p14="http://schemas.microsoft.com/office/powerpoint/2010/main" val="269510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Recover from errors with try/catch</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`Error occurred for request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5961358" y="4105898"/>
            <a:ext cx="4773698" cy="2250452"/>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Error occurred for request -32</a:t>
            </a:r>
          </a:p>
          <a:p>
            <a:pPr algn="l"/>
            <a:r>
              <a:rPr lang="en-US" sz="2000" dirty="0">
                <a:solidFill>
                  <a:schemeClr val="tx1"/>
                </a:solidFill>
                <a:latin typeface="Verdana" panose="020B0604030504040204" pitchFamily="34" charset="0"/>
                <a:ea typeface="Verdana" panose="020B0604030504040204" pitchFamily="34" charset="0"/>
              </a:rPr>
              <a:t>main done with res = 0        </a:t>
            </a:r>
          </a:p>
          <a:p>
            <a:pPr algn="l"/>
            <a:r>
              <a:rPr lang="en-US" sz="2000" dirty="0">
                <a:solidFill>
                  <a:schemeClr val="tx1"/>
                </a:solidFill>
                <a:latin typeface="Verdana" panose="020B0604030504040204" pitchFamily="34" charset="0"/>
                <a:ea typeface="Verdana" panose="020B0604030504040204" pitchFamily="34" charset="0"/>
              </a:rPr>
              <a:t>1007.52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199" y="1377264"/>
            <a:ext cx="10670649" cy="480131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vitest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should make a network request using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myFetch</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and then returns n + 1</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(await/expect)'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resolves</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(expect/await)'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7</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8</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6936849" y="1452713"/>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example.test.ts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Tree>
    <p:extLst>
      <p:ext uri="{BB962C8B-B14F-4D97-AF65-F5344CB8AC3E}">
        <p14:creationId xmlns:p14="http://schemas.microsoft.com/office/powerpoint/2010/main" val="6649838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14E23-6B1E-6DA9-43DE-D4AB6B8047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A7287F-F13F-EB1E-780C-93A76182EF32}"/>
              </a:ext>
            </a:extLst>
          </p:cNvPr>
          <p:cNvSpPr>
            <a:spLocks noGrp="1"/>
          </p:cNvSpPr>
          <p:nvPr>
            <p:ph type="title"/>
          </p:nvPr>
        </p:nvSpPr>
        <p:spPr/>
        <p:txBody>
          <a:bodyPr/>
          <a:lstStyle/>
          <a:p>
            <a:r>
              <a:rPr lang="en-US" dirty="0" err="1"/>
              <a:t>AntiPattern</a:t>
            </a:r>
            <a:r>
              <a:rPr lang="en-US" dirty="0"/>
              <a:t> 1: </a:t>
            </a:r>
            <a:r>
              <a:rPr lang="en-US" dirty="0" err="1"/>
              <a:t>un</a:t>
            </a:r>
            <a:r>
              <a:rPr lang="en-US" b="1" dirty="0" err="1"/>
              <a:t>await</a:t>
            </a:r>
            <a:r>
              <a:rPr lang="en-US" dirty="0" err="1"/>
              <a:t>ed</a:t>
            </a:r>
            <a:r>
              <a:rPr lang="en-US" dirty="0"/>
              <a:t> promise</a:t>
            </a:r>
          </a:p>
        </p:txBody>
      </p:sp>
      <p:sp>
        <p:nvSpPr>
          <p:cNvPr id="3" name="Slide Number Placeholder 2">
            <a:extLst>
              <a:ext uri="{FF2B5EF4-FFF2-40B4-BE49-F238E27FC236}">
                <a16:creationId xmlns:a16="http://schemas.microsoft.com/office/drawing/2014/main" id="{4F4B96EB-0B11-E398-A048-10591D4A8A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A3B20F1-3798-4B90-66E0-29F929CC20B9}"/>
              </a:ext>
            </a:extLst>
          </p:cNvPr>
          <p:cNvSpPr txBox="1"/>
          <p:nvPr/>
        </p:nvSpPr>
        <p:spPr>
          <a:xfrm>
            <a:off x="838200" y="1713651"/>
            <a:ext cx="9921240" cy="60016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request = </a:t>
            </a:r>
            <a:r>
              <a:rPr lang="en-US" sz="2000" b="0" dirty="0">
                <a:solidFill>
                  <a:srgbClr val="098658"/>
                </a:solidFill>
                <a:effectLst/>
                <a:latin typeface="Consolas" panose="020B0609020204030204" pitchFamily="49" charset="0"/>
              </a:rPr>
              <a:t>32</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(request);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3200" b="0" dirty="0">
                <a:solidFill>
                  <a:srgbClr val="000000"/>
                </a:solidFill>
                <a:effectLst/>
                <a:latin typeface="Consolas" panose="020B0609020204030204" pitchFamily="49" charset="0"/>
              </a:rPr>
            </a:br>
            <a:br>
              <a:rPr lang="en-US" sz="32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6A6B5414-BFCC-277C-2680-A68D9807DB6C}"/>
              </a:ext>
            </a:extLst>
          </p:cNvPr>
          <p:cNvSpPr/>
          <p:nvPr/>
        </p:nvSpPr>
        <p:spPr>
          <a:xfrm>
            <a:off x="5102070"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oneRequestNoAwait.ts</a:t>
            </a:r>
            <a:endParaRPr lang="en-US" sz="2400" dirty="0">
              <a:solidFill>
                <a:schemeClr val="tx1"/>
              </a:solidFill>
            </a:endParaRPr>
          </a:p>
        </p:txBody>
      </p:sp>
      <p:sp>
        <p:nvSpPr>
          <p:cNvPr id="4" name="TextBox 3">
            <a:extLst>
              <a:ext uri="{FF2B5EF4-FFF2-40B4-BE49-F238E27FC236}">
                <a16:creationId xmlns:a16="http://schemas.microsoft.com/office/drawing/2014/main" id="{66E8FBED-B605-FC27-1D00-D9868FABB613}"/>
              </a:ext>
            </a:extLst>
          </p:cNvPr>
          <p:cNvSpPr txBox="1"/>
          <p:nvPr/>
        </p:nvSpPr>
        <p:spPr>
          <a:xfrm>
            <a:off x="6096000" y="3920951"/>
            <a:ext cx="5899485" cy="2638592"/>
          </a:xfrm>
          <a:prstGeom prst="rect">
            <a:avLst/>
          </a:prstGeom>
          <a:solidFill>
            <a:schemeClr val="bg1">
              <a:alpha val="96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oneRequestNoAwait.ts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[object Promise]</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2.64 msec</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p:txBody>
      </p:sp>
    </p:spTree>
    <p:extLst>
      <p:ext uri="{BB962C8B-B14F-4D97-AF65-F5344CB8AC3E}">
        <p14:creationId xmlns:p14="http://schemas.microsoft.com/office/powerpoint/2010/main" val="3282985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C16B3A9-1CA3-D434-E3DD-4F382E289B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D8002-1C99-EC9F-DA70-F0E3169E1549}"/>
              </a:ext>
            </a:extLst>
          </p:cNvPr>
          <p:cNvSpPr>
            <a:spLocks noGrp="1"/>
          </p:cNvSpPr>
          <p:nvPr>
            <p:ph type="title"/>
          </p:nvPr>
        </p:nvSpPr>
        <p:spPr/>
        <p:txBody>
          <a:bodyPr/>
          <a:lstStyle/>
          <a:p>
            <a:r>
              <a:rPr lang="en-US" dirty="0"/>
              <a:t>What just happened?</a:t>
            </a:r>
          </a:p>
        </p:txBody>
      </p:sp>
      <p:sp>
        <p:nvSpPr>
          <p:cNvPr id="3" name="Slide Number Placeholder 2">
            <a:extLst>
              <a:ext uri="{FF2B5EF4-FFF2-40B4-BE49-F238E27FC236}">
                <a16:creationId xmlns:a16="http://schemas.microsoft.com/office/drawing/2014/main" id="{BC30DBE3-1B9B-4F46-5CEB-C4AA88A8E6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2B1F02AF-8DE3-DFC5-F033-2E405B803472}"/>
              </a:ext>
            </a:extLst>
          </p:cNvPr>
          <p:cNvSpPr txBox="1"/>
          <p:nvPr/>
        </p:nvSpPr>
        <p:spPr>
          <a:xfrm>
            <a:off x="6990347" y="105223"/>
            <a:ext cx="4363453" cy="1584363"/>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62500" lnSpcReduction="20000"/>
          </a:bodyPr>
          <a:lstStyle/>
          <a:p>
            <a:pPr algn="l">
              <a:lnSpc>
                <a:spcPct val="120000"/>
              </a:lnSpc>
            </a:pPr>
            <a:r>
              <a:rPr lang="en-US" sz="2000" dirty="0">
                <a:solidFill>
                  <a:srgbClr val="7030A0"/>
                </a:solidFill>
                <a:latin typeface="Verdana" panose="020B0604030504040204" pitchFamily="34" charset="0"/>
                <a:ea typeface="Verdana" panose="020B0604030504040204" pitchFamily="34" charset="0"/>
              </a:rPr>
              <a:t>$ node </a:t>
            </a:r>
            <a:r>
              <a:rPr lang="en-US" sz="2000" dirty="0" err="1">
                <a:solidFill>
                  <a:srgbClr val="7030A0"/>
                </a:solidFill>
                <a:latin typeface="Verdana" panose="020B0604030504040204" pitchFamily="34" charset="0"/>
                <a:ea typeface="Verdana" panose="020B0604030504040204" pitchFamily="34" charset="0"/>
              </a:rPr>
              <a:t>oneRequestNoAwait.ts</a:t>
            </a:r>
            <a:r>
              <a:rPr lang="en-US" sz="2000" dirty="0">
                <a:solidFill>
                  <a:srgbClr val="7030A0"/>
                </a:solidFill>
                <a:latin typeface="Verdana" panose="020B0604030504040204" pitchFamily="34" charset="0"/>
                <a:ea typeface="Verdana" panose="020B0604030504040204" pitchFamily="34" charset="0"/>
              </a:rPr>
              <a:t> </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main started</a:t>
            </a:r>
          </a:p>
          <a:p>
            <a:pPr algn="l">
              <a:lnSpc>
                <a:spcPct val="120000"/>
              </a:lnSpc>
            </a:pPr>
            <a:r>
              <a:rPr lang="en-US" sz="2000" dirty="0" err="1">
                <a:solidFill>
                  <a:srgbClr val="7030A0"/>
                </a:solidFill>
                <a:latin typeface="Verdana" panose="020B0604030504040204" pitchFamily="34" charset="0"/>
                <a:ea typeface="Verdana" panose="020B0604030504040204" pitchFamily="34" charset="0"/>
              </a:rPr>
              <a:t>fakeRequest</a:t>
            </a:r>
            <a:r>
              <a:rPr lang="en-US" sz="2000" dirty="0">
                <a:solidFill>
                  <a:srgbClr val="7030A0"/>
                </a:solidFill>
                <a:latin typeface="Verdana" panose="020B0604030504040204" pitchFamily="34" charset="0"/>
                <a:ea typeface="Verdana" panose="020B0604030504040204" pitchFamily="34" charset="0"/>
              </a:rPr>
              <a:t>(32) returned: [object Promise]</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main done</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2.64 msec</a:t>
            </a:r>
          </a:p>
          <a:p>
            <a:pPr algn="l">
              <a:lnSpc>
                <a:spcPct val="120000"/>
              </a:lnSpc>
            </a:pPr>
            <a:r>
              <a:rPr lang="en-US" sz="2000" dirty="0" err="1">
                <a:solidFill>
                  <a:srgbClr val="7030A0"/>
                </a:solidFill>
                <a:latin typeface="Verdana" panose="020B0604030504040204" pitchFamily="34" charset="0"/>
                <a:ea typeface="Verdana" panose="020B0604030504040204" pitchFamily="34" charset="0"/>
              </a:rPr>
              <a:t>fakeRequest</a:t>
            </a:r>
            <a:r>
              <a:rPr lang="en-US" sz="2000" dirty="0">
                <a:solidFill>
                  <a:srgbClr val="7030A0"/>
                </a:solidFill>
                <a:latin typeface="Verdana" panose="020B0604030504040204" pitchFamily="34" charset="0"/>
                <a:ea typeface="Verdana" panose="020B0604030504040204" pitchFamily="34" charset="0"/>
              </a:rPr>
              <a:t> received request: 32</a:t>
            </a:r>
          </a:p>
          <a:p>
            <a:pPr algn="l">
              <a:lnSpc>
                <a:spcPct val="120000"/>
              </a:lnSpc>
            </a:pPr>
            <a:r>
              <a:rPr lang="en-US" sz="2000" dirty="0">
                <a:solidFill>
                  <a:srgbClr val="7030A0"/>
                </a:solidFill>
                <a:latin typeface="Verdana" panose="020B0604030504040204" pitchFamily="34" charset="0"/>
                <a:ea typeface="Verdana" panose="020B0604030504040204" pitchFamily="34" charset="0"/>
              </a:rPr>
              <a:t>time passes....</a:t>
            </a:r>
          </a:p>
        </p:txBody>
      </p:sp>
      <p:sp>
        <p:nvSpPr>
          <p:cNvPr id="5" name="TextBox 4">
            <a:extLst>
              <a:ext uri="{FF2B5EF4-FFF2-40B4-BE49-F238E27FC236}">
                <a16:creationId xmlns:a16="http://schemas.microsoft.com/office/drawing/2014/main" id="{C1E0BC84-B015-CBC7-53DD-85AF8C21B367}"/>
              </a:ext>
            </a:extLst>
          </p:cNvPr>
          <p:cNvSpPr txBox="1"/>
          <p:nvPr/>
        </p:nvSpPr>
        <p:spPr>
          <a:xfrm>
            <a:off x="657726" y="1556867"/>
            <a:ext cx="8414085" cy="421448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main() called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a:t>
            </a:r>
          </a:p>
          <a:p>
            <a:pPr marL="457200" indent="-457200" algn="l">
              <a:buFont typeface="+mj-lt"/>
              <a:buAutoNum type="arabicPeriod"/>
            </a:pP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created a unit of work (a Promise), and told the runtime to run it sometime or other. </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Normally, we wouldn't see the actual value returned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because we'd just wait for the unit of work to run before proceeding.</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But here, we didn't wait-- we just took the value returned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the Promise-- and printed it.  </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We finished our current unit of work, printing "main done", which informed the runtime that we were done.</a:t>
            </a:r>
          </a:p>
          <a:p>
            <a:pPr marL="457200" indent="-457200" algn="l">
              <a:buFont typeface="+mj-lt"/>
              <a:buAutoNum type="arabicPeriod"/>
            </a:pPr>
            <a:r>
              <a:rPr lang="en-US" sz="2200" dirty="0">
                <a:solidFill>
                  <a:schemeClr val="tx1"/>
                </a:solidFill>
                <a:latin typeface="Verdana" panose="020B0604030504040204" pitchFamily="34" charset="0"/>
                <a:ea typeface="Verdana" panose="020B0604030504040204" pitchFamily="34" charset="0"/>
              </a:rPr>
              <a:t>The runtime then looked around for another unit of work to do.  In this case, it found the unit of work created by </a:t>
            </a:r>
            <a:r>
              <a:rPr lang="en-US" sz="2200" dirty="0" err="1">
                <a:solidFill>
                  <a:schemeClr val="tx1"/>
                </a:solidFill>
                <a:latin typeface="Verdana" panose="020B0604030504040204" pitchFamily="34" charset="0"/>
                <a:ea typeface="Verdana" panose="020B0604030504040204" pitchFamily="34" charset="0"/>
              </a:rPr>
              <a:t>fakeRequest</a:t>
            </a:r>
            <a:r>
              <a:rPr lang="en-US" sz="2200" dirty="0">
                <a:solidFill>
                  <a:schemeClr val="tx1"/>
                </a:solidFill>
                <a:latin typeface="Verdana" panose="020B0604030504040204" pitchFamily="34" charset="0"/>
                <a:ea typeface="Verdana" panose="020B0604030504040204" pitchFamily="34" charset="0"/>
              </a:rPr>
              <a:t>(32), and ran it, printing the last two lines</a:t>
            </a:r>
          </a:p>
        </p:txBody>
      </p:sp>
    </p:spTree>
    <p:extLst>
      <p:ext uri="{BB962C8B-B14F-4D97-AF65-F5344CB8AC3E}">
        <p14:creationId xmlns:p14="http://schemas.microsoft.com/office/powerpoint/2010/main" val="21574498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6A55D-2528-DCB5-09F8-7CC2682A46CF}"/>
              </a:ext>
            </a:extLst>
          </p:cNvPr>
          <p:cNvSpPr>
            <a:spLocks noGrp="1"/>
          </p:cNvSpPr>
          <p:nvPr>
            <p:ph type="title"/>
          </p:nvPr>
        </p:nvSpPr>
        <p:spPr/>
        <p:txBody>
          <a:bodyPr/>
          <a:lstStyle/>
          <a:p>
            <a:r>
              <a:rPr lang="en-US" dirty="0"/>
              <a:t>Wow! That was complicated!</a:t>
            </a:r>
          </a:p>
        </p:txBody>
      </p:sp>
      <p:sp>
        <p:nvSpPr>
          <p:cNvPr id="6" name="Content Placeholder 5">
            <a:extLst>
              <a:ext uri="{FF2B5EF4-FFF2-40B4-BE49-F238E27FC236}">
                <a16:creationId xmlns:a16="http://schemas.microsoft.com/office/drawing/2014/main" id="{6EEDDBC3-3476-1D23-E440-67C32968B092}"/>
              </a:ext>
            </a:extLst>
          </p:cNvPr>
          <p:cNvSpPr>
            <a:spLocks noGrp="1"/>
          </p:cNvSpPr>
          <p:nvPr>
            <p:ph idx="1"/>
          </p:nvPr>
        </p:nvSpPr>
        <p:spPr/>
        <p:txBody>
          <a:bodyPr/>
          <a:lstStyle/>
          <a:p>
            <a:pPr>
              <a:lnSpc>
                <a:spcPct val="100000"/>
              </a:lnSpc>
            </a:pPr>
            <a:r>
              <a:rPr lang="en-US" dirty="0"/>
              <a:t>We try to make our code easy to understand.</a:t>
            </a:r>
          </a:p>
          <a:p>
            <a:pPr>
              <a:lnSpc>
                <a:spcPct val="100000"/>
              </a:lnSpc>
            </a:pPr>
            <a:r>
              <a:rPr lang="en-US" dirty="0"/>
              <a:t>That's why it's an </a:t>
            </a:r>
            <a:r>
              <a:rPr lang="en-US" dirty="0">
                <a:solidFill>
                  <a:srgbClr val="FF0000"/>
                </a:solidFill>
              </a:rPr>
              <a:t>anti</a:t>
            </a:r>
            <a:r>
              <a:rPr lang="en-US" dirty="0"/>
              <a:t>pattern.</a:t>
            </a:r>
          </a:p>
          <a:p>
            <a:pPr>
              <a:lnSpc>
                <a:spcPct val="100000"/>
              </a:lnSpc>
            </a:pPr>
            <a:r>
              <a:rPr lang="en-US" dirty="0"/>
              <a:t>Luckily, in real code we don't need to do this very often</a:t>
            </a:r>
          </a:p>
          <a:p>
            <a:endParaRPr lang="en-US" dirty="0"/>
          </a:p>
        </p:txBody>
      </p:sp>
      <p:sp>
        <p:nvSpPr>
          <p:cNvPr id="3" name="Slide Number Placeholder 2">
            <a:extLst>
              <a:ext uri="{FF2B5EF4-FFF2-40B4-BE49-F238E27FC236}">
                <a16:creationId xmlns:a16="http://schemas.microsoft.com/office/drawing/2014/main" id="{1791E4EA-E058-8ADA-00B7-04A93F5326F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FF1AD36-E6AA-5734-DC40-263724AC25F6}"/>
              </a:ext>
            </a:extLst>
          </p:cNvPr>
          <p:cNvSpPr txBox="1"/>
          <p:nvPr/>
        </p:nvSpPr>
        <p:spPr>
          <a:xfrm>
            <a:off x="1603207" y="2243753"/>
            <a:ext cx="6093994" cy="27699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t>is complicated (which is why it's an antipattern).  Here's what happened:</a:t>
            </a:r>
          </a:p>
        </p:txBody>
      </p:sp>
    </p:spTree>
    <p:extLst>
      <p:ext uri="{BB962C8B-B14F-4D97-AF65-F5344CB8AC3E}">
        <p14:creationId xmlns:p14="http://schemas.microsoft.com/office/powerpoint/2010/main" val="9083750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C3C71-F774-1710-A3D1-D12E7FEC9D88}"/>
              </a:ext>
            </a:extLst>
          </p:cNvPr>
          <p:cNvSpPr>
            <a:spLocks noGrp="1"/>
          </p:cNvSpPr>
          <p:nvPr>
            <p:ph type="title"/>
          </p:nvPr>
        </p:nvSpPr>
        <p:spPr/>
        <p:txBody>
          <a:bodyPr/>
          <a:lstStyle/>
          <a:p>
            <a:r>
              <a:rPr lang="en-US" dirty="0" err="1"/>
              <a:t>AntiPattern</a:t>
            </a:r>
            <a:r>
              <a:rPr lang="en-US" dirty="0"/>
              <a:t> 2: Side-effect before </a:t>
            </a:r>
            <a:r>
              <a:rPr lang="en-US" b="1" dirty="0"/>
              <a:t>await </a:t>
            </a:r>
            <a:r>
              <a:rPr lang="en-US" dirty="0"/>
              <a:t>can  be misleading</a:t>
            </a:r>
            <a:endParaRPr lang="en-US" b="1" dirty="0"/>
          </a:p>
        </p:txBody>
      </p:sp>
      <p:sp>
        <p:nvSpPr>
          <p:cNvPr id="4" name="Slide Number Placeholder 3">
            <a:extLst>
              <a:ext uri="{FF2B5EF4-FFF2-40B4-BE49-F238E27FC236}">
                <a16:creationId xmlns:a16="http://schemas.microsoft.com/office/drawing/2014/main" id="{A9E8AE3D-F9F1-A80A-92FB-EF7AA9EA53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Rectangle 4">
            <a:extLst>
              <a:ext uri="{FF2B5EF4-FFF2-40B4-BE49-F238E27FC236}">
                <a16:creationId xmlns:a16="http://schemas.microsoft.com/office/drawing/2014/main" id="{45DB45DA-C721-39D6-8D2B-F673BB783A5B}"/>
              </a:ext>
            </a:extLst>
          </p:cNvPr>
          <p:cNvSpPr/>
          <p:nvPr/>
        </p:nvSpPr>
        <p:spPr>
          <a:xfrm>
            <a:off x="1290145" y="2912564"/>
            <a:ext cx="7223234" cy="480302"/>
          </a:xfrm>
          <a:prstGeom prst="rect">
            <a:avLst/>
          </a:prstGeom>
          <a:solidFill>
            <a:schemeClr val="accent1">
              <a:lumMod val="40000"/>
              <a:lumOff val="60000"/>
              <a:alpha val="81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1" name="TextBox 10">
            <a:extLst>
              <a:ext uri="{FF2B5EF4-FFF2-40B4-BE49-F238E27FC236}">
                <a16:creationId xmlns:a16="http://schemas.microsoft.com/office/drawing/2014/main" id="{04A70C4F-62DF-3B99-2AD2-351E24CA15D7}"/>
              </a:ext>
            </a:extLst>
          </p:cNvPr>
          <p:cNvSpPr txBox="1"/>
          <p:nvPr/>
        </p:nvSpPr>
        <p:spPr>
          <a:xfrm>
            <a:off x="764627" y="1955052"/>
            <a:ext cx="703142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f()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'f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g();</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'f done'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g()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'g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32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(32)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a:t>
            </a:r>
          </a:p>
        </p:txBody>
      </p:sp>
      <p:sp>
        <p:nvSpPr>
          <p:cNvPr id="12" name="Rectangle 11">
            <a:extLst>
              <a:ext uri="{FF2B5EF4-FFF2-40B4-BE49-F238E27FC236}">
                <a16:creationId xmlns:a16="http://schemas.microsoft.com/office/drawing/2014/main" id="{5A643412-0F84-C000-DE6A-D0FF1D40B3B6}"/>
              </a:ext>
            </a:extLst>
          </p:cNvPr>
          <p:cNvSpPr/>
          <p:nvPr/>
        </p:nvSpPr>
        <p:spPr>
          <a:xfrm>
            <a:off x="1387366" y="4723007"/>
            <a:ext cx="7223234" cy="480302"/>
          </a:xfrm>
          <a:prstGeom prst="rect">
            <a:avLst/>
          </a:prstGeom>
          <a:solidFill>
            <a:schemeClr val="accent4">
              <a:lumMod val="20000"/>
              <a:lumOff val="80000"/>
              <a:alpha val="81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3" name="Rectangle 12">
            <a:extLst>
              <a:ext uri="{FF2B5EF4-FFF2-40B4-BE49-F238E27FC236}">
                <a16:creationId xmlns:a16="http://schemas.microsoft.com/office/drawing/2014/main" id="{69F8F9ED-1E90-84ED-40DB-6F66F573A069}"/>
              </a:ext>
            </a:extLst>
          </p:cNvPr>
          <p:cNvSpPr/>
          <p:nvPr/>
        </p:nvSpPr>
        <p:spPr>
          <a:xfrm>
            <a:off x="1290145" y="2193657"/>
            <a:ext cx="7223234" cy="480302"/>
          </a:xfrm>
          <a:prstGeom prst="rect">
            <a:avLst/>
          </a:prstGeom>
          <a:solidFill>
            <a:srgbClr val="92D050">
              <a:alpha val="53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4" name="Rectangle 13">
            <a:extLst>
              <a:ext uri="{FF2B5EF4-FFF2-40B4-BE49-F238E27FC236}">
                <a16:creationId xmlns:a16="http://schemas.microsoft.com/office/drawing/2014/main" id="{DADCBE6A-5839-C307-DF51-AE86B364357F}"/>
              </a:ext>
            </a:extLst>
          </p:cNvPr>
          <p:cNvSpPr/>
          <p:nvPr/>
        </p:nvSpPr>
        <p:spPr>
          <a:xfrm>
            <a:off x="1387366" y="4004100"/>
            <a:ext cx="7223234" cy="480302"/>
          </a:xfrm>
          <a:prstGeom prst="rect">
            <a:avLst/>
          </a:prstGeom>
          <a:solidFill>
            <a:srgbClr val="92D050">
              <a:alpha val="53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7" name="TextBox 16">
            <a:extLst>
              <a:ext uri="{FF2B5EF4-FFF2-40B4-BE49-F238E27FC236}">
                <a16:creationId xmlns:a16="http://schemas.microsoft.com/office/drawing/2014/main" id="{8D977F1E-A97C-B8CF-E7DE-A5F86D0EEA09}"/>
              </a:ext>
            </a:extLst>
          </p:cNvPr>
          <p:cNvSpPr txBox="1"/>
          <p:nvPr/>
        </p:nvSpPr>
        <p:spPr>
          <a:xfrm>
            <a:off x="9611874" y="1520272"/>
            <a:ext cx="2280745" cy="2026408"/>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#1: no interruption between 'f started' and 'g started'</a:t>
            </a:r>
          </a:p>
        </p:txBody>
      </p:sp>
      <p:cxnSp>
        <p:nvCxnSpPr>
          <p:cNvPr id="19" name="Straight Arrow Connector 18">
            <a:extLst>
              <a:ext uri="{FF2B5EF4-FFF2-40B4-BE49-F238E27FC236}">
                <a16:creationId xmlns:a16="http://schemas.microsoft.com/office/drawing/2014/main" id="{2FF16C3B-13C4-FBCC-428D-E2ABF7C54CA9}"/>
              </a:ext>
            </a:extLst>
          </p:cNvPr>
          <p:cNvCxnSpPr>
            <a:cxnSpLocks/>
            <a:stCxn id="17" idx="1"/>
            <a:endCxn id="13" idx="3"/>
          </p:cNvCxnSpPr>
          <p:nvPr/>
        </p:nvCxnSpPr>
        <p:spPr>
          <a:xfrm flipH="1" flipV="1">
            <a:off x="8513379" y="2433808"/>
            <a:ext cx="1098495" cy="99668"/>
          </a:xfrm>
          <a:prstGeom prst="straightConnector1">
            <a:avLst/>
          </a:prstGeom>
          <a:ln w="127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030F6E7-8950-9C0B-4A9F-3CA0E4917395}"/>
              </a:ext>
            </a:extLst>
          </p:cNvPr>
          <p:cNvCxnSpPr>
            <a:cxnSpLocks/>
            <a:stCxn id="17" idx="1"/>
            <a:endCxn id="14" idx="3"/>
          </p:cNvCxnSpPr>
          <p:nvPr/>
        </p:nvCxnSpPr>
        <p:spPr>
          <a:xfrm flipH="1">
            <a:off x="8610600" y="2533476"/>
            <a:ext cx="1001274" cy="1710775"/>
          </a:xfrm>
          <a:prstGeom prst="straightConnector1">
            <a:avLst/>
          </a:prstGeom>
          <a:ln w="127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AFE75956-8E51-3EF8-4F43-1BE8DD406315}"/>
              </a:ext>
            </a:extLst>
          </p:cNvPr>
          <p:cNvSpPr txBox="1"/>
          <p:nvPr/>
        </p:nvSpPr>
        <p:spPr>
          <a:xfrm>
            <a:off x="9611872" y="4941650"/>
            <a:ext cx="2280745" cy="75504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#3</a:t>
            </a:r>
          </a:p>
        </p:txBody>
      </p:sp>
      <p:sp>
        <p:nvSpPr>
          <p:cNvPr id="16" name="TextBox 15">
            <a:extLst>
              <a:ext uri="{FF2B5EF4-FFF2-40B4-BE49-F238E27FC236}">
                <a16:creationId xmlns:a16="http://schemas.microsoft.com/office/drawing/2014/main" id="{0E0EC3AF-9A32-5E19-B004-21E263A62094}"/>
              </a:ext>
            </a:extLst>
          </p:cNvPr>
          <p:cNvSpPr txBox="1"/>
          <p:nvPr/>
        </p:nvSpPr>
        <p:spPr>
          <a:xfrm>
            <a:off x="9611874" y="3904471"/>
            <a:ext cx="2280745" cy="755041"/>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Critical Section #2</a:t>
            </a:r>
          </a:p>
        </p:txBody>
      </p:sp>
      <p:cxnSp>
        <p:nvCxnSpPr>
          <p:cNvPr id="21" name="Straight Arrow Connector 20">
            <a:extLst>
              <a:ext uri="{FF2B5EF4-FFF2-40B4-BE49-F238E27FC236}">
                <a16:creationId xmlns:a16="http://schemas.microsoft.com/office/drawing/2014/main" id="{AED215FD-9170-E080-D4DD-12C2B4D083F9}"/>
              </a:ext>
            </a:extLst>
          </p:cNvPr>
          <p:cNvCxnSpPr>
            <a:stCxn id="16" idx="1"/>
            <a:endCxn id="5" idx="3"/>
          </p:cNvCxnSpPr>
          <p:nvPr/>
        </p:nvCxnSpPr>
        <p:spPr>
          <a:xfrm flipH="1" flipV="1">
            <a:off x="8513379" y="3152715"/>
            <a:ext cx="1098495" cy="112927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8CB49A87-3AD7-A9D0-269F-179C547E0575}"/>
              </a:ext>
            </a:extLst>
          </p:cNvPr>
          <p:cNvCxnSpPr>
            <a:stCxn id="15" idx="1"/>
            <a:endCxn id="12" idx="3"/>
          </p:cNvCxnSpPr>
          <p:nvPr/>
        </p:nvCxnSpPr>
        <p:spPr>
          <a:xfrm flipH="1" flipV="1">
            <a:off x="8610600" y="4963158"/>
            <a:ext cx="1001272" cy="35601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 name="Rectangle: Rounded Corners 2">
            <a:extLst>
              <a:ext uri="{FF2B5EF4-FFF2-40B4-BE49-F238E27FC236}">
                <a16:creationId xmlns:a16="http://schemas.microsoft.com/office/drawing/2014/main" id="{8AB5D2B0-15E9-C482-C678-6929257F17CA}"/>
              </a:ext>
            </a:extLst>
          </p:cNvPr>
          <p:cNvSpPr/>
          <p:nvPr/>
        </p:nvSpPr>
        <p:spPr>
          <a:xfrm>
            <a:off x="8433071" y="824066"/>
            <a:ext cx="3459546"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/Slides/antiPattern2.ts</a:t>
            </a:r>
          </a:p>
        </p:txBody>
      </p:sp>
    </p:spTree>
    <p:extLst>
      <p:ext uri="{BB962C8B-B14F-4D97-AF65-F5344CB8AC3E}">
        <p14:creationId xmlns:p14="http://schemas.microsoft.com/office/powerpoint/2010/main" val="24163238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456871" y="1465627"/>
            <a:ext cx="8958943" cy="3926745"/>
          </a:xfrm>
        </p:spPr>
        <p:txBody>
          <a:bodyPr>
            <a:normAutofit/>
          </a:bodyPr>
          <a:lstStyle/>
          <a:p>
            <a:r>
              <a:rPr lang="en-US" sz="3600" dirty="0">
                <a:solidFill>
                  <a:schemeClr val="accent1">
                    <a:lumMod val="40000"/>
                    <a:lumOff val="60000"/>
                  </a:schemeClr>
                </a:solidFill>
              </a:rPr>
              <a:t>We achieve this goal using two techniques:</a:t>
            </a:r>
            <a:br>
              <a:rPr lang="en-US" sz="3600" dirty="0">
                <a:solidFill>
                  <a:schemeClr val="accent1">
                    <a:lumMod val="40000"/>
                    <a:lumOff val="60000"/>
                  </a:schemeClr>
                </a:solidFill>
              </a:rPr>
            </a:br>
            <a:r>
              <a:rPr lang="en-US" sz="3600" dirty="0">
                <a:solidFill>
                  <a:schemeClr val="accent1">
                    <a:lumMod val="40000"/>
                    <a:lumOff val="60000"/>
                  </a:schemeClr>
                </a:solidFill>
              </a:rPr>
              <a:t> </a:t>
            </a:r>
            <a:br>
              <a:rPr lang="en-US" sz="3600" dirty="0">
                <a:solidFill>
                  <a:schemeClr val="accent1">
                    <a:lumMod val="40000"/>
                    <a:lumOff val="60000"/>
                  </a:schemeClr>
                </a:solidFill>
              </a:rPr>
            </a:br>
            <a:r>
              <a:rPr lang="en-US" sz="3600" dirty="0">
                <a:solidFill>
                  <a:schemeClr val="accent1">
                    <a:lumMod val="40000"/>
                    <a:lumOff val="60000"/>
                  </a:schemeClr>
                </a:solidFill>
              </a:rPr>
              <a:t>1. cooperative multiprocessing </a:t>
            </a:r>
            <a:br>
              <a:rPr lang="en-US" sz="3600" dirty="0">
                <a:solidFill>
                  <a:schemeClr val="accent1">
                    <a:lumMod val="40000"/>
                    <a:lumOff val="60000"/>
                  </a:schemeClr>
                </a:solidFill>
              </a:rPr>
            </a:br>
            <a:r>
              <a:rPr lang="en-US" sz="3600" dirty="0">
                <a:solidFill>
                  <a:schemeClr val="accent1">
                    <a:lumMod val="40000"/>
                    <a:lumOff val="60000"/>
                  </a:schemeClr>
                </a:solidFill>
              </a:rPr>
              <a:t> </a:t>
            </a:r>
            <a:br>
              <a:rPr lang="en-US" sz="3600" dirty="0">
                <a:solidFill>
                  <a:schemeClr val="accent1">
                    <a:lumMod val="40000"/>
                    <a:lumOff val="60000"/>
                  </a:schemeClr>
                </a:solidFill>
              </a:rPr>
            </a:br>
            <a:r>
              <a:rPr lang="en-US" sz="3600" dirty="0">
                <a:solidFill>
                  <a:schemeClr val="accent1">
                    <a:lumMod val="40000"/>
                    <a:lumOff val="60000"/>
                  </a:schemeClr>
                </a:solidFill>
              </a:rPr>
              <a:t>2. </a:t>
            </a:r>
            <a:r>
              <a:rPr lang="en-US" sz="3600" dirty="0">
                <a:solidFill>
                  <a:schemeClr val="accent5">
                    <a:lumMod val="75000"/>
                  </a:schemeClr>
                </a:solidFill>
              </a:rPr>
              <a:t>non-blocking IO </a:t>
            </a:r>
          </a:p>
        </p:txBody>
      </p:sp>
      <p:sp>
        <p:nvSpPr>
          <p:cNvPr id="2" name="Arrow: Left 1">
            <a:extLst>
              <a:ext uri="{FF2B5EF4-FFF2-40B4-BE49-F238E27FC236}">
                <a16:creationId xmlns:a16="http://schemas.microsoft.com/office/drawing/2014/main" id="{54338F1D-8D25-26AB-12F7-6AB5CC1889B6}"/>
              </a:ext>
            </a:extLst>
          </p:cNvPr>
          <p:cNvSpPr/>
          <p:nvPr/>
        </p:nvSpPr>
        <p:spPr>
          <a:xfrm>
            <a:off x="7180035" y="4826277"/>
            <a:ext cx="1787704" cy="365125"/>
          </a:xfrm>
          <a:prstGeom prst="leftArrow">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Title 1">
            <a:extLst>
              <a:ext uri="{FF2B5EF4-FFF2-40B4-BE49-F238E27FC236}">
                <a16:creationId xmlns:a16="http://schemas.microsoft.com/office/drawing/2014/main" id="{C2A15C0C-ED91-0841-C6C1-F5B20B479F10}"/>
              </a:ext>
            </a:extLst>
          </p:cNvPr>
          <p:cNvSpPr txBox="1">
            <a:spLocks/>
          </p:cNvSpPr>
          <p:nvPr/>
        </p:nvSpPr>
        <p:spPr>
          <a:xfrm>
            <a:off x="838200" y="136525"/>
            <a:ext cx="10515600" cy="1325563"/>
          </a:xfrm>
          <a:prstGeom prst="rect">
            <a:avLst/>
          </a:prstGeom>
        </p:spPr>
        <p:txBody>
          <a:bodyPr/>
          <a:lst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a:lstStyle>
          <a:p>
            <a:r>
              <a:rPr lang="en-US" sz="3600" dirty="0"/>
              <a:t>But where does the non-blocking IO come from?</a:t>
            </a:r>
          </a:p>
        </p:txBody>
      </p:sp>
      <p:cxnSp>
        <p:nvCxnSpPr>
          <p:cNvPr id="7" name="Straight Connector 6">
            <a:extLst>
              <a:ext uri="{FF2B5EF4-FFF2-40B4-BE49-F238E27FC236}">
                <a16:creationId xmlns:a16="http://schemas.microsoft.com/office/drawing/2014/main" id="{C14AFAB6-0A8A-228F-42BF-62C6AFED3B3B}"/>
              </a:ext>
            </a:extLst>
          </p:cNvPr>
          <p:cNvCxnSpPr/>
          <p:nvPr/>
        </p:nvCxnSpPr>
        <p:spPr>
          <a:xfrm>
            <a:off x="944217" y="1465627"/>
            <a:ext cx="10187609" cy="0"/>
          </a:xfrm>
          <a:prstGeom prst="line">
            <a:avLst/>
          </a:prstGeom>
          <a:ln w="12700">
            <a:solidFill>
              <a:schemeClr val="accent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82173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97F1B-AB6B-840B-6109-A5F224D49245}"/>
              </a:ext>
            </a:extLst>
          </p:cNvPr>
          <p:cNvSpPr>
            <a:spLocks noGrp="1"/>
          </p:cNvSpPr>
          <p:nvPr>
            <p:ph type="title"/>
          </p:nvPr>
        </p:nvSpPr>
        <p:spPr/>
        <p:txBody>
          <a:bodyPr/>
          <a:lstStyle/>
          <a:p>
            <a:r>
              <a:rPr lang="en-US" dirty="0"/>
              <a:t>Answer: JS/TS has some primitives for starting a non-blocking computation</a:t>
            </a:r>
          </a:p>
        </p:txBody>
      </p:sp>
      <p:sp>
        <p:nvSpPr>
          <p:cNvPr id="3" name="Content Placeholder 2">
            <a:extLst>
              <a:ext uri="{FF2B5EF4-FFF2-40B4-BE49-F238E27FC236}">
                <a16:creationId xmlns:a16="http://schemas.microsoft.com/office/drawing/2014/main" id="{2703E4AB-0914-33F5-4E7F-B4F98687C364}"/>
              </a:ext>
            </a:extLst>
          </p:cNvPr>
          <p:cNvSpPr>
            <a:spLocks noGrp="1"/>
          </p:cNvSpPr>
          <p:nvPr>
            <p:ph idx="1"/>
          </p:nvPr>
        </p:nvSpPr>
        <p:spPr>
          <a:xfrm>
            <a:off x="838200" y="1500160"/>
            <a:ext cx="7977810" cy="4403683"/>
          </a:xfrm>
        </p:spPr>
        <p:txBody>
          <a:bodyPr>
            <a:noAutofit/>
          </a:bodyPr>
          <a:lstStyle/>
          <a:p>
            <a:pPr>
              <a:lnSpc>
                <a:spcPct val="100000"/>
              </a:lnSpc>
            </a:pPr>
            <a:r>
              <a:rPr lang="en-US" sz="1800" dirty="0"/>
              <a:t>These are things like http requests, I/O operations, or timers.</a:t>
            </a:r>
          </a:p>
          <a:p>
            <a:pPr>
              <a:lnSpc>
                <a:spcPct val="100000"/>
              </a:lnSpc>
            </a:pPr>
            <a:r>
              <a:rPr lang="en-US" sz="1800" dirty="0"/>
              <a:t>Each of these returns a promise that you can </a:t>
            </a:r>
            <a:r>
              <a:rPr lang="en-US" sz="1800" b="1" dirty="0"/>
              <a:t>await</a:t>
            </a:r>
            <a:r>
              <a:rPr lang="en-US" sz="1800" dirty="0"/>
              <a:t>.  The promise runs while it is pending, and produces the response from the http request, or the contents of the file, etc.</a:t>
            </a:r>
          </a:p>
          <a:p>
            <a:pPr>
              <a:lnSpc>
                <a:spcPct val="100000"/>
              </a:lnSpc>
            </a:pPr>
            <a:r>
              <a:rPr lang="en-US" sz="1800" dirty="0"/>
              <a:t>You may use some of these directly, like </a:t>
            </a:r>
            <a:r>
              <a:rPr lang="en-US" sz="1800" b="1" dirty="0"/>
              <a:t>fetch</a:t>
            </a:r>
            <a:r>
              <a:rPr lang="en-US" sz="1800" dirty="0"/>
              <a:t> or </a:t>
            </a:r>
            <a:r>
              <a:rPr lang="en-US" sz="1800" b="1" dirty="0" err="1"/>
              <a:t>setTimeout</a:t>
            </a:r>
            <a:r>
              <a:rPr lang="en-US" sz="1800" dirty="0"/>
              <a:t>.</a:t>
            </a:r>
            <a:endParaRPr lang="en-US" sz="1800" b="1" dirty="0"/>
          </a:p>
          <a:p>
            <a:pPr>
              <a:lnSpc>
                <a:spcPct val="100000"/>
              </a:lnSpc>
            </a:pPr>
            <a:r>
              <a:rPr lang="en-US" sz="1800" dirty="0"/>
              <a:t>More frequently, you will invoke these using a convenient library, like</a:t>
            </a:r>
          </a:p>
          <a:p>
            <a:pPr marL="0" indent="0">
              <a:lnSpc>
                <a:spcPct val="100000"/>
              </a:lnSpc>
              <a:buNone/>
            </a:pPr>
            <a:r>
              <a:rPr lang="en-US" sz="1800" b="0" dirty="0">
                <a:solidFill>
                  <a:srgbClr val="0070C1"/>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axios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b="0" dirty="0">
                <a:solidFill>
                  <a:srgbClr val="000000"/>
                </a:solidFill>
                <a:effectLst/>
                <a:latin typeface="Consolas" panose="020B0609020204030204" pitchFamily="49" charset="0"/>
              </a:rPr>
              <a:t>)</a:t>
            </a:r>
          </a:p>
          <a:p>
            <a:pPr marL="0" indent="0">
              <a:lnSpc>
                <a:spcPct val="100000"/>
              </a:lnSpc>
              <a:buNone/>
            </a:pPr>
            <a:r>
              <a:rPr lang="en-US" sz="1800" dirty="0"/>
              <a:t>  to make an http request, or </a:t>
            </a:r>
          </a:p>
          <a:p>
            <a:pPr marL="0" indent="0">
              <a:lnSpc>
                <a:spcPct val="100000"/>
              </a:lnSpc>
              <a:buNone/>
            </a:pPr>
            <a:r>
              <a:rPr lang="en-US" sz="1800" b="0" dirty="0">
                <a:solidFill>
                  <a:srgbClr val="267F99"/>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fs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readFile</a:t>
            </a:r>
            <a:r>
              <a:rPr lang="en-US" sz="1800" b="0" dirty="0">
                <a:solidFill>
                  <a:srgbClr val="000000"/>
                </a:solidFill>
                <a:effectLst/>
                <a:latin typeface="Consolas" panose="020B0609020204030204" pitchFamily="49" charset="0"/>
              </a:rPr>
              <a:t>(</a:t>
            </a:r>
            <a:r>
              <a:rPr lang="en-US" sz="1800" b="0" dirty="0">
                <a:solidFill>
                  <a:srgbClr val="001080"/>
                </a:solidFill>
                <a:effectLst/>
                <a:latin typeface="Consolas" panose="020B0609020204030204" pitchFamily="49" charset="0"/>
              </a:rPr>
              <a:t>filename)</a:t>
            </a:r>
          </a:p>
          <a:p>
            <a:pPr marL="0" indent="0">
              <a:lnSpc>
                <a:spcPct val="100000"/>
              </a:lnSpc>
              <a:buNone/>
            </a:pPr>
            <a:r>
              <a:rPr lang="en-US" sz="1800" dirty="0"/>
              <a:t>  to read the contents of a file.</a:t>
            </a:r>
          </a:p>
        </p:txBody>
      </p:sp>
      <p:sp>
        <p:nvSpPr>
          <p:cNvPr id="4" name="Slide Number Placeholder 3">
            <a:extLst>
              <a:ext uri="{FF2B5EF4-FFF2-40B4-BE49-F238E27FC236}">
                <a16:creationId xmlns:a16="http://schemas.microsoft.com/office/drawing/2014/main" id="{60F72ED1-8460-2361-2157-86149564204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D6522DE9-0421-F750-27F0-655F93E36D8C}"/>
              </a:ext>
            </a:extLst>
          </p:cNvPr>
          <p:cNvPicPr>
            <a:picLocks noChangeAspect="1"/>
          </p:cNvPicPr>
          <p:nvPr/>
        </p:nvPicPr>
        <p:blipFill>
          <a:blip r:embed="rId3"/>
          <a:stretch>
            <a:fillRect/>
          </a:stretch>
        </p:blipFill>
        <p:spPr>
          <a:xfrm>
            <a:off x="8610600" y="3879850"/>
            <a:ext cx="2876117" cy="2476500"/>
          </a:xfrm>
          <a:prstGeom prst="rect">
            <a:avLst/>
          </a:prstGeom>
        </p:spPr>
      </p:pic>
    </p:spTree>
    <p:extLst>
      <p:ext uri="{BB962C8B-B14F-4D97-AF65-F5344CB8AC3E}">
        <p14:creationId xmlns:p14="http://schemas.microsoft.com/office/powerpoint/2010/main" val="2269576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Let’s put it all together</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200" y="1500159"/>
            <a:ext cx="3924033" cy="4769267"/>
          </a:xfrm>
        </p:spPr>
        <p:txBody>
          <a:bodyPr>
            <a:normAutofit/>
          </a:bodyPr>
          <a:lstStyle/>
          <a:p>
            <a:r>
              <a:rPr lang="en-US" dirty="0"/>
              <a:t>JS/TS has single event loop</a:t>
            </a:r>
          </a:p>
          <a:p>
            <a:r>
              <a:rPr lang="en-US" dirty="0"/>
              <a:t>We outsource most of the work to </a:t>
            </a:r>
            <a:r>
              <a:rPr lang="en-US" dirty="0" err="1"/>
              <a:t>WebAPIs</a:t>
            </a:r>
            <a:r>
              <a:rPr lang="en-US" dirty="0"/>
              <a:t> for asynchronous work</a:t>
            </a:r>
          </a:p>
          <a:p>
            <a:r>
              <a:rPr lang="en-US" dirty="0"/>
              <a:t>Upon completion, they are placed in queues. </a:t>
            </a:r>
          </a:p>
          <a:p>
            <a:r>
              <a:rPr lang="en-US" dirty="0"/>
              <a:t>Event loop picks them up from queue when call stack is empty!</a:t>
            </a:r>
          </a:p>
        </p:txBody>
      </p:sp>
      <p:pic>
        <p:nvPicPr>
          <p:cNvPr id="8" name="Picture 7" descr="The image illustrates a flow diagram showing a JavaScript runtime environment with various components like Microtask Queue, Call Stack, Event Loop, and others, depicting the execution process of tasks and callbacks.&#10;&#10;AI-generated content may be incorrect.">
            <a:extLst>
              <a:ext uri="{FF2B5EF4-FFF2-40B4-BE49-F238E27FC236}">
                <a16:creationId xmlns:a16="http://schemas.microsoft.com/office/drawing/2014/main" id="{D53FB1D8-EE11-7C17-E1FC-B340C3520825}"/>
              </a:ext>
            </a:extLst>
          </p:cNvPr>
          <p:cNvPicPr>
            <a:picLocks noChangeAspect="1"/>
          </p:cNvPicPr>
          <p:nvPr/>
        </p:nvPicPr>
        <p:blipFill>
          <a:blip r:embed="rId3"/>
          <a:stretch>
            <a:fillRect/>
          </a:stretch>
        </p:blipFill>
        <p:spPr>
          <a:xfrm>
            <a:off x="4762233" y="1500159"/>
            <a:ext cx="7075737" cy="3531231"/>
          </a:xfrm>
          <a:prstGeom prst="rect">
            <a:avLst/>
          </a:prstGeom>
        </p:spPr>
      </p:pic>
    </p:spTree>
    <p:extLst>
      <p:ext uri="{BB962C8B-B14F-4D97-AF65-F5344CB8AC3E}">
        <p14:creationId xmlns:p14="http://schemas.microsoft.com/office/powerpoint/2010/main" val="17083584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normAutofit/>
          </a:bodyPr>
          <a:lstStyle/>
          <a:p>
            <a:r>
              <a:rPr lang="en-US" dirty="0"/>
              <a:t>Microtasks are urgent and </a:t>
            </a:r>
            <a:r>
              <a:rPr lang="en-US" dirty="0" err="1"/>
              <a:t>Macrotasks</a:t>
            </a:r>
            <a:r>
              <a:rPr lang="en-US" dirty="0"/>
              <a:t> are slower/asynchronous operations</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199" y="1500159"/>
            <a:ext cx="5072743" cy="4769267"/>
          </a:xfrm>
        </p:spPr>
        <p:txBody>
          <a:bodyPr>
            <a:normAutofit/>
          </a:bodyPr>
          <a:lstStyle/>
          <a:p>
            <a:r>
              <a:rPr lang="en-US" dirty="0"/>
              <a:t>Microtask queue is used for immediate/urgent tasks while </a:t>
            </a:r>
            <a:r>
              <a:rPr lang="en-US" dirty="0" err="1"/>
              <a:t>Macrotask</a:t>
            </a:r>
            <a:r>
              <a:rPr lang="en-US" dirty="0"/>
              <a:t> queue is used for slower asynchronous tasks.</a:t>
            </a:r>
          </a:p>
          <a:p>
            <a:r>
              <a:rPr lang="en-US" dirty="0"/>
              <a:t>When call stack is empty, microtask queue is processed first (before browser renders). When microtask queue is empty then </a:t>
            </a:r>
            <a:r>
              <a:rPr lang="en-US" dirty="0" err="1"/>
              <a:t>macrotask</a:t>
            </a:r>
            <a:r>
              <a:rPr lang="en-US" dirty="0"/>
              <a:t> queue is processed.</a:t>
            </a:r>
          </a:p>
        </p:txBody>
      </p:sp>
      <p:pic>
        <p:nvPicPr>
          <p:cNvPr id="1026" name="Picture 2" descr="Understanding the Call Stack, Microtask Queue, and Macrotask Queue in JavaScript">
            <a:extLst>
              <a:ext uri="{FF2B5EF4-FFF2-40B4-BE49-F238E27FC236}">
                <a16:creationId xmlns:a16="http://schemas.microsoft.com/office/drawing/2014/main" id="{260730D6-DA97-1FE4-E903-8B30CB508C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8311" y="1612446"/>
            <a:ext cx="5275489" cy="2965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63354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Here is a quick demo for you</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13" name="Content Placeholder 12" descr="A screenshot of a computer screen&#10;&#10;Description automatically generated">
            <a:extLst>
              <a:ext uri="{FF2B5EF4-FFF2-40B4-BE49-F238E27FC236}">
                <a16:creationId xmlns:a16="http://schemas.microsoft.com/office/drawing/2014/main" id="{064B45F5-FDE2-3D76-23C2-1490F8027104}"/>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289049" y="1831182"/>
            <a:ext cx="6723945" cy="3782218"/>
          </a:xfrm>
        </p:spPr>
      </p:pic>
      <p:pic>
        <p:nvPicPr>
          <p:cNvPr id="11" name="Picture 10">
            <a:extLst>
              <a:ext uri="{FF2B5EF4-FFF2-40B4-BE49-F238E27FC236}">
                <a16:creationId xmlns:a16="http://schemas.microsoft.com/office/drawing/2014/main" id="{EC847469-FF98-1125-9877-E5FA9D573059}"/>
              </a:ext>
            </a:extLst>
          </p:cNvPr>
          <p:cNvPicPr>
            <a:picLocks noChangeAspect="1"/>
          </p:cNvPicPr>
          <p:nvPr/>
        </p:nvPicPr>
        <p:blipFill>
          <a:blip r:embed="rId4"/>
          <a:stretch>
            <a:fillRect/>
          </a:stretch>
        </p:blipFill>
        <p:spPr>
          <a:xfrm>
            <a:off x="7778750" y="238918"/>
            <a:ext cx="3867150" cy="1104900"/>
          </a:xfrm>
          <a:prstGeom prst="rect">
            <a:avLst/>
          </a:prstGeom>
        </p:spPr>
      </p:pic>
      <p:sp>
        <p:nvSpPr>
          <p:cNvPr id="15" name="TextBox 14">
            <a:extLst>
              <a:ext uri="{FF2B5EF4-FFF2-40B4-BE49-F238E27FC236}">
                <a16:creationId xmlns:a16="http://schemas.microsoft.com/office/drawing/2014/main" id="{C1A2920A-EDC2-50CA-9A91-6CFBD6168F89}"/>
              </a:ext>
            </a:extLst>
          </p:cNvPr>
          <p:cNvSpPr txBox="1"/>
          <p:nvPr/>
        </p:nvSpPr>
        <p:spPr>
          <a:xfrm>
            <a:off x="1603021" y="6124964"/>
            <a:ext cx="6096000" cy="46166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dirty="0">
                <a:solidFill>
                  <a:schemeClr val="tx1"/>
                </a:solidFill>
              </a:rPr>
              <a:t>Courtesy of </a:t>
            </a:r>
            <a:r>
              <a:rPr lang="en-US" dirty="0">
                <a:solidFill>
                  <a:schemeClr val="tx1"/>
                </a:solidFill>
                <a:hlinkClick r:id="rId5"/>
              </a:rPr>
              <a:t>https://dev.to/lydiahallie/javascript-visualized-event-loop-3dif</a:t>
            </a:r>
            <a:endParaRPr lang="en-US" dirty="0">
              <a:solidFill>
                <a:schemeClr val="tx1"/>
              </a:solidFill>
            </a:endParaRPr>
          </a:p>
          <a:p>
            <a:pPr algn="l"/>
            <a:endParaRPr lang="en-US" dirty="0">
              <a:solidFill>
                <a:schemeClr val="tx1"/>
              </a:solidFill>
            </a:endParaRPr>
          </a:p>
        </p:txBody>
      </p:sp>
    </p:spTree>
    <p:extLst>
      <p:ext uri="{BB962C8B-B14F-4D97-AF65-F5344CB8AC3E}">
        <p14:creationId xmlns:p14="http://schemas.microsoft.com/office/powerpoint/2010/main" val="116971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More Properties of Good Handlers"/>
          <p:cNvSpPr txBox="1">
            <a:spLocks noGrp="1"/>
          </p:cNvSpPr>
          <p:nvPr>
            <p:ph type="title"/>
          </p:nvPr>
        </p:nvSpPr>
        <p:spPr>
          <a:prstGeom prst="rect">
            <a:avLst/>
          </a:prstGeom>
        </p:spPr>
        <p:txBody>
          <a:bodyPr/>
          <a:lstStyle/>
          <a:p>
            <a:r>
              <a:rPr lang="en-US" dirty="0"/>
              <a:t>General Rules for Writing Asynchronous Code</a:t>
            </a:r>
            <a:endParaRPr dirty="0"/>
          </a:p>
        </p:txBody>
      </p:sp>
      <p:sp>
        <p:nvSpPr>
          <p:cNvPr id="517" name="Remember that event events are processed in the order they are received…"/>
          <p:cNvSpPr txBox="1">
            <a:spLocks noGrp="1"/>
          </p:cNvSpPr>
          <p:nvPr>
            <p:ph idx="1"/>
          </p:nvPr>
        </p:nvSpPr>
        <p:spPr>
          <a:xfrm>
            <a:off x="838200" y="1500160"/>
            <a:ext cx="10363200" cy="4351338"/>
          </a:xfrm>
          <a:prstGeom prst="rect">
            <a:avLst/>
          </a:prstGeom>
        </p:spPr>
        <p:txBody>
          <a:bodyPr>
            <a:normAutofit lnSpcReduction="10000"/>
          </a:bodyPr>
          <a:lstStyle/>
          <a:p>
            <a:r>
              <a:rPr lang="en-US" dirty="0"/>
              <a:t>You can’t return a value from a promise to an ordinary procedure.</a:t>
            </a:r>
          </a:p>
          <a:p>
            <a:pPr lvl="1"/>
            <a:r>
              <a:rPr lang="en-US" dirty="0"/>
              <a:t>You can only send the value to another promise that is awaiting it.</a:t>
            </a:r>
          </a:p>
          <a:p>
            <a:r>
              <a:rPr lang="en-US" dirty="0"/>
              <a:t>Call async procedures only from other async functions or from the top level.</a:t>
            </a:r>
          </a:p>
          <a:p>
            <a:r>
              <a:rPr lang="en-US" dirty="0"/>
              <a:t>Break up any long-running computation into </a:t>
            </a:r>
            <a:r>
              <a:rPr lang="en-US" b="1" dirty="0"/>
              <a:t>async/await</a:t>
            </a:r>
            <a:r>
              <a:rPr lang="en-US" dirty="0"/>
              <a:t> segments so other processes will have a chance to run.</a:t>
            </a:r>
          </a:p>
          <a:p>
            <a:r>
              <a:rPr lang="en-US" dirty="0"/>
              <a:t>Leverage concurrency when possible</a:t>
            </a:r>
          </a:p>
          <a:p>
            <a:pPr lvl="1"/>
            <a:r>
              <a:rPr lang="en-US" dirty="0"/>
              <a:t>Use </a:t>
            </a:r>
            <a:r>
              <a:rPr lang="en-US" b="1" dirty="0" err="1"/>
              <a:t>promise.all</a:t>
            </a:r>
            <a:r>
              <a:rPr lang="en-US" b="1" dirty="0"/>
              <a:t> </a:t>
            </a:r>
            <a:r>
              <a:rPr lang="en-US" dirty="0"/>
              <a:t>if you need to wait for multiple promises to return (or </a:t>
            </a:r>
            <a:r>
              <a:rPr lang="en-US" b="1" dirty="0" err="1"/>
              <a:t>Promise.allSettled</a:t>
            </a:r>
            <a:r>
              <a:rPr lang="en-US" dirty="0"/>
              <a:t>, if needed).</a:t>
            </a:r>
            <a:endParaRPr dirty="0"/>
          </a:p>
          <a:p>
            <a:r>
              <a:rPr lang="en-US" dirty="0"/>
              <a:t>Check for errors with </a:t>
            </a:r>
            <a:r>
              <a:rPr lang="en-US" b="1" dirty="0"/>
              <a:t>try/catch</a:t>
            </a:r>
          </a:p>
          <a:p>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8C9CF27-CC4B-01C9-C7B0-88C6D5010B66}"/>
              </a:ext>
            </a:extLst>
          </p:cNvPr>
          <p:cNvSpPr>
            <a:spLocks noGrp="1"/>
          </p:cNvSpPr>
          <p:nvPr>
            <p:ph type="title"/>
          </p:nvPr>
        </p:nvSpPr>
        <p:spPr/>
        <p:txBody>
          <a:bodyPr/>
          <a:lstStyle/>
          <a:p>
            <a:r>
              <a:rPr lang="en-US" dirty="0"/>
              <a:t>Odds and Ends You Should Know</a:t>
            </a:r>
          </a:p>
        </p:txBody>
      </p:sp>
      <p:sp>
        <p:nvSpPr>
          <p:cNvPr id="3" name="Slide Number Placeholder 2">
            <a:extLst>
              <a:ext uri="{FF2B5EF4-FFF2-40B4-BE49-F238E27FC236}">
                <a16:creationId xmlns:a16="http://schemas.microsoft.com/office/drawing/2014/main" id="{994AF94F-B74C-2AD8-6446-7B806018EA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98056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 Using await is preferred</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8" name="Making lots of requests"/>
          <p:cNvSpPr txBox="1">
            <a:spLocks noGrp="1"/>
          </p:cNvSpPr>
          <p:nvPr>
            <p:ph type="title"/>
          </p:nvPr>
        </p:nvSpPr>
        <p:spPr>
          <a:prstGeom prst="rect">
            <a:avLst/>
          </a:prstGeom>
        </p:spPr>
        <p:txBody>
          <a:bodyPr/>
          <a:lstStyle/>
          <a:p>
            <a:r>
              <a:rPr lang="en-US" dirty="0"/>
              <a:t>Promises Enforce Ordering Through “Then”</a:t>
            </a:r>
            <a:endParaRPr dirty="0"/>
          </a:p>
        </p:txBody>
      </p:sp>
      <p:sp>
        <p:nvSpPr>
          <p:cNvPr id="4" name="Content Placeholder 3">
            <a:extLst>
              <a:ext uri="{FF2B5EF4-FFF2-40B4-BE49-F238E27FC236}">
                <a16:creationId xmlns:a16="http://schemas.microsoft.com/office/drawing/2014/main" id="{508E961F-D555-45D3-2A10-EE51F1D7A125}"/>
              </a:ext>
            </a:extLst>
          </p:cNvPr>
          <p:cNvSpPr>
            <a:spLocks noGrp="1"/>
          </p:cNvSpPr>
          <p:nvPr>
            <p:ph idx="1"/>
          </p:nvPr>
        </p:nvSpPr>
        <p:spPr/>
        <p:txBody>
          <a:bodyPr>
            <a:normAutofit/>
          </a:bodyPr>
          <a:lstStyle/>
          <a:p>
            <a:r>
              <a:rPr lang="en-US" sz="1600" b="1" dirty="0" err="1"/>
              <a:t>axios.get</a:t>
            </a:r>
            <a:r>
              <a:rPr lang="en-US" sz="1600" b="1" dirty="0"/>
              <a:t> </a:t>
            </a:r>
            <a:r>
              <a:rPr lang="en-US" sz="1600" dirty="0"/>
              <a:t>returns a promise.  </a:t>
            </a:r>
          </a:p>
          <a:p>
            <a:r>
              <a:rPr lang="en-US" sz="1600" b="1" dirty="0" err="1"/>
              <a:t>p.then</a:t>
            </a:r>
            <a:r>
              <a:rPr lang="en-US" sz="1600" b="1" dirty="0"/>
              <a:t> </a:t>
            </a:r>
            <a:r>
              <a:rPr lang="en-US" sz="1600" dirty="0"/>
              <a:t>mutates that promise so that the then block is not run until after the original promise returns.</a:t>
            </a:r>
          </a:p>
          <a:p>
            <a:r>
              <a:rPr lang="en-US" sz="1600" dirty="0"/>
              <a:t>The resulting promise isn’t completed until the then block finishes.</a:t>
            </a:r>
          </a:p>
          <a:p>
            <a:r>
              <a:rPr lang="en-US" sz="1600" dirty="0"/>
              <a:t>You can chain .</a:t>
            </a:r>
            <a:r>
              <a:rPr lang="en-US" sz="1600" b="1" dirty="0" err="1"/>
              <a:t>then</a:t>
            </a:r>
            <a:r>
              <a:rPr lang="en-US" sz="1600" dirty="0" err="1"/>
              <a:t>’s</a:t>
            </a:r>
            <a:r>
              <a:rPr lang="en-US" sz="1600" dirty="0"/>
              <a:t>, to get things that look like </a:t>
            </a:r>
            <a:r>
              <a:rPr lang="en-US" sz="1600" dirty="0" err="1"/>
              <a:t>p.then</a:t>
            </a:r>
            <a:r>
              <a:rPr lang="en-US" sz="1600" dirty="0"/>
              <a:t>().then().then()</a:t>
            </a:r>
          </a:p>
          <a:p>
            <a:r>
              <a:rPr lang="en-US" sz="1600" dirty="0"/>
              <a:t>Each </a:t>
            </a:r>
            <a:r>
              <a:rPr lang="en-US" sz="1600" b="1" dirty="0"/>
              <a:t>then</a:t>
            </a:r>
            <a:r>
              <a:rPr lang="en-US" sz="1600" dirty="0"/>
              <a:t> is a pause point.</a:t>
            </a:r>
          </a:p>
        </p:txBody>
      </p:sp>
      <p:sp>
        <p:nvSpPr>
          <p:cNvPr id="270" name="console.log('Making a requests');…"/>
          <p:cNvSpPr txBox="1"/>
          <p:nvPr/>
        </p:nvSpPr>
        <p:spPr>
          <a:xfrm>
            <a:off x="933370" y="1631794"/>
            <a:ext cx="6024716" cy="37446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nchor="ctr">
            <a:spAutoFit/>
          </a:bodyPr>
          <a:lstStyle/>
          <a:p>
            <a:pPr algn="l" defTabSz="228600">
              <a:defRPr sz="2600" b="1">
                <a:solidFill>
                  <a:srgbClr val="018001"/>
                </a:solidFill>
                <a:latin typeface="Courier"/>
                <a:ea typeface="Courier"/>
                <a:cs typeface="Courier"/>
                <a:sym typeface="Courier"/>
              </a:defRPr>
            </a:pPr>
            <a:r>
              <a:rPr lang="en-US" sz="1600" i="1" dirty="0">
                <a:solidFill>
                  <a:srgbClr val="66187A"/>
                </a:solidFill>
              </a:rPr>
              <a:t>1.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'Making requests'</a:t>
            </a:r>
            <a:r>
              <a:rPr sz="1600" dirty="0">
                <a:solidFill>
                  <a:srgbClr val="000000"/>
                </a:solidFill>
              </a:rPr>
              <a:t>);</a:t>
            </a:r>
          </a:p>
          <a:p>
            <a:pPr algn="l" defTabSz="228600">
              <a:defRPr sz="2600" b="1">
                <a:solidFill>
                  <a:srgbClr val="018001"/>
                </a:solidFill>
                <a:latin typeface="Courier"/>
                <a:ea typeface="Courier"/>
                <a:cs typeface="Courier"/>
                <a:sym typeface="Courier"/>
              </a:defRPr>
            </a:pPr>
            <a:r>
              <a:rPr lang="en-US" sz="1600" i="1" dirty="0">
                <a:solidFill>
                  <a:srgbClr val="66187A"/>
                </a:solidFill>
              </a:rPr>
              <a:t>2.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'https://rest-</a:t>
            </a:r>
            <a:r>
              <a:rPr sz="1600" dirty="0" err="1"/>
              <a:t>example.covey.town</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lang="en-US" sz="1600" dirty="0"/>
              <a:t>	</a:t>
            </a:r>
            <a:r>
              <a:rPr sz="1600" dirty="0"/>
              <a:t>  .</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server'</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b="1" i="1" dirty="0" err="1">
                <a:solidFill>
                  <a:srgbClr val="66187A"/>
                </a:solidFill>
              </a:rPr>
              <a:t>console</a:t>
            </a:r>
            <a:r>
              <a:rPr sz="1600" dirty="0" err="1"/>
              <a:t>.</a:t>
            </a:r>
            <a:r>
              <a:rPr sz="1600" dirty="0" err="1">
                <a:solidFill>
                  <a:srgbClr val="7A7A43"/>
                </a:solidFill>
              </a:rPr>
              <a:t>log</a:t>
            </a:r>
            <a:r>
              <a:rPr sz="1600" dirty="0"/>
              <a:t>(</a:t>
            </a:r>
            <a:r>
              <a:rPr sz="1600" dirty="0" err="1"/>
              <a:t>response.</a:t>
            </a:r>
            <a:r>
              <a:rPr sz="1600" b="1" dirty="0" err="1">
                <a:solidFill>
                  <a:srgbClr val="66187A"/>
                </a:solidFill>
              </a:rPr>
              <a:t>data</a:t>
            </a:r>
            <a:r>
              <a:rPr sz="1600" dirty="0"/>
              <a:t>);</a:t>
            </a:r>
          </a:p>
          <a:p>
            <a:pPr algn="l" defTabSz="228600">
              <a:defRPr sz="2600">
                <a:solidFill>
                  <a:srgbClr val="000000"/>
                </a:solidFill>
                <a:latin typeface="Courier"/>
                <a:ea typeface="Courier"/>
                <a:cs typeface="Courier"/>
                <a:sym typeface="Courier"/>
              </a:defRPr>
            </a:pP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3.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www.google.com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Google'</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4.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www.facebook.com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Facebook'</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5.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'Requests sent!'</a:t>
            </a:r>
            <a:r>
              <a:rPr sz="1600" dirty="0">
                <a:solidFill>
                  <a:srgbClr val="000000"/>
                </a:solidFill>
              </a:rPr>
              <a:t>);</a:t>
            </a:r>
          </a:p>
        </p:txBody>
      </p:sp>
    </p:spTree>
    <p:extLst>
      <p:ext uri="{BB962C8B-B14F-4D97-AF65-F5344CB8AC3E}">
        <p14:creationId xmlns:p14="http://schemas.microsoft.com/office/powerpoint/2010/main" val="131562178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async doesn't eliminate data races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668594" y="1513783"/>
            <a:ext cx="7942006"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string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for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let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&lt;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4</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267F99"/>
                </a:solidFill>
                <a:effectLst/>
                <a:uLnTx/>
                <a:uFillTx/>
                <a:latin typeface="Consolas" panose="020B0609020204030204" pitchFamily="49" charset="0"/>
                <a:ea typeface="+mn-ea"/>
                <a:cs typeface="+mn-cs"/>
                <a:sym typeface="Helvetica Neue"/>
              </a:rPr>
              <a:t>Promise</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all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console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dataRace.ts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
        <p:nvSpPr>
          <p:cNvPr id="8" name="TextBox 7">
            <a:extLst>
              <a:ext uri="{FF2B5EF4-FFF2-40B4-BE49-F238E27FC236}">
                <a16:creationId xmlns:a16="http://schemas.microsoft.com/office/drawing/2014/main" id="{D7C3C704-F2A9-0804-4243-8724B00C475C}"/>
              </a:ext>
            </a:extLst>
          </p:cNvPr>
          <p:cNvSpPr txBox="1"/>
          <p:nvPr/>
        </p:nvSpPr>
        <p:spPr>
          <a:xfrm>
            <a:off x="7293935" y="1782311"/>
            <a:ext cx="3572539" cy="35725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node </a:t>
            </a:r>
            <a:r>
              <a:rPr kumimoji="0" lang="en-US" sz="2000" b="0" i="0" u="none" strike="noStrike" kern="0" cap="none" spc="0" normalizeH="0" baseline="0" noProof="0" dirty="0" err="1">
                <a:ln>
                  <a:noFill/>
                </a:ln>
                <a:solidFill>
                  <a:prstClr val="black"/>
                </a:solidFill>
                <a:effectLst/>
                <a:uLnTx/>
                <a:uFillTx/>
                <a:latin typeface="Verdana" panose="020B0604030504040204" pitchFamily="34" charset="0"/>
                <a:ea typeface="Verdana" panose="020B0604030504040204" pitchFamily="34" charset="0"/>
                <a:cs typeface="+mn-cs"/>
                <a:sym typeface="Helvetica Neue"/>
              </a:rPr>
              <a:t>dataRace.ts</a:t>
            </a:r>
            <a:endPar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'X', 'Y',</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p:txBody>
      </p:sp>
    </p:spTree>
    <p:extLst>
      <p:ext uri="{BB962C8B-B14F-4D97-AF65-F5344CB8AC3E}">
        <p14:creationId xmlns:p14="http://schemas.microsoft.com/office/powerpoint/2010/main" val="21921284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47</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31809</TotalTime>
  <Words>7191</Words>
  <Application>Microsoft Office PowerPoint</Application>
  <PresentationFormat>Widescreen</PresentationFormat>
  <Paragraphs>764</Paragraphs>
  <Slides>47</Slides>
  <Notes>41</Notes>
  <HiddenSlides>4</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47</vt:i4>
      </vt:variant>
    </vt:vector>
  </HeadingPairs>
  <TitlesOfParts>
    <vt:vector size="56" baseType="lpstr">
      <vt:lpstr>Arial</vt:lpstr>
      <vt:lpstr>Calibri</vt:lpstr>
      <vt:lpstr>Consolas</vt:lpstr>
      <vt:lpstr>Courier</vt:lpstr>
      <vt:lpstr>Helvetica Neue</vt:lpstr>
      <vt:lpstr>Lucida Console</vt:lpstr>
      <vt:lpstr>Verdana</vt:lpstr>
      <vt:lpstr>Wingdings</vt:lpstr>
      <vt:lpstr>Office Theme</vt:lpstr>
      <vt:lpstr>CS 4530: Fundamentals of Software Engineering  Module 08: Concurrency Patterns in Typescript</vt:lpstr>
      <vt:lpstr>Learning Goals for this Lesson</vt:lpstr>
      <vt:lpstr>Why async matters</vt:lpstr>
      <vt:lpstr>Your app probably spends most of its time waiting</vt:lpstr>
      <vt:lpstr>Typescript/Javascript achieves this goal using two techniques:   1. cooperative multiprocessing    2. non-blocking IO</vt:lpstr>
      <vt:lpstr>Most OS's use pre-emptive multiprocessing</vt:lpstr>
      <vt:lpstr>Javascript/Typescript uses cooperative multiprocessing</vt:lpstr>
      <vt:lpstr>async/await is a programming model for cooperative multiprocessing</vt:lpstr>
      <vt:lpstr>How does JS Event Loop make this happen?</vt:lpstr>
      <vt:lpstr>Run to Completion is a central concept</vt:lpstr>
      <vt:lpstr>A typical async function</vt:lpstr>
      <vt:lpstr>An async function can only pause in two places</vt:lpstr>
      <vt:lpstr>What happens at those pause points?</vt:lpstr>
      <vt:lpstr>Java vs. JS/TS</vt:lpstr>
      <vt:lpstr>What happens when you await?</vt:lpstr>
      <vt:lpstr>A promise can be in one of exactly 3 states</vt:lpstr>
      <vt:lpstr>Simple sequential execution:</vt:lpstr>
      <vt:lpstr>Async task can finish later</vt:lpstr>
      <vt:lpstr>Promise can also be resolved in future</vt:lpstr>
      <vt:lpstr>Promises have priority (Micro over Macro)</vt:lpstr>
      <vt:lpstr>You can await on async tasks (1)</vt:lpstr>
      <vt:lpstr>You can await on async tasks (2)</vt:lpstr>
      <vt:lpstr>Pattern for starting a concurrent computation using non-blocking I/O</vt:lpstr>
      <vt:lpstr>Running 3 concurrent get requests</vt:lpstr>
      <vt:lpstr>If you add awaits, the requests will be processed sequentially</vt:lpstr>
      <vt:lpstr>Use Promise.all to execute several requests concurrently</vt:lpstr>
      <vt:lpstr>…but it would be much slower</vt:lpstr>
      <vt:lpstr>Why is that?  Visualizing Promise.all</vt:lpstr>
      <vt:lpstr>Requests can also be chained (if they are serial)</vt:lpstr>
      <vt:lpstr>Recover from errors with try/catch</vt:lpstr>
      <vt:lpstr>try/catch, continued</vt:lpstr>
      <vt:lpstr>Pattern for testing an async function</vt:lpstr>
      <vt:lpstr>AntiPattern 1: unawaited promise</vt:lpstr>
      <vt:lpstr>What just happened?</vt:lpstr>
      <vt:lpstr>Wow! That was complicated!</vt:lpstr>
      <vt:lpstr>AntiPattern 2: Side-effect before await can  be misleading</vt:lpstr>
      <vt:lpstr>We achieve this goal using two techniques:   1. cooperative multiprocessing    2. non-blocking IO </vt:lpstr>
      <vt:lpstr>Answer: JS/TS has some primitives for starting a non-blocking computation</vt:lpstr>
      <vt:lpstr>Let’s put it all together</vt:lpstr>
      <vt:lpstr>Microtasks are urgent and Macrotasks are slower/asynchronous operations</vt:lpstr>
      <vt:lpstr>Here is a quick demo for you</vt:lpstr>
      <vt:lpstr>General Rules for Writing Asynchronous Code</vt:lpstr>
      <vt:lpstr>Odds and Ends You Should Know</vt:lpstr>
      <vt:lpstr>Async/await code is compiled into promise/then code. Using await is preferred</vt:lpstr>
      <vt:lpstr>Promises Enforce Ordering Through “Then”</vt:lpstr>
      <vt:lpstr>async doesn't eliminate data races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Bhutta, Adeel</cp:lastModifiedBy>
  <cp:revision>130</cp:revision>
  <dcterms:modified xsi:type="dcterms:W3CDTF">2026-06-07T16:29:55Z</dcterms:modified>
</cp:coreProperties>
</file>